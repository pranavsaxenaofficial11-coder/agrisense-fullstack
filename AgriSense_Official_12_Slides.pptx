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292608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996696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A3E635"/>
                </a:solidFill>
                <a:latin typeface="Trebuchet MS"/>
              </a:defRPr>
            </a:pPr>
            <a:r>
              <a:t>🌱 AGRISENSE</a:t>
            </a:r>
          </a:p>
          <a:p>
            <a:pPr>
              <a:spcBef>
                <a:spcPts val="8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The Farm That Thinks For Itself — An AI &amp; IoT Powered Smart Farming Ecosystem</a:t>
            </a:r>
          </a:p>
          <a:p>
            <a:pPr>
              <a:spcBef>
                <a:spcPts val="1000"/>
              </a:spcBef>
              <a:defRPr sz="1300">
                <a:solidFill>
                  <a:srgbClr val="22C55E"/>
                </a:solidFill>
                <a:latin typeface="Arial"/>
              </a:defRPr>
            </a:pPr>
            <a:r>
              <a:t>Theme / Category: Sustainable Agriculture · Precision IoT Hardware · Multilingual AI Advisory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31920"/>
            <a:ext cx="521208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👥 TEAM MEMBERS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48463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Pranav Saxena — Lead Developer &amp; IoT System Architect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Hiyasha Deviyal — Product Research &amp; UI/UX Design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Chaitanya Vashisht — Hardware Engineering &amp; Field Testing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Kairavi Patel — Frontend Dev &amp; Multilingual Voice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Eekansh Patni — Data Analytics &amp; Agronomy Research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931920"/>
            <a:ext cx="5242255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4069080"/>
            <a:ext cx="48764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🎯 MENTOR &amp; CONTACT DETAILS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389120"/>
            <a:ext cx="48463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Mentor: Ms. Deepika Dutt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Lead Contact: Pranav Saxena (pranavsaxenaofficial11@gmail.com)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Phone: +91 8383049373 / +91 7011688850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Live Web Platform: https://agrisense-269.pages.dev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Open Source Repo: github.com/pranavsaxenaofficial11-coder/agrisense-fullstack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02  |  PROBLEM &amp; OPPORTUNITY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Smallholder Farmers Are Flying Blind: High Costs, Crop Loss &amp; Water Waste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21031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A3E635"/>
                </a:solidFill>
                <a:latin typeface="Trebuchet MS"/>
              </a:defRPr>
            </a:pPr>
            <a:r>
              <a:t>50%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Arial"/>
              </a:defRPr>
            </a:pPr>
            <a:r>
              <a:t>WATER WASTED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Flood irrigation and manual guesswork cause severe groundwater depletion with zero yield gain.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21031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4630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A3E635"/>
                </a:solidFill>
                <a:latin typeface="Trebuchet MS"/>
              </a:defRPr>
            </a:pPr>
            <a:r>
              <a:t>30%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Arial"/>
              </a:defRPr>
            </a:pPr>
            <a:r>
              <a:t>YIELD LOST TO DISEASE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Delayed pest &amp; crop disease detection leads to catastrophic harvest losses and heavy chemical overuse.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21031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4630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A3E635"/>
                </a:solidFill>
                <a:latin typeface="Trebuchet MS"/>
              </a:defRPr>
            </a:pPr>
            <a:r>
              <a:t>86%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Arial"/>
              </a:defRPr>
            </a:pPr>
            <a:r>
              <a:t>LOCKED OUT OF TECH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Small &amp; marginal farmers in India cannot afford expensive commercial enterprise IoT solutions.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10728655" cy="25603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199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🌍 THE MARKET &amp; SOCIAL OPPORTUNITY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1033272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500"/>
              </a:spcBef>
              <a:defRPr sz="1150">
                <a:solidFill>
                  <a:srgbClr val="F1F5F9"/>
                </a:solidFill>
                <a:latin typeface="Arial"/>
              </a:defRPr>
            </a:pPr>
            <a:r>
              <a:t>• 120M+ Small &amp; Marginal Farmers in India represent 86% of total operational land holdings desperately needing accessible tech.</a:t>
            </a:r>
          </a:p>
          <a:p>
            <a:pPr>
              <a:spcBef>
                <a:spcPts val="500"/>
              </a:spcBef>
              <a:defRPr sz="1150">
                <a:solidFill>
                  <a:srgbClr val="F1F5F9"/>
                </a:solidFill>
                <a:latin typeface="Arial"/>
              </a:defRPr>
            </a:pPr>
            <a:r>
              <a:t>• $20.8 Billion Global Smart Agriculture Market growing at 12.4% CAGR — transitioning from corporate farms to grassroots adoption.</a:t>
            </a:r>
          </a:p>
          <a:p>
            <a:pPr>
              <a:spcBef>
                <a:spcPts val="500"/>
              </a:spcBef>
              <a:defRPr sz="1150">
                <a:solidFill>
                  <a:srgbClr val="F1F5F9"/>
                </a:solidFill>
                <a:latin typeface="Arial"/>
              </a:defRPr>
            </a:pPr>
            <a:r>
              <a:t>• Rapid 4G/5G and Smartphone Penetration in rural Bharat enables direct voice-based AI &amp; real-time telemetry delivery.</a:t>
            </a:r>
          </a:p>
          <a:p>
            <a:pPr>
              <a:spcBef>
                <a:spcPts val="500"/>
              </a:spcBef>
              <a:defRPr sz="1150">
                <a:solidFill>
                  <a:srgbClr val="F1F5F9"/>
                </a:solidFill>
                <a:latin typeface="Arial"/>
              </a:defRPr>
            </a:pPr>
            <a:r>
              <a:t>• High Economic Return: Precision irrigation and timely disease warning can save ₹15,000–₹25,000 per acre annually in input costs and prevented crop damage.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03  |  EXISTING SOLUTIONS &amp; GAP ANALYSIS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Why Current Agricultural Tools Fail Grassroots Farmers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Trebuchet MS"/>
              </a:defRPr>
            </a:pPr>
            <a:r>
              <a:t>🏭 Industrial Agri-Tech / SCADA</a:t>
            </a:r>
          </a:p>
          <a:p>
            <a:pPr>
              <a:spcBef>
                <a:spcPts val="300"/>
              </a:spcBef>
              <a:defRPr sz="1050" b="1">
                <a:solidFill>
                  <a:srgbClr val="F59E0B"/>
                </a:solidFill>
                <a:latin typeface="Arial"/>
              </a:defRPr>
            </a:pPr>
            <a:r>
              <a:t>High Cost Barrier (₹50,000+)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• Proprietary sensors and industrial PLCs cost tens of thousands.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• Designed exclusively for corporate mega-farms &amp; export greenhouses.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• Requires skilled engineers for setup and periodic recalibration.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• Zero accessibility for marginal farmers with 1-2 acre landholdings.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Trebuchet MS"/>
              </a:defRPr>
            </a:pPr>
            <a:r>
              <a:t>📱 Standalone Advisory Apps</a:t>
            </a:r>
          </a:p>
          <a:p>
            <a:pPr>
              <a:spcBef>
                <a:spcPts val="300"/>
              </a:spcBef>
              <a:defRPr sz="1050" b="1">
                <a:solidFill>
                  <a:srgbClr val="F59E0B"/>
                </a:solidFill>
                <a:latin typeface="Arial"/>
              </a:defRPr>
            </a:pPr>
            <a:r>
              <a:t>Passive Advice &amp; English UI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• Generic regional weather forecasts with no on-field sensor context.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• Heavy textual interfaces in English or formal language with no voice.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• Cannot automatically trigger irrigation pumps or physical valves.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• Requires manual data entry which farmers rarely maintain continuously.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A3E635"/>
                </a:solidFill>
                <a:latin typeface="Trebuchet MS"/>
              </a:defRPr>
            </a:pPr>
            <a:r>
              <a:t>⚡ The AgriSense Breakthrough</a:t>
            </a:r>
          </a:p>
          <a:p>
            <a:pPr>
              <a:spcBef>
                <a:spcPts val="300"/>
              </a:spcBef>
              <a:defRPr sz="1050" b="1">
                <a:solidFill>
                  <a:srgbClr val="22C55E"/>
                </a:solidFill>
                <a:latin typeface="Arial"/>
              </a:defRPr>
            </a:pPr>
            <a:r>
              <a:t>Closing the Gap Completely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Real Hardware Kit at &lt; ₹1,000 built with open-source ESP32 &amp; sensors.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Closed-Loop Automation: Senses soil moisture and activates pumps automatically.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Multilingual &amp; Voice-First: 15+ Indian languages with speech recognition &amp; audio readouts.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Resilient AI Chain: 14 LLM fallback models + Leaf Vision scanner at ₹0 software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04  |  OUR SOLUTION: THE CLOSED-LOOP ECOSYSTEM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Autonomous Sense → Think → Act → Learn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514600" cy="25603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22402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A3E635"/>
                </a:solidFill>
                <a:latin typeface="Trebuchet MS"/>
              </a:defRPr>
            </a:pPr>
            <a:r>
              <a:t>1. SENSE</a:t>
            </a:r>
          </a:p>
          <a:p>
            <a:pPr>
              <a:spcBef>
                <a:spcPts val="4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Real-Time Telemetry</a:t>
            </a:r>
          </a:p>
          <a:p>
            <a:pPr>
              <a:spcBef>
                <a:spcPts val="5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8 hardware sensor streams (dual soil moisture, air temp, humidity, light, rain, water level, soil temp) collect ground data every 2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71600"/>
            <a:ext cx="2514600" cy="25603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1508760"/>
            <a:ext cx="22402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A3E635"/>
                </a:solidFill>
                <a:latin typeface="Trebuchet MS"/>
              </a:defRPr>
            </a:pPr>
            <a:r>
              <a:t>2. THINK</a:t>
            </a:r>
          </a:p>
          <a:p>
            <a:pPr>
              <a:spcBef>
                <a:spcPts val="4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AI &amp; Weather Intelligence</a:t>
            </a:r>
          </a:p>
          <a:p>
            <a:pPr>
              <a:spcBef>
                <a:spcPts val="5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Multimodal AI engines process sensor values against live hyper-local weather forecasts and crop agronomy rules to evaluate stress.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2514600" cy="25603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508760"/>
            <a:ext cx="22402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A3E635"/>
                </a:solidFill>
                <a:latin typeface="Trebuchet MS"/>
              </a:defRPr>
            </a:pPr>
            <a:r>
              <a:t>3. ACT</a:t>
            </a:r>
          </a:p>
          <a:p>
            <a:pPr>
              <a:spcBef>
                <a:spcPts val="4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Automated Relay Control</a:t>
            </a:r>
          </a:p>
          <a:p>
            <a:pPr>
              <a:spcBef>
                <a:spcPts val="5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ESP32 triggers optocoupler relays to activate submersible water pumps or aeration fans precisely when soil moisture hits threshold.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371600"/>
            <a:ext cx="2514600" cy="25603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08760"/>
            <a:ext cx="22402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A3E635"/>
                </a:solidFill>
                <a:latin typeface="Trebuchet MS"/>
              </a:defRPr>
            </a:pPr>
            <a:r>
              <a:t>4. LEARN</a:t>
            </a:r>
          </a:p>
          <a:p>
            <a:pPr>
              <a:spcBef>
                <a:spcPts val="4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Voice Advisory &amp; Market</a:t>
            </a:r>
          </a:p>
          <a:p>
            <a:pPr>
              <a:spcBef>
                <a:spcPts val="5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Farmers receive instant localized audio updates in 15+ languages, disease diagnosis reports, and direct mandi trading connections.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728655" cy="210312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4340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⭐ MAIN VALUE PROPOSITION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63440"/>
            <a:ext cx="103327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F1F5F9"/>
                </a:solidFill>
                <a:latin typeface="Arial"/>
              </a:defRPr>
            </a:pPr>
            <a:r>
              <a:t>• Zero-Manual Intervention: Automated irrigation conserves groundwater and prevents crop wilting without requiring manual valve turning.</a:t>
            </a:r>
          </a:p>
          <a:p>
            <a:pPr>
              <a:spcBef>
                <a:spcPts val="400"/>
              </a:spcBef>
              <a:defRPr sz="1100">
                <a:solidFill>
                  <a:srgbClr val="F1F5F9"/>
                </a:solidFill>
                <a:latin typeface="Arial"/>
              </a:defRPr>
            </a:pPr>
            <a:r>
              <a:t>• Multimodal Crop Doctor: Farmers snap a photo of any unhealthy crop leaf to receive instant disease diagnosis, severity percentage, and organic/chemical remedies.</a:t>
            </a:r>
          </a:p>
          <a:p>
            <a:pPr>
              <a:spcBef>
                <a:spcPts val="400"/>
              </a:spcBef>
              <a:defRPr sz="1100">
                <a:solidFill>
                  <a:srgbClr val="F1F5F9"/>
                </a:solidFill>
                <a:latin typeface="Arial"/>
              </a:defRPr>
            </a:pPr>
            <a:r>
              <a:t>• Total Inclusivity: High-contrast responsive web dashboard + real-time voice synthesis ensures farmers of all literacy levels can operate with ease.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05  |  TECHNOLOGY &amp; SYSTEM ARCHITECTURE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Modern Full-Stack Cloud, Edge Computing &amp; AI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🔌 Edge &amp; IoT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ESP32 Dual-Core SoC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Built-in WiFi + Bluetooth, low power sleep, analog ADC channels.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8 Sensor Mesh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Capacitive soil probes (Zone A/B), DHT11, DS18B20, LDR, Rain, Water Depth.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Isolated Actuator Relay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5V Optocoupler relay with 1N4007 flyback diode driving DC pumps safely.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C++ Embedded Firmware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Autonomous threshold logic runs locally even if internet disconnects.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087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☁️ Backend &amp; Dual 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FastAPI Microservices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High-throughput async Python REST API for telemetry ingestion &amp; auth.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MongoDB Atlas Cloud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Scalable document store for user profiles, historical sensor logs &amp; chats.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SQLite Offline Storage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Local resilient database cache for network failure tolerance.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Cloudflare Global CDN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Instant low-latency edge deployment with SSL and DDoS shield.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🧠 AI &amp; Vision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14-Model Fallback Chain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Self-healing LLM mesh ensuring zero downtime for agronomy chat.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Computer Vision CNN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Leaf disease classification scoring pest infestation &amp; cure roadmap.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Speech &amp; Multilingual NLP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Real-time text-to-speech &amp; audio transcription across 15+ Indian tongues.</a:t>
            </a:r>
          </a:p>
          <a:p>
            <a:pPr>
              <a:spcBef>
                <a:spcPts val="700"/>
              </a:spcBef>
              <a:defRPr sz="1050" b="1">
                <a:solidFill>
                  <a:srgbClr val="A3E635"/>
                </a:solidFill>
                <a:latin typeface="Arial"/>
              </a:defRPr>
            </a:pPr>
            <a:r>
              <a:t>• Satellite &amp; Mandi APIs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  OpenWeather forecasting and agricultural marketplace pricing feeds.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06  |  PROTOTYPE, MVP &amp; LIVE DEMONSTRATION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Working Hardware Circuit, Deployed Cloud Web App &amp; Field Proof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🔌 Physical Hardware Prototype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Bench Tested &amp; Calibrated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Microcontroller: ESP32 NodeMCU connected to custom sensor breadboard circuit.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Sensor Suite: DHT11 (Temp/Hum), 2× Capacitive Soil Probes, LDR light module, Rain sensor, Water depth gauge.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Actuation: 5V Relay triggering DC Submersible Water Pump via isolated battery rail with flyback protection.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Calibration: Dry vs saturated soil calibration thresholds mapped to 0-100% moisture indices.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🌐 Live Cloud Web Application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Production Deployed at Scale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Live URL: https://agrisense-269.pages.dev (Cloudflare Pages + FastAPI Backend).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Real-time Telemetry: Live gauges displaying temperature, humidity, dual soil zones, water tank level.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AI Crop Scanner: Live camera/upload feed detecting blight, rust, and leaf spot with actionable cures.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Multilingual Switcher: Live toggles for Hindi, Marathi, Bengali, Tamil, Telugu, English + Voice TTS.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📊 Proven Validation Metrics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Real User &amp; Data Traction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Traffic: 850+ peak visitor sessions recorded across 6 countries.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Database Sync: 100% migrated production database with 15 real users, 300+ telemetry readings.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Reliability: Continuous 2-second telemetry loop with sub-500ms AI advisory response times.</a:t>
            </a:r>
          </a:p>
          <a:p>
            <a:pPr>
              <a:spcBef>
                <a:spcPts val="7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Hardware Cost: Total prototype bill of materials under ₹950 ($11.50 USD).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07  |  TARGET USERS &amp; REAL-WORLD USE CASES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Empowering the Agricultural Value Chain from Farm to FPO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👨‍🌾 Smallholder Farmers (1-5 Acres)</a:t>
            </a:r>
          </a:p>
          <a:p>
            <a:pPr>
              <a:spcBef>
                <a:spcPts val="200"/>
              </a:spcBef>
              <a:defRPr sz="1050" b="1">
                <a:solidFill>
                  <a:srgbClr val="F59E0B"/>
                </a:solidFill>
                <a:latin typeface="Arial"/>
              </a:defRPr>
            </a:pPr>
            <a:r>
              <a:t>Market Segment: 120 Million+ in India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Use Case: Automated drip irrigation based on real soil moisture + voice alerts in regional mother tongue.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Benefits: Eliminates nocturnal farm visits, cuts electricity bills by 35%, prevents crop wilting.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🏢 FPOs &amp; Farm Co-operatives</a:t>
            </a:r>
          </a:p>
          <a:p>
            <a:pPr>
              <a:spcBef>
                <a:spcPts val="200"/>
              </a:spcBef>
              <a:defRPr sz="1050" b="1">
                <a:solidFill>
                  <a:srgbClr val="F59E0B"/>
                </a:solidFill>
                <a:latin typeface="Arial"/>
              </a:defRPr>
            </a:pPr>
            <a:r>
              <a:t>Market Segment: 10,000+ Registered Groups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Use Case: Centralized multi-farm dashboard to monitor aggregate soil health, crop stages, and yield forecasts.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Benefits: Bulk purchasing of inputs, collective crop selling at peak mandi prices, standardized quality.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484632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🏡 Polyhouse &amp; Urban Growers</a:t>
            </a:r>
          </a:p>
          <a:p>
            <a:pPr>
              <a:spcBef>
                <a:spcPts val="200"/>
              </a:spcBef>
              <a:defRPr sz="1050" b="1">
                <a:solidFill>
                  <a:srgbClr val="F59E0B"/>
                </a:solidFill>
                <a:latin typeface="Arial"/>
              </a:defRPr>
            </a:pPr>
            <a:r>
              <a:t>Market Segment: Rapidly Growing Market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Use Case: Microclimate monitoring (humidity, light intensity, root temp) for high-value horticulture &amp; floriculture.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Benefits: 24/7 automated misting and ventilation control to maximize exotic crop output.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69080"/>
            <a:ext cx="484632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🏛️ Agronomists &amp; Extension Officers</a:t>
            </a:r>
          </a:p>
          <a:p>
            <a:pPr>
              <a:spcBef>
                <a:spcPts val="200"/>
              </a:spcBef>
              <a:defRPr sz="1050" b="1">
                <a:solidFill>
                  <a:srgbClr val="F59E0B"/>
                </a:solidFill>
                <a:latin typeface="Arial"/>
              </a:defRPr>
            </a:pPr>
            <a:r>
              <a:t>Market Segment: Government &amp; NGO Networks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Use Case: Remote crop disease outbreak mapping and targeted fertilizer recommendation distribution.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Benefits: Replaces slow physical surveys with real-time digital agricultural advisory reach.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08  |  QUANTIFIABLE IMPACT &amp; UN SDG ALIGNMENT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Delivering Measurable Economic, Social and Environmental Benefits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514600" cy="228600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22402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A3E635"/>
                </a:solidFill>
                <a:latin typeface="Trebuchet MS"/>
              </a:defRPr>
            </a:pPr>
            <a:r>
              <a:t>40–50%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WATER CONSERVATION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  <a:latin typeface="Arial"/>
              </a:defRPr>
            </a:pPr>
            <a:r>
              <a:t>Eliminating over-irrigation saves millions of liters of groundwater per village.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71600"/>
            <a:ext cx="2514600" cy="228600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1463040"/>
            <a:ext cx="22402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A3E635"/>
                </a:solidFill>
                <a:latin typeface="Trebuchet MS"/>
              </a:defRPr>
            </a:pPr>
            <a:r>
              <a:t>+25–35%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CROP YIELD INCREASE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  <a:latin typeface="Arial"/>
              </a:defRPr>
            </a:pPr>
            <a:r>
              <a:t>Optimal soil moisture and early disease intervention maximize harvest weight.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2514600" cy="228600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463040"/>
            <a:ext cx="22402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A3E635"/>
                </a:solidFill>
                <a:latin typeface="Trebuchet MS"/>
              </a:defRPr>
            </a:pPr>
            <a:r>
              <a:t>60%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TIME SAVED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  <a:latin typeface="Arial"/>
              </a:defRPr>
            </a:pPr>
            <a:r>
              <a:t>Remote IoT gauges and automated pumps save 2-3 hours of daily manual toil.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371600"/>
            <a:ext cx="2514600" cy="228600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463040"/>
            <a:ext cx="22402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A3E635"/>
                </a:solidFill>
                <a:latin typeface="Trebuchet MS"/>
              </a:defRPr>
            </a:pPr>
            <a:r>
              <a:t>₹18,000+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Arial"/>
              </a:defRPr>
            </a:pPr>
            <a:r>
              <a:t>SAVINGS / ACRE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  <a:latin typeface="Arial"/>
              </a:defRPr>
            </a:pPr>
            <a:r>
              <a:t>Direct reduction in power bills, diesel, wasted fertilizer, and lost harvest.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728655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🌐 UNITED NATIONS SUSTAINABLE DEVELOPMENT GOALS (SDGs)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8912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SDG 2: Zero Hunger: Boosts smallholder farm productivity, mitigates crop disease losses, and ensures resilient food supply.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SDG 6: Clean Water &amp; Sanitation: Dramatically curbs agricultural water wastage through precision closed-loop sensor-driven irrigation.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SDG 12: Responsible Consumption: Optimizes agrochemical inputs and reduces excessive pesticide spraying via AI leaf vision diagnostics.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SDG 13: Climate Action: Builds climate resilience for vulnerable farming communities facing unpredictable monsoon rainfall.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09  |  BUSINESS MODEL &amp; DEPLOYMENT ROADMAP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Multi-Tiered Monetization on a Near-Zero Operational Cost Base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51460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📱 Freemium App (₹300/yr)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22402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Core dashboard &amp; basic alerts 100% free.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Premium tier unlocks unlimited AI leaf scans, advanced satellite NDVI maps &amp; PDF reports.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51460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50876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🔌 Hardware Kit (₹800)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1828800"/>
            <a:ext cx="22402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Pre-assembled plug-and-play ESP32 node + 8-sensor probe suite + relay.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35% gross profit margin per hardware unit sold.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251460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🏢 FPO / B2B SaaS (₹500/farm)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828800"/>
            <a:ext cx="22402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Centralized administrative portal for agricultural co-operatives and sugar/cotton mills.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Enterprise batch analytics and field health heatmaps.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371600"/>
            <a:ext cx="2514600" cy="237744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50876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🛒 Marketplace Cut (₹200/farm)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1828800"/>
            <a:ext cx="22402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1.5% transaction commission connecting buyers directly to farmers for fresh produce.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Transport logistics and direct mandi price negotiation.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23360"/>
            <a:ext cx="10728655" cy="228600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6052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🗺️ IMPLEMENTATION ROADMAP &amp; STRATEGY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480560"/>
            <a:ext cx="1033272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Phase 1 (Months 1–3): 50-Farm Pilot with local agricultural co-operatives to validate sensor durability and yield gains.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Phase 2 (Months 4–8): Distribution partnership with Krishi Vigyan Kendras (KVKs) and FPOs across 5 agrarian districts.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Phase 3 (Months 9–14): Scale hardware manufacturing via standardized PCB assembly; integrate NPK and soil pH sensor modules.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  <a:latin typeface="Arial"/>
              </a:defRPr>
            </a:pPr>
            <a:r>
              <a:t>• Phase 4 (Months 15+): Pan-India rollout with micro-finance partners (NABARD/rural banks) offering 0% EMI hardware kits.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10  |  FEASIBILITY, RISK MITIGATION &amp; SCALABILITY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Engineered for Rugged Field Environments and Mass Expansion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⚙️ Technical &amp; Operational Feasibility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Robust Architecture: ESP32 embedded C++ code runs offline automation even during WiFi drops.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Corrosion-Resistant Probes: Capacitive soil moisture sensors eliminate galvanic electrolysis corrosion.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Dual Power Rails: Optocoupler isolation isolates high-current inductive pump spikes from the microcontroller.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Zero-Config UI: Pre-configured WiFi provisioning &amp; QR-code setup takes under 3 minutes per farmer.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087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🛡️ Risk Analysis &amp; Mitigation 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Risk 1: Intermittent Rural Internet → Mitigation: Edge-native threshold logic runs independently + SMS/GSM fallback.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Risk 2: Sensor Calibration Drift → Mitigation: Software auto-zero calibration against dynamic weather baselines.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Risk 3: AI Hallucinations → Mitigation: Multi-model verification filter rejects low-confidence agronomy answers.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Risk 4: Low Farmer Literacy → Mitigation: Voice-first audio synthesis and image-only diagnostic buttons.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📈 4-Stage Scaling Ladder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Tier 1 (Individual): 1 Farm Prototype — Successfully built, tested, and validated.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Tier 2 (Community): 50–500 Farms — Deployment through local FPO pilot programs.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Tier 3 (State / National): 10,000+ Farms — Partnerships with State Agricultural Departments &amp; KVKs.</a:t>
            </a:r>
          </a:p>
          <a:p>
            <a:pPr>
              <a:spcBef>
                <a:spcPts val="8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Tier 4 (Global South): Expansion across South Asia &amp; Sub-Saharan Africa facing identical water crises.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11  |  COMPETITIVE ADVANTAGE &amp; DIFFERENTIATION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Why AgriSense Dominates Alternative Approaches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743200"/>
                <a:gridCol w="2743200"/>
                <a:gridCol w="2681935"/>
              </a:tblGrid>
              <a:tr h="58521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Feature / Parameter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Traditional Farming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Industrial AgTech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A3E635"/>
                          </a:solidFill>
                          <a:latin typeface="Trebuchet MS"/>
                        </a:defRPr>
                      </a:pPr>
                      <a:r>
                        <a:t>AgriSense (Our Solution)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Hardware &amp; Setup Cost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₹0 (Manual labor)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₹50,000 – ₹2,00,000+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&lt; ₹1,000 ($12 USD)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Irrigation Control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Manual Guesswork / Flood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Timer-only or SCADA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Autonomous Closed-Loop IoT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Language &amp; Voice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English-only complex dashboards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15+ Indian Languages + Audio Voice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Disease Diagnosis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Post-damage manual scouting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Lab testing (3–7 days delay)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Instant AI Leaf Photo Diagnosis (&lt;2s)</a:t>
                      </a:r>
                    </a:p>
                  </a:txBody>
                  <a:tcPr>
                    <a:solidFill>
                      <a:srgbClr val="122A1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1520" y="4572000"/>
            <a:ext cx="10728655" cy="17373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70916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💡 INTELLECTUAL PROPERTY &amp; 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8348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Proprietary Resilient AI Architecture: Self-healing multi-model arbitration pipeline with hallucination guardrails.</a:t>
            </a:r>
          </a:p>
          <a:p>
            <a:pPr>
              <a:spcBef>
                <a:spcPts val="3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Low-Cost Dual-Zone IoT Telemetry: Open-source compatible firmware integrating 8 sensors with fail-safe local relay actuation.</a:t>
            </a:r>
          </a:p>
          <a:p>
            <a:pPr>
              <a:spcBef>
                <a:spcPts val="3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Future Scope: Integration of optical NPK soil nutrients sensors, drone multispectral NDVI aerial imagery, and automated solar pump inverters.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12  |  TEAM, VISION &amp; CALL TO ACTION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Building the Future of Sustainable, Thinking Farms for Every Farmer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31089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👥 TEAM MEMBERS &amp;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Pranav Saxena: Lead Developer &amp; IoT System Architect (Full-stack FastAPI/React + ESP32 C++)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Hiyasha Deviyal: Product Research &amp; UI/UX Design (Farmer user journey &amp; wireframes)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Chaitanya Vashisht: Hardware Engineering &amp; Field Testing (Relay circuits &amp; sensor bench tests)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Kairavi Patel: Frontend Dev &amp; Multilingual Voice (Translation &amp; TTS pipeline)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Eekansh Patni: Data Analytics &amp; Agronomy Research (Crop stress modeling &amp; telemetry)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31089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E75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764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🎯 MENTOR &amp; LONG-TERM 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Mentor: Ms. Deepika Dutt — Continuous guidance in technical approach, research validation and problem structuring.</a:t>
            </a:r>
          </a:p>
          <a:p>
            <a:pPr>
              <a:spcBef>
                <a:spcPts val="6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Acknowledgements: Dedicated agricultural mentors, community farmers, and open-source contributors.</a:t>
            </a:r>
          </a:p>
          <a:p>
            <a:pPr>
              <a:spcBef>
                <a:spcPts val="6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• Long-Term Vision: Democratize smart agriculture across the Global South, converting every traditional field into an intelligent, self-regulating ecosystem that preserves water and guarantees farmer prosperity.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10728655" cy="1737360"/>
          </a:xfrm>
          <a:prstGeom prst="roundRect">
            <a:avLst/>
          </a:prstGeom>
          <a:solidFill>
            <a:srgbClr val="122A1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🚀 CALL TO ACTION &amp; CONTACT DETAILS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749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Trebuchet MS"/>
              </a:defRPr>
            </a:pPr>
            <a:r>
              <a:t>Join us in empowering smallholder farmers with accessible IoT &amp; AI!</a:t>
            </a:r>
          </a:p>
          <a:p>
            <a:pPr>
              <a:spcBef>
                <a:spcPts val="400"/>
              </a:spcBef>
              <a:defRPr sz="1000">
                <a:solidFill>
                  <a:srgbClr val="FFFFFF"/>
                </a:solidFill>
                <a:latin typeface="Arial"/>
              </a:defRPr>
            </a:pPr>
            <a:r>
              <a:t>🌐 Live Platform: https://agrisense-269.pages.dev  |  💻 GitHub: github.com/pranavsaxenaofficial11-coder/agrisense-fullstack</a:t>
            </a:r>
            <a:br/>
            <a:r>
              <a:t>📧 Email: pranavsaxenaofficial11@gmail.com  |  📞 Phone: +91 8383049373  |  🙏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