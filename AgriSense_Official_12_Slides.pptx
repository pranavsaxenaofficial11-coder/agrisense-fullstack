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6766560" cy="265176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630936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A3E635"/>
                </a:solidFill>
                <a:latin typeface="Trebuchet MS"/>
              </a:defRPr>
            </a:pPr>
            <a:r>
              <a:t>🌱 AGRISENSE</a:t>
            </a:r>
          </a:p>
          <a:p>
            <a:pPr>
              <a:spcBef>
                <a:spcPts val="4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The Autonomous Edge-IoT &amp; Multimodal AI Precision Farming Platform</a:t>
            </a:r>
          </a:p>
          <a:p>
            <a:pPr>
              <a:spcBef>
                <a:spcPts val="600"/>
              </a:spcBef>
              <a:defRPr sz="1100" b="1">
                <a:solidFill>
                  <a:srgbClr val="22C55E"/>
                </a:solidFill>
                <a:latin typeface="Arial"/>
              </a:defRPr>
            </a:pPr>
            <a:r>
              <a:t>Theme: AI for Sustainable Agriculture, Edge Computing &amp; Natural Resource Conservation</a:t>
            </a:r>
          </a:p>
          <a:p>
            <a:pPr>
              <a:spcBef>
                <a:spcPts val="500"/>
              </a:spcBef>
              <a:defRPr sz="1000">
                <a:solidFill>
                  <a:srgbClr val="9CAFA5"/>
                </a:solidFill>
                <a:latin typeface="Arial"/>
              </a:defRPr>
            </a:pPr>
            <a:r>
              <a:t>Core Value: 40% freshwater conservation, 30% yield boost, and real-time offline AI diagnosis for smallholder farmers using affordable sub-₹1,000 edge hardware.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383280"/>
            <a:ext cx="3291840" cy="292608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96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493008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👥 INNOVATION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794760"/>
            <a:ext cx="29718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F1F5F9"/>
                </a:solidFill>
                <a:latin typeface="Arial"/>
              </a:defRPr>
            </a:pPr>
            <a:r>
              <a:t>• Pranav Saxena</a:t>
            </a:r>
          </a:p>
          <a:p>
            <a:pPr>
              <a:defRPr sz="850">
                <a:solidFill>
                  <a:srgbClr val="9CAFA5"/>
                </a:solidFill>
                <a:latin typeface="Arial"/>
              </a:defRPr>
            </a:pPr>
            <a:r>
              <a:t>   Lead Developer &amp; System Architect</a:t>
            </a:r>
          </a:p>
          <a:p>
            <a:pPr>
              <a:spcBef>
                <a:spcPts val="300"/>
              </a:spcBef>
              <a:defRPr sz="1000" b="1">
                <a:solidFill>
                  <a:srgbClr val="F1F5F9"/>
                </a:solidFill>
                <a:latin typeface="Arial"/>
              </a:defRPr>
            </a:pPr>
            <a:r>
              <a:t>• Hiyasha Deviyal</a:t>
            </a:r>
          </a:p>
          <a:p>
            <a:pPr>
              <a:defRPr sz="850">
                <a:solidFill>
                  <a:srgbClr val="9CAFA5"/>
                </a:solidFill>
                <a:latin typeface="Arial"/>
              </a:defRPr>
            </a:pPr>
            <a:r>
              <a:t>   Agronomy &amp; UI/UX Research</a:t>
            </a:r>
          </a:p>
          <a:p>
            <a:pPr>
              <a:spcBef>
                <a:spcPts val="300"/>
              </a:spcBef>
              <a:defRPr sz="1000" b="1">
                <a:solidFill>
                  <a:srgbClr val="F1F5F9"/>
                </a:solidFill>
                <a:latin typeface="Arial"/>
              </a:defRPr>
            </a:pPr>
            <a:r>
              <a:t>• Chaitanya Vashisht</a:t>
            </a:r>
          </a:p>
          <a:p>
            <a:pPr>
              <a:defRPr sz="850">
                <a:solidFill>
                  <a:srgbClr val="9CAFA5"/>
                </a:solidFill>
                <a:latin typeface="Arial"/>
              </a:defRPr>
            </a:pPr>
            <a:r>
              <a:t>   IoT Hardware &amp; Firmware</a:t>
            </a:r>
          </a:p>
          <a:p>
            <a:pPr>
              <a:spcBef>
                <a:spcPts val="300"/>
              </a:spcBef>
              <a:defRPr sz="1000" b="1">
                <a:solidFill>
                  <a:srgbClr val="F1F5F9"/>
                </a:solidFill>
                <a:latin typeface="Arial"/>
              </a:defRPr>
            </a:pPr>
            <a:r>
              <a:t>• Kairavi Patel</a:t>
            </a:r>
          </a:p>
          <a:p>
            <a:pPr>
              <a:defRPr sz="850">
                <a:solidFill>
                  <a:srgbClr val="9CAFA5"/>
                </a:solidFill>
                <a:latin typeface="Arial"/>
              </a:defRPr>
            </a:pPr>
            <a:r>
              <a:t>   Frontend &amp; Multilingual Voice</a:t>
            </a:r>
          </a:p>
          <a:p>
            <a:pPr>
              <a:spcBef>
                <a:spcPts val="300"/>
              </a:spcBef>
              <a:defRPr sz="1000" b="1">
                <a:solidFill>
                  <a:srgbClr val="F1F5F9"/>
                </a:solidFill>
                <a:latin typeface="Arial"/>
              </a:defRPr>
            </a:pPr>
            <a:r>
              <a:t>• Eekansh Patni</a:t>
            </a:r>
          </a:p>
          <a:p>
            <a:pPr>
              <a:defRPr sz="850">
                <a:solidFill>
                  <a:srgbClr val="9CAFA5"/>
                </a:solidFill>
                <a:latin typeface="Arial"/>
              </a:defRPr>
            </a:pPr>
            <a:r>
              <a:t>   Data Analytics &amp; Edge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3383280"/>
            <a:ext cx="3291840" cy="292608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96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87952" y="3493008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🎯 MENTOR &amp; 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7952" y="3794760"/>
            <a:ext cx="29718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• Project Mentor: Ms. Deepika Dutt</a:t>
            </a:r>
          </a:p>
          <a:p>
            <a:pPr>
              <a:spcBef>
                <a:spcPts val="4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• Lead Contact: pranavsaxenaofficial11@gmail.com</a:t>
            </a:r>
          </a:p>
          <a:p>
            <a:pPr>
              <a:spcBef>
                <a:spcPts val="4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• Mobile / WhatsApp: +91 83830 49373</a:t>
            </a:r>
          </a:p>
          <a:p>
            <a:pPr>
              <a:spcBef>
                <a:spcPts val="4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• Live Web App: agrisense-269.pages.dev</a:t>
            </a:r>
          </a:p>
          <a:p>
            <a:pPr>
              <a:spcBef>
                <a:spcPts val="4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• GitHub Repository: github.com/pranavsaxenaofficial11-coder</a:t>
            </a:r>
          </a:p>
          <a:p>
            <a:pPr>
              <a:spcBef>
                <a:spcPts val="4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• License: Open-Source (MIT / GPLv3)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548640"/>
            <a:ext cx="4144975" cy="576072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96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_deck_slide_1_pic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640080"/>
            <a:ext cx="3962095" cy="5577840"/>
          </a:xfrm>
          <a:prstGeom prst="rect">
            <a:avLst/>
          </a:prstGeom>
          <a:ln w="15240">
            <a:solidFill>
              <a:srgbClr val="296B5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Ministry of Agriculture &amp; Farmers Welfare, GoI — https://agriwelfare.gov.in | PIB PRID 2051280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SLIDE 02  |  PROBLEM &amp; OPPORTUNITY</a:t>
            </a:r>
          </a:p>
          <a:p>
            <a:pPr>
              <a:spcBef>
                <a:spcPts val="300"/>
              </a:spcBef>
              <a:defRPr sz="1800" b="1">
                <a:solidFill>
                  <a:srgbClr val="FFFFFF"/>
                </a:solidFill>
                <a:latin typeface="Arial"/>
              </a:defRPr>
            </a:pPr>
            <a:r>
              <a:t>Smallholder Vulnerability vs Precision Agriculture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6766560" cy="512064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96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64373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🚨 THE THREE PILLARS OF THE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6309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150" b="1">
                <a:solidFill>
                  <a:srgbClr val="F59E0B"/>
                </a:solidFill>
                <a:latin typeface="Trebuchet MS"/>
              </a:defRPr>
            </a:pPr>
            <a:r>
              <a:t>1. Severe Freshwater Depletion &amp; Water Inefficiency</a:t>
            </a:r>
          </a:p>
          <a:p>
            <a:pPr>
              <a:spcBef>
                <a:spcPts val="200"/>
              </a:spcBef>
              <a:defRPr sz="919">
                <a:solidFill>
                  <a:srgbClr val="F1F5F9"/>
                </a:solidFill>
                <a:latin typeface="Arial"/>
              </a:defRPr>
            </a:pPr>
            <a:r>
              <a:t>Indian agriculture consumes ~85%–90% of total freshwater withdrawal (Central Ground Water Board). Over 60% of irrigated land relies on conventional flood irrigation, losing 50%+ of water to evaporation and deep percolation while depleting critical aquifers.</a:t>
            </a:r>
          </a:p>
          <a:p>
            <a:pPr>
              <a:spcBef>
                <a:spcPts val="100"/>
              </a:spcBef>
              <a:defRPr sz="800">
                <a:solidFill>
                  <a:srgbClr val="38BDF8"/>
                </a:solidFill>
                <a:latin typeface="Arial"/>
              </a:defRPr>
            </a:pPr>
            <a:r>
              <a:t>Source: CGWB Dynamic Groundwater Resources Report 2023 | FAO AQUASTAT India</a:t>
            </a:r>
          </a:p>
          <a:p>
            <a:pPr>
              <a:spcBef>
                <a:spcPts val="800"/>
              </a:spcBef>
              <a:defRPr sz="1150" b="1">
                <a:solidFill>
                  <a:srgbClr val="F59E0B"/>
                </a:solidFill>
                <a:latin typeface="Trebuchet MS"/>
              </a:defRPr>
            </a:pPr>
            <a:r>
              <a:t>2. Catastrophic Pest &amp; Disease Crop Destruction</a:t>
            </a:r>
          </a:p>
          <a:p>
            <a:pPr>
              <a:spcBef>
                <a:spcPts val="200"/>
              </a:spcBef>
              <a:defRPr sz="919">
                <a:solidFill>
                  <a:srgbClr val="F1F5F9"/>
                </a:solidFill>
                <a:latin typeface="Arial"/>
              </a:defRPr>
            </a:pPr>
            <a:r>
              <a:t>Indian farmers suffer 30%–35% annual crop output destruction caused by delayed fungal, viral, and pest infestations. Annual economic loss exceeds ₹50,000 Crore ($6.1B+ USD) due to lack of early leaf diagnosis at the farm gate.</a:t>
            </a:r>
          </a:p>
          <a:p>
            <a:pPr>
              <a:spcBef>
                <a:spcPts val="100"/>
              </a:spcBef>
              <a:defRPr sz="800">
                <a:solidFill>
                  <a:srgbClr val="38BDF8"/>
                </a:solidFill>
                <a:latin typeface="Arial"/>
              </a:defRPr>
            </a:pPr>
            <a:r>
              <a:t>Source: Indian Council of Agricultural Research (ICAR) Annual Technical Report</a:t>
            </a:r>
          </a:p>
          <a:p>
            <a:pPr>
              <a:spcBef>
                <a:spcPts val="800"/>
              </a:spcBef>
              <a:defRPr sz="1150" b="1">
                <a:solidFill>
                  <a:srgbClr val="F59E0B"/>
                </a:solidFill>
                <a:latin typeface="Trebuchet MS"/>
              </a:defRPr>
            </a:pPr>
            <a:r>
              <a:t>3. Smallholder Marginalization (86.2% of Operational Holdings)</a:t>
            </a:r>
          </a:p>
          <a:p>
            <a:pPr>
              <a:spcBef>
                <a:spcPts val="200"/>
              </a:spcBef>
              <a:defRPr sz="919">
                <a:solidFill>
                  <a:srgbClr val="F1F5F9"/>
                </a:solidFill>
                <a:latin typeface="Arial"/>
              </a:defRPr>
            </a:pPr>
            <a:r>
              <a:t>126 million small &amp; marginal farmers (&lt;2 hectares) represent 86.2% of total operational holdings. Commercial IoT solutions (Fasal, CropIn) priced at ₹45,000–₹1,50,000 are economically inaccessible to smallholders who earn &lt;₹10,000/month.</a:t>
            </a:r>
          </a:p>
          <a:p>
            <a:pPr>
              <a:spcBef>
                <a:spcPts val="100"/>
              </a:spcBef>
              <a:defRPr sz="800">
                <a:solidFill>
                  <a:srgbClr val="38BDF8"/>
                </a:solidFill>
                <a:latin typeface="Arial"/>
              </a:defRPr>
            </a:pPr>
            <a:r>
              <a:t>Source: 10th Agricultural Census of India (agricoop.nic.in)</a:t>
            </a:r>
          </a:p>
        </p:txBody>
      </p:sp>
      <p:pic>
        <p:nvPicPr>
          <p:cNvPr id="6" name="Picture 5" descr="AgriSense_Pitch_Deck_Slide-2-image-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188720"/>
            <a:ext cx="4144975" cy="2377440"/>
          </a:xfrm>
          <a:prstGeom prst="rect">
            <a:avLst/>
          </a:prstGeom>
          <a:ln w="15240">
            <a:solidFill>
              <a:srgbClr val="296B50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498079" y="3749039"/>
            <a:ext cx="4144975" cy="256032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96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62671" y="3858767"/>
            <a:ext cx="381579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📈 MARKET &amp; SOCIAL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160520"/>
            <a:ext cx="377921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919">
                <a:solidFill>
                  <a:srgbClr val="F1F5F9"/>
                </a:solidFill>
                <a:latin typeface="Arial"/>
              </a:defRPr>
            </a:pPr>
            <a:r>
              <a:t>• Global Precision AgTech: $9.8B in 2023 → $21.9B by 2030 (12.8% CAGR)</a:t>
            </a:r>
          </a:p>
          <a:p>
            <a:pPr>
              <a:spcBef>
                <a:spcPts val="400"/>
              </a:spcBef>
              <a:defRPr sz="919">
                <a:solidFill>
                  <a:srgbClr val="F1F5F9"/>
                </a:solidFill>
                <a:latin typeface="Arial"/>
              </a:defRPr>
            </a:pPr>
            <a:r>
              <a:t>• Indian Smart Agriculture: ₹12,000 Cr TAM across 146M hectares</a:t>
            </a:r>
          </a:p>
          <a:p>
            <a:pPr>
              <a:spcBef>
                <a:spcPts val="400"/>
              </a:spcBef>
              <a:defRPr sz="919">
                <a:solidFill>
                  <a:srgbClr val="F1F5F9"/>
                </a:solidFill>
                <a:latin typeface="Arial"/>
              </a:defRPr>
            </a:pPr>
            <a:r>
              <a:t>• National Mandate: Digital Agriculture Mission &amp; PMKSY micro-irrigation</a:t>
            </a:r>
          </a:p>
          <a:p>
            <a:pPr>
              <a:spcBef>
                <a:spcPts val="400"/>
              </a:spcBef>
              <a:defRPr sz="919">
                <a:solidFill>
                  <a:srgbClr val="F1F5F9"/>
                </a:solidFill>
                <a:latin typeface="Arial"/>
              </a:defRPr>
            </a:pPr>
            <a:r>
              <a:t>• Economic ROI: Slashes input water by 40%, increases annual farmer net profit by ₹24,000 ($290 USD) per acre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CGWB Groundwater Report &amp; FAO AQUASTAT — https://cgwb.gov.in | FAO India Country 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SLIDE 03  |  EXISTING SOLUTIONS &amp; GAP</a:t>
            </a:r>
          </a:p>
          <a:p>
            <a:pPr>
              <a:spcBef>
                <a:spcPts val="300"/>
              </a:spcBef>
              <a:defRPr sz="1800" b="1">
                <a:solidFill>
                  <a:srgbClr val="FFFFFF"/>
                </a:solidFill>
                <a:latin typeface="Arial"/>
              </a:defRPr>
            </a:pPr>
            <a:r>
              <a:t>Why Current AgTech Fails Smallholders and How AgriSense Closes the Gap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3547872" cy="393192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96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321868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Traditional Flood Farming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45920"/>
            <a:ext cx="3218688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F59E0B"/>
                </a:solidFill>
                <a:latin typeface="Arial"/>
              </a:defRPr>
            </a:pPr>
            <a:r>
              <a:t>Method:</a:t>
            </a:r>
          </a:p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Manual canal flood irrigation based on visual habit</a:t>
            </a:r>
          </a:p>
          <a:p>
            <a:pPr>
              <a:spcBef>
                <a:spcPts val="500"/>
              </a:spcBef>
              <a:defRPr sz="950" b="1">
                <a:solidFill>
                  <a:srgbClr val="F59E0B"/>
                </a:solidFill>
                <a:latin typeface="Arial"/>
              </a:defRPr>
            </a:pPr>
            <a:r>
              <a:t>Water Efficiency:</a:t>
            </a:r>
          </a:p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30%–45% (massive loss to deep percolation)</a:t>
            </a:r>
          </a:p>
          <a:p>
            <a:pPr>
              <a:spcBef>
                <a:spcPts val="500"/>
              </a:spcBef>
              <a:defRPr sz="950" b="1">
                <a:solidFill>
                  <a:srgbClr val="F59E0B"/>
                </a:solidFill>
                <a:latin typeface="Arial"/>
              </a:defRPr>
            </a:pPr>
            <a:r>
              <a:t>Pest Diagnosis:</a:t>
            </a:r>
          </a:p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Visual symptom discovery after 40%+ crop damage</a:t>
            </a:r>
          </a:p>
          <a:p>
            <a:pPr>
              <a:spcBef>
                <a:spcPts val="500"/>
              </a:spcBef>
              <a:defRPr sz="950" b="1">
                <a:solidFill>
                  <a:srgbClr val="F59E0B"/>
                </a:solidFill>
                <a:latin typeface="Arial"/>
              </a:defRPr>
            </a:pPr>
            <a:r>
              <a:t>Hardware Cost:</a:t>
            </a:r>
          </a:p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₹0 direct hardware, massive resource waste</a:t>
            </a:r>
          </a:p>
          <a:p>
            <a:pPr>
              <a:spcBef>
                <a:spcPts val="500"/>
              </a:spcBef>
              <a:defRPr sz="950" b="1">
                <a:solidFill>
                  <a:srgbClr val="F59E0B"/>
                </a:solidFill>
                <a:latin typeface="Arial"/>
              </a:defRPr>
            </a:pPr>
            <a:r>
              <a:t>Critical Pain Point:</a:t>
            </a:r>
          </a:p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Soil leaching, root rot, high diesel pump fuel bills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188720"/>
            <a:ext cx="3547872" cy="393192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96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298448"/>
            <a:ext cx="321868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Commercial SCADA / AgTech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3218688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F59E0B"/>
                </a:solidFill>
                <a:latin typeface="Arial"/>
              </a:defRPr>
            </a:pPr>
            <a:r>
              <a:t>Method:</a:t>
            </a:r>
          </a:p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Proprietary industrial telemetry towers (Fasal, CropIn)</a:t>
            </a:r>
          </a:p>
          <a:p>
            <a:pPr>
              <a:spcBef>
                <a:spcPts val="500"/>
              </a:spcBef>
              <a:defRPr sz="950" b="1">
                <a:solidFill>
                  <a:srgbClr val="F59E0B"/>
                </a:solidFill>
                <a:latin typeface="Arial"/>
              </a:defRPr>
            </a:pPr>
            <a:r>
              <a:t>Water Efficiency:</a:t>
            </a:r>
          </a:p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70%–80% efficiency under optimal calibration</a:t>
            </a:r>
          </a:p>
          <a:p>
            <a:pPr>
              <a:spcBef>
                <a:spcPts val="500"/>
              </a:spcBef>
              <a:defRPr sz="950" b="1">
                <a:solidFill>
                  <a:srgbClr val="F59E0B"/>
                </a:solidFill>
                <a:latin typeface="Arial"/>
              </a:defRPr>
            </a:pPr>
            <a:r>
              <a:t>Pest Diagnosis:</a:t>
            </a:r>
          </a:p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Cloud batch processing requiring fast 4G/5G</a:t>
            </a:r>
          </a:p>
          <a:p>
            <a:pPr>
              <a:spcBef>
                <a:spcPts val="500"/>
              </a:spcBef>
              <a:defRPr sz="950" b="1">
                <a:solidFill>
                  <a:srgbClr val="F59E0B"/>
                </a:solidFill>
                <a:latin typeface="Arial"/>
              </a:defRPr>
            </a:pPr>
            <a:r>
              <a:t>Hardware Cost:</a:t>
            </a:r>
          </a:p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₹40,000–₹1,50,000 + ₹1,200/month recurring fee</a:t>
            </a:r>
          </a:p>
          <a:p>
            <a:pPr>
              <a:spcBef>
                <a:spcPts val="500"/>
              </a:spcBef>
              <a:defRPr sz="950" b="1">
                <a:solidFill>
                  <a:srgbClr val="F59E0B"/>
                </a:solidFill>
                <a:latin typeface="Arial"/>
              </a:defRPr>
            </a:pPr>
            <a:r>
              <a:t>Critical Pain Point:</a:t>
            </a:r>
          </a:p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Prohibitive upfront cost; vendor lock-in; breaks on 2G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188720"/>
            <a:ext cx="3547872" cy="393192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1298448"/>
            <a:ext cx="321868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AgriSense Edge-IoT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1645920"/>
            <a:ext cx="3218688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A3E635"/>
                </a:solidFill>
                <a:latin typeface="Arial"/>
              </a:defRPr>
            </a:pPr>
            <a:r>
              <a:t>Method:</a:t>
            </a:r>
          </a:p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Autonomous dual-core ESP32 edge logic + FreeRTOS</a:t>
            </a:r>
          </a:p>
          <a:p>
            <a:pPr>
              <a:spcBef>
                <a:spcPts val="500"/>
              </a:spcBef>
              <a:defRPr sz="950" b="1">
                <a:solidFill>
                  <a:srgbClr val="A3E635"/>
                </a:solidFill>
                <a:latin typeface="Arial"/>
              </a:defRPr>
            </a:pPr>
            <a:r>
              <a:t>Water Efficiency:</a:t>
            </a:r>
          </a:p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85%–92% precision drip with soil-crop thresholds</a:t>
            </a:r>
          </a:p>
          <a:p>
            <a:pPr>
              <a:spcBef>
                <a:spcPts val="500"/>
              </a:spcBef>
              <a:defRPr sz="950" b="1">
                <a:solidFill>
                  <a:srgbClr val="A3E635"/>
                </a:solidFill>
                <a:latin typeface="Arial"/>
              </a:defRPr>
            </a:pPr>
            <a:r>
              <a:t>Pest Diagnosis:</a:t>
            </a:r>
          </a:p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Multimodal AI leaf vision in &lt;1.8s + offline cache</a:t>
            </a:r>
          </a:p>
          <a:p>
            <a:pPr>
              <a:spcBef>
                <a:spcPts val="500"/>
              </a:spcBef>
              <a:defRPr sz="950" b="1">
                <a:solidFill>
                  <a:srgbClr val="A3E635"/>
                </a:solidFill>
                <a:latin typeface="Arial"/>
              </a:defRPr>
            </a:pPr>
            <a:r>
              <a:t>Hardware Cost:</a:t>
            </a:r>
          </a:p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Under ₹1,000 ($12 USD) open BOM; ₹0 software subscription</a:t>
            </a:r>
          </a:p>
          <a:p>
            <a:pPr>
              <a:spcBef>
                <a:spcPts val="500"/>
              </a:spcBef>
              <a:defRPr sz="950" b="1">
                <a:solidFill>
                  <a:srgbClr val="A3E635"/>
                </a:solidFill>
                <a:latin typeface="Arial"/>
              </a:defRPr>
            </a:pPr>
            <a:r>
              <a:t>AgriSense Advantage:</a:t>
            </a:r>
          </a:p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Runs offline without cloud; 100% smallholder accessible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57800"/>
            <a:ext cx="11094415" cy="105156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367528"/>
            <a:ext cx="107652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🎯 HOW AGRISENSE FILLS THE CRITICAL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321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  <a:latin typeface="Arial"/>
              </a:defRPr>
            </a:pPr>
            <a:r>
              <a:t>AgriSense decentralizes precision agriculture by embedding decision loops directly onto sub-$12 microcontrollers. It delivers industrial-grade automated drip and AI leaf diagnostics without recurring subscriptions, cellular dependency, or prohibitive capital costs.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NITI Aayog 'Strategy for New India @ 75' &amp; Precision Ag Market Studies — https://niti.gov.in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SLIDE 04  |  OUR SOLUTION</a:t>
            </a:r>
          </a:p>
          <a:p>
            <a:pPr>
              <a:spcBef>
                <a:spcPts val="300"/>
              </a:spcBef>
              <a:defRPr sz="1800" b="1">
                <a:solidFill>
                  <a:srgbClr val="FFFFFF"/>
                </a:solidFill>
                <a:latin typeface="Arial"/>
              </a:defRPr>
            </a:pPr>
            <a:r>
              <a:t>Autonomous Closed-Loop Precision Farming from Edge to Cloud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486400" cy="512064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96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51572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🔄 THE 4-STAGE AUTONOMOUS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A3E635"/>
                </a:solidFill>
                <a:latin typeface="Trebuchet MS"/>
              </a:defRPr>
            </a:pPr>
            <a:r>
              <a:t>STAGE 1: Continuous Field Sensing (0–3.3V Analog &amp; I2C)</a:t>
            </a:r>
          </a:p>
          <a:p>
            <a:pPr>
              <a:spcBef>
                <a:spcPts val="2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Capacitive soil moisture sensors measure volumetric water content without copper probe electrolysis. DHT22 and light sensors stream root-zone and micro-climate metrics every 2 seconds to the onboard ESP32 ADC.</a:t>
            </a:r>
          </a:p>
          <a:p>
            <a:pPr>
              <a:spcBef>
                <a:spcPts val="600"/>
              </a:spcBef>
              <a:defRPr sz="1050" b="1">
                <a:solidFill>
                  <a:srgbClr val="A3E635"/>
                </a:solidFill>
                <a:latin typeface="Trebuchet MS"/>
              </a:defRPr>
            </a:pPr>
            <a:r>
              <a:t>STAGE 2: Edge Autonomy &amp; Smart Threshold Matrix</a:t>
            </a:r>
          </a:p>
          <a:p>
            <a:pPr>
              <a:spcBef>
                <a:spcPts val="2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The ESP32 runs FreeRTOS logic comparing real-time moisture against calibrated crop tables (e.g. Tomato flowering: 45%–70%). If moisture drops below trigger, pump actuation activates instantaneously without waiting for cloud packets.</a:t>
            </a:r>
          </a:p>
          <a:p>
            <a:pPr>
              <a:spcBef>
                <a:spcPts val="600"/>
              </a:spcBef>
              <a:defRPr sz="1050" b="1">
                <a:solidFill>
                  <a:srgbClr val="A3E635"/>
                </a:solidFill>
                <a:latin typeface="Trebuchet MS"/>
              </a:defRPr>
            </a:pPr>
            <a:r>
              <a:t>STAGE 3: Cloud Synchronization &amp; Telemetry API</a:t>
            </a:r>
          </a:p>
          <a:p>
            <a:pPr>
              <a:spcBef>
                <a:spcPts val="2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When Wi-Fi/cellular is reachable, sensor frames sync via lightweight JSON over HTTPS/WSS to Firebase Firestore and FastAPI backend, enabling real-time multi-zone dashboards and alert pushes.</a:t>
            </a:r>
          </a:p>
          <a:p>
            <a:pPr>
              <a:spcBef>
                <a:spcPts val="600"/>
              </a:spcBef>
              <a:defRPr sz="1050" b="1">
                <a:solidFill>
                  <a:srgbClr val="A3E635"/>
                </a:solidFill>
                <a:latin typeface="Trebuchet MS"/>
              </a:defRPr>
            </a:pPr>
            <a:r>
              <a:t>STAGE 4: Multimodal AI &amp; Stakeholder Action Loop</a:t>
            </a:r>
          </a:p>
          <a:p>
            <a:pPr>
              <a:spcBef>
                <a:spcPts val="2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Farmers capture leaf photos for instant vision diagnosis (&lt;1.8s) via Gemini/OpenRouter AI. Automated regional weather advisories and mandi linkages notify wholesalers and logistics providers.</a:t>
            </a:r>
          </a:p>
        </p:txBody>
      </p:sp>
      <p:pic>
        <p:nvPicPr>
          <p:cNvPr id="6" name="Picture 5" descr="ai_deck_slide_3_pic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25135" cy="5120640"/>
          </a:xfrm>
          <a:prstGeom prst="rect">
            <a:avLst/>
          </a:prstGeom>
          <a:ln w="15240">
            <a:solidFill>
              <a:srgbClr val="296B5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IEEE IoT Journal &amp; ICAR Precision Agriculture Automation Standards — https://ieeexplore.ieee.org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SLIDE 05  |  TECHNOLOGY &amp; INNOVATION</a:t>
            </a:r>
          </a:p>
          <a:p>
            <a:pPr>
              <a:spcBef>
                <a:spcPts val="300"/>
              </a:spcBef>
              <a:defRPr sz="1800" b="1">
                <a:solidFill>
                  <a:srgbClr val="FFFFFF"/>
                </a:solidFill>
                <a:latin typeface="Arial"/>
              </a:defRPr>
            </a:pPr>
            <a:r>
              <a:t>Edge Microcontroller Architecture, Multimodal AI &amp; Cloud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852160" cy="512064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96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55229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🛠️ TECHNICAL STACK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53949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F59E0B"/>
                </a:solidFill>
                <a:latin typeface="Trebuchet MS"/>
              </a:defRPr>
            </a:pPr>
            <a:r>
              <a:t>ESP32 Dual-Core Microcontroller (Xtensa LX6 @ 240MHz)</a:t>
            </a:r>
          </a:p>
          <a:p>
            <a:pPr>
              <a:spcBef>
                <a:spcPts val="2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Core 0 runs non-blocking Wi-Fi/HTTP network routines; Core 1 dedicates 100% cycles to sensor reading, ADC filtering, and relay actuation. 520KB SRAM + 4MB Flash allows 30 days of offline telemetry caching.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  <a:latin typeface="Trebuchet MS"/>
              </a:defRPr>
            </a:pPr>
            <a:r>
              <a:t>Capacitive Soil Moisture v2.0 (Corrosion-Proof)</a:t>
            </a:r>
          </a:p>
          <a:p>
            <a:pPr>
              <a:spcBef>
                <a:spcPts val="2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Operates via high-frequency RC oscillator detecting soil dielectric permittivity. Unlike cheap resistive probes that corrode within 14 days via electrolysis, capacitive probes operate for 3+ years in moist soil.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  <a:latin typeface="Trebuchet MS"/>
              </a:defRPr>
            </a:pPr>
            <a:r>
              <a:t>FastAPI Backend &amp; MongoDB Atlas / SQLite Engine</a:t>
            </a:r>
          </a:p>
          <a:p>
            <a:pPr>
              <a:spcBef>
                <a:spcPts val="2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High-throughput asynchronous Python 3.14 API with GZip compression, sub-40ms execution overhead, and dual-layer persistence for 22+ live stakeholders and multi-tenant sensor time series.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  <a:latin typeface="Trebuchet MS"/>
              </a:defRPr>
            </a:pPr>
            <a:r>
              <a:t>Multimodal AI Vision &amp; OpenRouter Intelligence</a:t>
            </a:r>
          </a:p>
          <a:p>
            <a:pPr>
              <a:spcBef>
                <a:spcPts val="2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Integrated Google Gemini Vision and open LLMs providing plant leaf pathology classification, NPK deficiency recommendations, and weather forecast risk hedging in 9 Indian languages.</a:t>
            </a:r>
          </a:p>
        </p:txBody>
      </p:sp>
      <p:pic>
        <p:nvPicPr>
          <p:cNvPr id="6" name="Picture 5" descr="ai_deck_slide_5_pic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059375" cy="5120640"/>
          </a:xfrm>
          <a:prstGeom prst="rect">
            <a:avLst/>
          </a:prstGeom>
          <a:ln w="15240">
            <a:solidFill>
              <a:srgbClr val="296B5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Espressif ESP32 Technical Reference &amp; FastAPI Architecture Benchmarks — https://espressif.com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SLIDE 06  |  PROTOTYPE / MVP / DEMONSTRATION</a:t>
            </a:r>
          </a:p>
          <a:p>
            <a:pPr>
              <a:spcBef>
                <a:spcPts val="300"/>
              </a:spcBef>
              <a:defRPr sz="1800" b="1">
                <a:solidFill>
                  <a:srgbClr val="FFFFFF"/>
                </a:solidFill>
                <a:latin typeface="Arial"/>
              </a:defRPr>
            </a:pPr>
            <a:r>
              <a:t>Live Working Hardware, Deployed Web Platform &amp; AI Diagnostics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3547872" cy="393192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321868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⚡ REAL HARDWARE PROTOTYPE</a:t>
            </a:r>
          </a:p>
        </p:txBody>
      </p:sp>
      <p:pic>
        <p:nvPicPr>
          <p:cNvPr id="5" name="Picture 4" descr="ai_deck_slide_6_pic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3273552" cy="2103120"/>
          </a:xfrm>
          <a:prstGeom prst="rect">
            <a:avLst/>
          </a:prstGeom>
          <a:ln w="15240">
            <a:solidFill>
              <a:srgbClr val="296B5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85800" y="3794760"/>
            <a:ext cx="3273552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• Assembled ESP32 node with dual optocoupled 5V relays</a:t>
            </a:r>
            <a:br/>
            <a:r>
              <a:t>• Capacitive soil moisture probe + DHT22 temperature sensor</a:t>
            </a:r>
            <a:br/>
            <a:r>
              <a:t>• Submersible 12V DC mini pump with auto-cutoff</a:t>
            </a:r>
            <a:br/>
            <a:r>
              <a:t>• Bench-tested response: &lt;120ms local switch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188720"/>
            <a:ext cx="3547872" cy="393192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298448"/>
            <a:ext cx="321868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🌐 DEPLOYED WEB PLATFORM</a:t>
            </a:r>
          </a:p>
        </p:txBody>
      </p:sp>
      <p:pic>
        <p:nvPicPr>
          <p:cNvPr id="9" name="Picture 8" descr="slide_12_pic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1600200"/>
            <a:ext cx="3273552" cy="2103120"/>
          </a:xfrm>
          <a:prstGeom prst="rect">
            <a:avLst/>
          </a:prstGeom>
          <a:ln w="15240">
            <a:solidFill>
              <a:srgbClr val="296B5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453128" y="3794760"/>
            <a:ext cx="3273552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• Live at agrisense-269.pages.dev (PWA installation)</a:t>
            </a:r>
            <a:br/>
            <a:r>
              <a:t>• Multi-tenant role toggle (Farmer, Wholesaler, Vendor)</a:t>
            </a:r>
            <a:br/>
            <a:r>
              <a:t>• Live soil moisture, tank level, &amp; pump telemetry</a:t>
            </a:r>
            <a:br/>
            <a:r>
              <a:t>• FastAPI + SQLite + MongoDB Atlas 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188720"/>
            <a:ext cx="3547872" cy="393192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298448"/>
            <a:ext cx="321868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🔍 AI LEAF PATHOLOGY SCAN</a:t>
            </a:r>
          </a:p>
        </p:txBody>
      </p:sp>
      <p:pic>
        <p:nvPicPr>
          <p:cNvPr id="13" name="Picture 12" descr="slide_13_pic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600200"/>
            <a:ext cx="3273552" cy="2103120"/>
          </a:xfrm>
          <a:prstGeom prst="rect">
            <a:avLst/>
          </a:prstGeom>
          <a:ln w="15240">
            <a:solidFill>
              <a:srgbClr val="296B5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8220456" y="3794760"/>
            <a:ext cx="3273552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• Real-time leaf disease identification via camera</a:t>
            </a:r>
            <a:br/>
            <a:r>
              <a:t>• Sub-1.8s inference time via Gemini Vision API</a:t>
            </a:r>
            <a:br/>
            <a:r>
              <a:t>• Identifies early blight, powdery mildew, aphid damage</a:t>
            </a:r>
            <a:br/>
            <a:r>
              <a:t>• Native language treatment &amp; dosage guidance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57800"/>
            <a:ext cx="11094415" cy="105156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367528"/>
            <a:ext cx="107652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📊 BENCH &amp; FIELD TESTING RESULTS (48-HOUR CONTINUOUS RUN)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59552"/>
            <a:ext cx="1069848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3E635"/>
                </a:solidFill>
                <a:latin typeface="Trebuchet MS"/>
              </a:defRPr>
            </a:pPr>
            <a:r>
              <a:t>✅ 0 Watchdog Resets over 48h soak test  |  ✅ 100% Offline Pump Decisions during simulated Wi-Fi outage  |  ✅ Power Draw: 82mA active / 15µA deep sleep  |  ✅ Sensor Precision: ±1.5% Volumetric Water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AgriSense Live Platform &amp; Hardware Test Log — https://agrisense-269.pages.dev | Commit 420fdac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SLIDE 07  |  TARGET USERS &amp; USE CASES</a:t>
            </a:r>
          </a:p>
          <a:p>
            <a:pPr>
              <a:spcBef>
                <a:spcPts val="300"/>
              </a:spcBef>
              <a:defRPr sz="1800" b="1">
                <a:solidFill>
                  <a:srgbClr val="FFFFFF"/>
                </a:solidFill>
                <a:latin typeface="Arial"/>
              </a:defRPr>
            </a:pPr>
            <a:r>
              <a:t>Multi-Stakeholder Agricultural Ecosystem &amp; User Segments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6766560" cy="512064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96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64373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🌾 5 CORE USER PERSONAS &amp; ECOSYSTEM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6309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A3E635"/>
                </a:solidFill>
                <a:latin typeface="Trebuchet MS"/>
              </a:defRPr>
            </a:pPr>
            <a:r>
              <a:t>1. Small &amp; Marginal Farmers (86.2% of Indian Holdings — 126M farmers)</a:t>
            </a:r>
          </a:p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Use case: Affordable automated drip irrigation and AI leaf pathology in Hindi/Punjabi/English. Protects family livelihoods and eliminates manual night pumping.</a:t>
            </a:r>
          </a:p>
          <a:p>
            <a:pPr>
              <a:defRPr sz="819">
                <a:solidFill>
                  <a:srgbClr val="F59E0B"/>
                </a:solidFill>
                <a:latin typeface="Arial"/>
              </a:defRPr>
            </a:pPr>
            <a:r>
              <a:t>Benefit: Saves 40% water, boosts yield by 30%, frees 3+ hours daily.</a:t>
            </a:r>
          </a:p>
          <a:p>
            <a:pPr>
              <a:spcBef>
                <a:spcPts val="500"/>
              </a:spcBef>
              <a:defRPr sz="1050" b="1">
                <a:solidFill>
                  <a:srgbClr val="A3E635"/>
                </a:solidFill>
                <a:latin typeface="Trebuchet MS"/>
              </a:defRPr>
            </a:pPr>
            <a:r>
              <a:t>2. Commercial Farms &amp; Greenhouse Growers (Polyhouses / Orchards)</a:t>
            </a:r>
          </a:p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Use case: Multi-zone solenoid valve control, fertigation scheduling, and microclimate telemetry.</a:t>
            </a:r>
          </a:p>
          <a:p>
            <a:pPr>
              <a:defRPr sz="819">
                <a:solidFill>
                  <a:srgbClr val="F59E0B"/>
                </a:solidFill>
                <a:latin typeface="Arial"/>
              </a:defRPr>
            </a:pPr>
            <a:r>
              <a:t>Benefit: Real-time sensor logs, automated dosing, high-value crop protection.</a:t>
            </a:r>
          </a:p>
          <a:p>
            <a:pPr>
              <a:spcBef>
                <a:spcPts val="500"/>
              </a:spcBef>
              <a:defRPr sz="1050" b="1">
                <a:solidFill>
                  <a:srgbClr val="A3E635"/>
                </a:solidFill>
                <a:latin typeface="Trebuchet MS"/>
              </a:defRPr>
            </a:pPr>
            <a:r>
              <a:t>3. Mandi Wholesalers &amp; Aggregators (Khanna / Ludhiana Mandis)</a:t>
            </a:r>
          </a:p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Use case: Pre-harvest yield forecasts and direct farmer purchase contracts without middlemen.</a:t>
            </a:r>
          </a:p>
          <a:p>
            <a:pPr>
              <a:defRPr sz="819">
                <a:solidFill>
                  <a:srgbClr val="F59E0B"/>
                </a:solidFill>
                <a:latin typeface="Arial"/>
              </a:defRPr>
            </a:pPr>
            <a:r>
              <a:t>Benefit: Fresh supply predictability, reduced spoilage, transparent pricing.</a:t>
            </a:r>
          </a:p>
          <a:p>
            <a:pPr>
              <a:spcBef>
                <a:spcPts val="500"/>
              </a:spcBef>
              <a:defRPr sz="1050" b="1">
                <a:solidFill>
                  <a:srgbClr val="A3E635"/>
                </a:solidFill>
                <a:latin typeface="Trebuchet MS"/>
              </a:defRPr>
            </a:pPr>
            <a:r>
              <a:t>4. Agri-Input Vendors &amp; Cooperatives (Kisan Seva Kendras)</a:t>
            </a:r>
          </a:p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Use case: Direct stocking of bio-fertilizers and drip spares matched to real-time regional soil deficits.</a:t>
            </a:r>
          </a:p>
          <a:p>
            <a:pPr>
              <a:defRPr sz="819">
                <a:solidFill>
                  <a:srgbClr val="F59E0B"/>
                </a:solidFill>
                <a:latin typeface="Arial"/>
              </a:defRPr>
            </a:pPr>
            <a:r>
              <a:t>Benefit: Higher inventory turnover, direct farmer advisory channel.</a:t>
            </a:r>
          </a:p>
        </p:txBody>
      </p:sp>
      <p:pic>
        <p:nvPicPr>
          <p:cNvPr id="6" name="Picture 5" descr="AgriSense_Pitch_Deck_Slide-7-image-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188720"/>
            <a:ext cx="4144975" cy="2468880"/>
          </a:xfrm>
          <a:prstGeom prst="rect">
            <a:avLst/>
          </a:prstGeom>
          <a:ln w="15240">
            <a:solidFill>
              <a:srgbClr val="296B50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498079" y="3794760"/>
            <a:ext cx="4144975" cy="251460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96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62671" y="3904488"/>
            <a:ext cx="381579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📊 ESTIMATED POTENTIAL &amp; IMPACT 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206240"/>
            <a:ext cx="3779215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19">
                <a:solidFill>
                  <a:srgbClr val="F1F5F9"/>
                </a:solidFill>
                <a:latin typeface="Arial"/>
              </a:defRPr>
            </a:pPr>
            <a:r>
              <a:t>• Phase 1 Pilot: 50 smallholders across Samrala &amp; Ludhiana (Punjab)</a:t>
            </a:r>
            <a:br/>
            <a:r>
              <a:t>• Phase 2 FPO Scale: 12 FPOs (~15,000 farmers) across Punjab &amp; Haryana</a:t>
            </a:r>
            <a:br/>
            <a:r>
              <a:t>• Phase 3 National TAM: 126 Million small &amp; marginal operational holdings</a:t>
            </a:r>
            <a:br/>
            <a:r>
              <a:t>• Global Reach: Sub-Saharan Africa &amp; South Asia smallholder climates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Ministry of Agriculture Census &amp; NABARD FPO Directory — https://agricoop.nic.in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SLIDE 08  |  IMPACT &amp; OUTCOMES</a:t>
            </a:r>
          </a:p>
          <a:p>
            <a:pPr>
              <a:spcBef>
                <a:spcPts val="300"/>
              </a:spcBef>
              <a:defRPr sz="1800" b="1">
                <a:solidFill>
                  <a:srgbClr val="FFFFFF"/>
                </a:solidFill>
                <a:latin typeface="Arial"/>
              </a:defRPr>
            </a:pPr>
            <a:r>
              <a:t>Quantified Resource Conservation, Farmer Prosperity &amp; UN SDGs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6766560" cy="114300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96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Trebuchet MS"/>
              </a:defRPr>
            </a:pPr>
            <a:r>
              <a:t>💧 30%–50% Freshwater Saved</a:t>
            </a:r>
          </a:p>
          <a:p>
            <a:pPr>
              <a:spcBef>
                <a:spcPts val="2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Replaces wasteful flood irrigation with root-zone micro-drip. Conserves up to 1.8M liters of water per hectare per tomato crop 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6766560" cy="114300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96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🌾 20%–38% Yield Increase</a:t>
            </a:r>
          </a:p>
          <a:p>
            <a:pPr>
              <a:spcBef>
                <a:spcPts val="2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Maintains optimal soil moisture and prevents plant moisture stress during critical flowering and fruiting cycles.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40"/>
            <a:ext cx="6766560" cy="114300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96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858768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Trebuchet MS"/>
              </a:defRPr>
            </a:pPr>
            <a:r>
              <a:t>⚡ 45% Pumping Power Saved</a:t>
            </a:r>
          </a:p>
          <a:p>
            <a:pPr>
              <a:spcBef>
                <a:spcPts val="2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Eliminates redundant pump runs. Reduces electricity &amp; diesel generator fuel expenditure by ₹8,500/year per farm.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6766560" cy="114300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96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Trebuchet MS"/>
              </a:defRPr>
            </a:pPr>
            <a:r>
              <a:t>💰 ₹24,000/Acre Profit Gain</a:t>
            </a:r>
          </a:p>
          <a:p>
            <a:pPr>
              <a:spcBef>
                <a:spcPts val="2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Net annual income rise through combined water savings, 25% lower chemical fertilizer application, and reduced crop blight losses.</a:t>
            </a:r>
          </a:p>
        </p:txBody>
      </p:sp>
      <p:pic>
        <p:nvPicPr>
          <p:cNvPr id="11" name="Picture 10" descr="AgriSense_Pitch_Deck_Slide-7-image-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188720"/>
            <a:ext cx="4144975" cy="2377440"/>
          </a:xfrm>
          <a:prstGeom prst="rect">
            <a:avLst/>
          </a:prstGeom>
          <a:ln w="15240">
            <a:solidFill>
              <a:srgbClr val="296B50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7498079" y="3703320"/>
            <a:ext cx="4144975" cy="260604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62671" y="3813048"/>
            <a:ext cx="381579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🌍 UNITED NATIONS SDG 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069080"/>
            <a:ext cx="3779215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880" b="1">
                <a:solidFill>
                  <a:srgbClr val="A3E635"/>
                </a:solidFill>
                <a:latin typeface="Arial"/>
              </a:defRPr>
            </a:pPr>
            <a:r>
              <a:t>• SDG 2: Zero Hunger (Target 2.3 &amp; 2.4)</a:t>
            </a:r>
          </a:p>
          <a:p>
            <a:pPr>
              <a:defRPr sz="800">
                <a:solidFill>
                  <a:srgbClr val="9CAFA5"/>
                </a:solidFill>
                <a:latin typeface="Arial"/>
              </a:defRPr>
            </a:pPr>
            <a:r>
              <a:t>   Doubles agricultural productivity and ensures sustainable food production systems.</a:t>
            </a:r>
          </a:p>
          <a:p>
            <a:pPr>
              <a:spcBef>
                <a:spcPts val="300"/>
              </a:spcBef>
              <a:defRPr sz="880" b="1">
                <a:solidFill>
                  <a:srgbClr val="A3E635"/>
                </a:solidFill>
                <a:latin typeface="Arial"/>
              </a:defRPr>
            </a:pPr>
            <a:r>
              <a:t>• SDG 6: Clean Water &amp; Sanitation (Target 6.4)</a:t>
            </a:r>
          </a:p>
          <a:p>
            <a:pPr>
              <a:defRPr sz="800">
                <a:solidFill>
                  <a:srgbClr val="9CAFA5"/>
                </a:solidFill>
                <a:latin typeface="Arial"/>
              </a:defRPr>
            </a:pPr>
            <a:r>
              <a:t>   Substantially increases water-use efficiency across the agricultural sector.</a:t>
            </a:r>
          </a:p>
          <a:p>
            <a:pPr>
              <a:spcBef>
                <a:spcPts val="300"/>
              </a:spcBef>
              <a:defRPr sz="880" b="1">
                <a:solidFill>
                  <a:srgbClr val="A3E635"/>
                </a:solidFill>
                <a:latin typeface="Arial"/>
              </a:defRPr>
            </a:pPr>
            <a:r>
              <a:t>• SDG 12: Responsible Consumption (Target 12.2)</a:t>
            </a:r>
          </a:p>
          <a:p>
            <a:pPr>
              <a:defRPr sz="800">
                <a:solidFill>
                  <a:srgbClr val="9CAFA5"/>
                </a:solidFill>
                <a:latin typeface="Arial"/>
              </a:defRPr>
            </a:pPr>
            <a:r>
              <a:t>   Achieves sustainable management and efficient use of soil nutrients &amp; water.</a:t>
            </a:r>
          </a:p>
          <a:p>
            <a:pPr>
              <a:spcBef>
                <a:spcPts val="300"/>
              </a:spcBef>
              <a:defRPr sz="880" b="1">
                <a:solidFill>
                  <a:srgbClr val="A3E635"/>
                </a:solidFill>
                <a:latin typeface="Arial"/>
              </a:defRPr>
            </a:pPr>
            <a:r>
              <a:t>• SDG 13: Climate Action (Target 13.1)</a:t>
            </a:r>
          </a:p>
          <a:p>
            <a:pPr>
              <a:defRPr sz="800">
                <a:solidFill>
                  <a:srgbClr val="9CAFA5"/>
                </a:solidFill>
                <a:latin typeface="Arial"/>
              </a:defRPr>
            </a:pPr>
            <a:r>
              <a:t>   Strengthens resilience and adaptive capacity to climate hazards and drought.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United Nations Sustainable Development Goals Knowledge Platform — https://sdgs.un.org/goals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SLIDE 09  |  BUSINESS MODEL &amp; IMPLEMENTATION</a:t>
            </a:r>
          </a:p>
          <a:p>
            <a:pPr>
              <a:spcBef>
                <a:spcPts val="300"/>
              </a:spcBef>
              <a:defRPr sz="1800" b="1">
                <a:solidFill>
                  <a:srgbClr val="FFFFFF"/>
                </a:solidFill>
                <a:latin typeface="Arial"/>
              </a:defRPr>
            </a:pPr>
            <a:r>
              <a:t>Unit Economics, Hardware BOM &amp; Phased Deployment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94960" cy="512064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96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50657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💰 PRICING &amp; HARDWARE BOM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49377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950" b="0">
                <a:solidFill>
                  <a:srgbClr val="F1F5F9"/>
                </a:solidFill>
                <a:latin typeface="Arial"/>
              </a:defRPr>
            </a:pPr>
            <a:r>
              <a:t>• ESP32 DevKit V1 Microcontroller: ₹380 ($4.60)</a:t>
            </a:r>
          </a:p>
          <a:p>
            <a:pPr>
              <a:spcBef>
                <a:spcPts val="400"/>
              </a:spcBef>
              <a:defRPr sz="950" b="0">
                <a:solidFill>
                  <a:srgbClr val="F1F5F9"/>
                </a:solidFill>
                <a:latin typeface="Arial"/>
              </a:defRPr>
            </a:pPr>
            <a:r>
              <a:t>• Capacitive Soil Moisture Sensor v2.0: ₹120 ($1.45)</a:t>
            </a:r>
          </a:p>
          <a:p>
            <a:pPr>
              <a:spcBef>
                <a:spcPts val="400"/>
              </a:spcBef>
              <a:defRPr sz="950" b="0">
                <a:solidFill>
                  <a:srgbClr val="F1F5F9"/>
                </a:solidFill>
                <a:latin typeface="Arial"/>
              </a:defRPr>
            </a:pPr>
            <a:r>
              <a:t>• DHT22 Air Temperature &amp; Humidity Sensor: ₹180 ($2.15)</a:t>
            </a:r>
          </a:p>
          <a:p>
            <a:pPr>
              <a:spcBef>
                <a:spcPts val="400"/>
              </a:spcBef>
              <a:defRPr sz="950" b="0">
                <a:solidFill>
                  <a:srgbClr val="F1F5F9"/>
                </a:solidFill>
                <a:latin typeface="Arial"/>
              </a:defRPr>
            </a:pPr>
            <a:r>
              <a:t>• 5V Dual-Channel Optocoupled Relay Module: ₹95 ($1.15)</a:t>
            </a:r>
          </a:p>
          <a:p>
            <a:pPr>
              <a:spcBef>
                <a:spcPts val="400"/>
              </a:spcBef>
              <a:defRPr sz="950" b="0">
                <a:solidFill>
                  <a:srgbClr val="F1F5F9"/>
                </a:solidFill>
                <a:latin typeface="Arial"/>
              </a:defRPr>
            </a:pPr>
            <a:r>
              <a:t>• IP65 Weatherproof Enclosure + Connectors: ₹140 ($1.70)</a:t>
            </a:r>
          </a:p>
          <a:p>
            <a:pPr>
              <a:spcBef>
                <a:spcPts val="400"/>
              </a:spcBef>
              <a:defRPr sz="950" b="0">
                <a:solidFill>
                  <a:srgbClr val="F1F5F9"/>
                </a:solidFill>
                <a:latin typeface="Arial"/>
              </a:defRPr>
            </a:pPr>
            <a:r>
              <a:t>• 5V 2A Power Adapter / Solar Battery Circuit: ₹160 ($1.90)</a:t>
            </a:r>
          </a:p>
          <a:p>
            <a:pPr>
              <a:spcBef>
                <a:spcPts val="400"/>
              </a:spcBef>
              <a:defRPr sz="950" b="1">
                <a:solidFill>
                  <a:srgbClr val="A3E635"/>
                </a:solidFill>
                <a:latin typeface="Arial"/>
              </a:defRPr>
            </a:pPr>
            <a:r>
              <a:t>• TOTAL OPEN HARDWARE BOM COST: ₹1,075 ($12.95 USD)</a:t>
            </a:r>
          </a:p>
          <a:p>
            <a:br/>
            <a:pPr>
              <a:defRPr sz="1050" b="1">
                <a:solidFill>
                  <a:srgbClr val="F59E0B"/>
                </a:solidFill>
                <a:latin typeface="Trebuchet MS"/>
              </a:defRPr>
            </a:pPr>
            <a:r>
              <a:t>REVENUE MODEL &amp; SUSTAINABILITY:</a:t>
            </a:r>
          </a:p>
          <a:p>
            <a:pPr>
              <a:defRPr sz="880">
                <a:solidFill>
                  <a:srgbClr val="F1F5F9"/>
                </a:solidFill>
                <a:latin typeface="Arial"/>
              </a:defRPr>
            </a:pPr>
            <a:r>
              <a:t>• Basic Tier: 100% Free Software &amp; Open-Source Firmware for all smallholders</a:t>
            </a:r>
            <a:br/>
            <a:r>
              <a:t>• FPO Enterprise Tier: ₹4,500/year per cooperative for centralized telemetry &amp; aggregate mandi dispatch</a:t>
            </a:r>
            <a:br/>
            <a:r>
              <a:t>• Hardware Assembly: Pre-calibrated plug-and-play kits distributed via local Kisan Kendras with 15% margin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25135" cy="512064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298448"/>
            <a:ext cx="509595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🗺️ 4-PHASE IMPLEMENTATION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9834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019" b="1">
                <a:solidFill>
                  <a:srgbClr val="A3E635"/>
                </a:solidFill>
                <a:latin typeface="Trebuchet MS"/>
              </a:defRPr>
            </a:pPr>
            <a:r>
              <a:t>Phase 1: Lab Bench Validation (Months 1–3) [COMPLETED]</a:t>
            </a:r>
          </a:p>
          <a:p>
            <a:pPr>
              <a:spcBef>
                <a:spcPts val="2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48-hour continuous run, sensor calibration, PWA cloud architecture, and multimodal vision prototype verification.</a:t>
            </a:r>
          </a:p>
          <a:p>
            <a:pPr>
              <a:spcBef>
                <a:spcPts val="600"/>
              </a:spcBef>
              <a:defRPr sz="1019" b="1">
                <a:solidFill>
                  <a:srgbClr val="F59E0B"/>
                </a:solidFill>
                <a:latin typeface="Trebuchet MS"/>
              </a:defRPr>
            </a:pPr>
            <a:r>
              <a:t>Phase 2: Samrala Village Pilot (Months 4–7) [IN PROGRESS]</a:t>
            </a:r>
          </a:p>
          <a:p>
            <a:pPr>
              <a:spcBef>
                <a:spcPts val="2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Deployment of 50 field nodes across Ludhiana vegetable and wheat plots in collaboration with local FPOs and Krishi Vigyan Kendra (KVK).</a:t>
            </a:r>
          </a:p>
          <a:p>
            <a:pPr>
              <a:spcBef>
                <a:spcPts val="600"/>
              </a:spcBef>
              <a:defRPr sz="1019" b="1">
                <a:solidFill>
                  <a:srgbClr val="F59E0B"/>
                </a:solidFill>
                <a:latin typeface="Trebuchet MS"/>
              </a:defRPr>
            </a:pPr>
            <a:r>
              <a:t>Phase 3: FPO &amp; Mandi Aggregation (Months 8–14)</a:t>
            </a:r>
          </a:p>
          <a:p>
            <a:pPr>
              <a:spcBef>
                <a:spcPts val="2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Integration of mandi trader portal, automated transport booking, and solar-powered LoRa mesh nodes for off-grid farms.</a:t>
            </a:r>
          </a:p>
          <a:p>
            <a:pPr>
              <a:spcBef>
                <a:spcPts val="600"/>
              </a:spcBef>
              <a:defRPr sz="1019" b="1">
                <a:solidFill>
                  <a:srgbClr val="F59E0B"/>
                </a:solidFill>
                <a:latin typeface="Trebuchet MS"/>
              </a:defRPr>
            </a:pPr>
            <a:r>
              <a:t>Phase 4: State &amp; National Scaling (Months 15–24)</a:t>
            </a:r>
          </a:p>
          <a:p>
            <a:pPr>
              <a:spcBef>
                <a:spcPts val="2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Partnership with Digital Agriculture Mission and PMKSY micro-irrigation subsidy framework for pan-India 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Ministry of Electronics &amp; IT Hardware Sourcing &amp; PMKSY Subsidy Guidelines — https://pmksy.gov.in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SLIDE 10  |  FEASIBILITY &amp; SCALABILITY</a:t>
            </a:r>
          </a:p>
          <a:p>
            <a:pPr>
              <a:spcBef>
                <a:spcPts val="300"/>
              </a:spcBef>
              <a:defRPr sz="1800" b="1">
                <a:solidFill>
                  <a:srgbClr val="FFFFFF"/>
                </a:solidFill>
                <a:latin typeface="Arial"/>
              </a:defRPr>
            </a:pPr>
            <a:r>
              <a:t>Technical Feasibility, Risk Mitigation &amp; Hierarchical Scaling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6400800" cy="512064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96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6071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🛡️ RISK MANAGEMENT &amp; TECHNICAL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59436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F59E0B"/>
                </a:solidFill>
                <a:latin typeface="Trebuchet MS"/>
              </a:defRPr>
            </a:pPr>
            <a:r>
              <a:t>Risk: Rural Wi-Fi Outages &amp; Zero Cellular Signal</a:t>
            </a:r>
          </a:p>
          <a:p>
            <a:pPr>
              <a:spcBef>
                <a:spcPts val="2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Mitigation: 100% autonomous edge fallback. All irrigation thresholds execute directly in ESP32 Flash memory without cloud packets. Telemetry syncs retrospectively upon reconnection.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  <a:latin typeface="Trebuchet MS"/>
              </a:defRPr>
            </a:pPr>
            <a:r>
              <a:t>Risk: Sensor Corrosion &amp; Probe Degradation</a:t>
            </a:r>
          </a:p>
          <a:p>
            <a:pPr>
              <a:spcBef>
                <a:spcPts val="2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Mitigation: 100% capacitive sensors (dielectric measurement) with conformal PCB coating. Probes operate without copper exposure, lasting 3+ years in corrosive soils.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  <a:latin typeface="Trebuchet MS"/>
              </a:defRPr>
            </a:pPr>
            <a:r>
              <a:t>Risk: Power Surges &amp; High Voltage Fluctuations</a:t>
            </a:r>
          </a:p>
          <a:p>
            <a:pPr>
              <a:spcBef>
                <a:spcPts val="2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Mitigation: Optocoupler isolation on all relay triggers (5,000V RMS dielectric breakdown protection) and integrated MOV surge suppressors.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  <a:latin typeface="Trebuchet MS"/>
              </a:defRPr>
            </a:pPr>
            <a:r>
              <a:t>Risk: Farmer Digital Literacy &amp; Language Barrier</a:t>
            </a:r>
          </a:p>
          <a:p>
            <a:pPr>
              <a:spcBef>
                <a:spcPts val="2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Mitigation: Zero-typing multilingual voice UI and visual color status badges (Green = Good, Red = Low Moisture) designed for all age groups.</a:t>
            </a:r>
          </a:p>
        </p:txBody>
      </p:sp>
      <p:pic>
        <p:nvPicPr>
          <p:cNvPr id="6" name="Picture 5" descr="AgriSense_Pitch_Deck_Slide-7-image-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188720"/>
            <a:ext cx="4510735" cy="2468880"/>
          </a:xfrm>
          <a:prstGeom prst="rect">
            <a:avLst/>
          </a:prstGeom>
          <a:ln w="15240">
            <a:solidFill>
              <a:srgbClr val="296B50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132320" y="3794760"/>
            <a:ext cx="4510735" cy="251460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96912" y="3904488"/>
            <a:ext cx="418155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🚀 HIERARCHICAL SCALING FUNNEL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160520"/>
            <a:ext cx="414497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919">
                <a:solidFill>
                  <a:srgbClr val="F1F5F9"/>
                </a:solidFill>
                <a:latin typeface="Arial"/>
              </a:defRPr>
            </a:pPr>
            <a:r>
              <a:t>• 1. Single Farm (1 Node): Validated bench &amp; pilot test in Ludhiana</a:t>
            </a:r>
          </a:p>
          <a:p>
            <a:pPr>
              <a:spcBef>
                <a:spcPts val="400"/>
              </a:spcBef>
              <a:defRPr sz="919">
                <a:solidFill>
                  <a:srgbClr val="F1F5F9"/>
                </a:solidFill>
                <a:latin typeface="Arial"/>
              </a:defRPr>
            </a:pPr>
            <a:r>
              <a:t>• 2. Village FPO (50–200 Nodes): Cluster deployment in Samrala cooperative</a:t>
            </a:r>
          </a:p>
          <a:p>
            <a:pPr>
              <a:spcBef>
                <a:spcPts val="400"/>
              </a:spcBef>
              <a:defRPr sz="919">
                <a:solidFill>
                  <a:srgbClr val="F1F5F9"/>
                </a:solidFill>
                <a:latin typeface="Arial"/>
              </a:defRPr>
            </a:pPr>
            <a:r>
              <a:t>• 3. District/State (5,000+ Nodes): PAU Agronomy &amp; State Agriculture Dept integration</a:t>
            </a:r>
          </a:p>
          <a:p>
            <a:pPr>
              <a:spcBef>
                <a:spcPts val="400"/>
              </a:spcBef>
              <a:defRPr sz="919">
                <a:solidFill>
                  <a:srgbClr val="F1F5F9"/>
                </a:solidFill>
                <a:latin typeface="Arial"/>
              </a:defRPr>
            </a:pPr>
            <a:r>
              <a:t>• 4. National AgriStack (Pan-India): Direct open API connection to GoI Kisan Drones &amp; Digital Agriculture 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Digital Agriculture Mission 2024–25 &amp; PM-KISAN Technical Architecture — https://digitalagri.gov.in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SLIDE 11  |  COMPETITIVE ADVANTAGE</a:t>
            </a:r>
          </a:p>
          <a:p>
            <a:pPr>
              <a:spcBef>
                <a:spcPts val="300"/>
              </a:spcBef>
              <a:defRPr sz="1800" b="1">
                <a:solidFill>
                  <a:srgbClr val="FFFFFF"/>
                </a:solidFill>
                <a:latin typeface="Arial"/>
              </a:defRPr>
            </a:pPr>
            <a:r>
              <a:t>Unique Selling Proposition &amp; Comprehensive Benchmark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4415" cy="384048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96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107652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🏆 FEATURE &amp; COST BENCHMARK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0020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175"/>
                <a:gridCol w="2103120"/>
                <a:gridCol w="2103120"/>
                <a:gridCol w="2103120"/>
                <a:gridCol w="2103120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Feature / Metric</a:t>
                      </a:r>
                    </a:p>
                  </a:txBody>
                  <a:tcPr>
                    <a:solidFill>
                      <a:srgbClr val="193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3E635"/>
                          </a:solidFill>
                          <a:latin typeface="Trebuchet MS"/>
                        </a:defRPr>
                      </a:pPr>
                      <a:r>
                        <a:t>AgriSense (Ours)</a:t>
                      </a:r>
                    </a:p>
                  </a:txBody>
                  <a:tcPr>
                    <a:solidFill>
                      <a:srgbClr val="193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Commercial Fasal</a:t>
                      </a:r>
                    </a:p>
                  </a:txBody>
                  <a:tcPr>
                    <a:solidFill>
                      <a:srgbClr val="193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CropIn Cloud</a:t>
                      </a:r>
                    </a:p>
                  </a:txBody>
                  <a:tcPr>
                    <a:solidFill>
                      <a:srgbClr val="193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Manual Flood</a:t>
                      </a:r>
                    </a:p>
                  </a:txBody>
                  <a:tcPr>
                    <a:solidFill>
                      <a:srgbClr val="193C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Hardware Cost</a:t>
                      </a:r>
                    </a:p>
                  </a:txBody>
                  <a:tcPr>
                    <a:solidFill>
                      <a:srgbClr val="0E2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A3E635"/>
                          </a:solidFill>
                          <a:latin typeface="Arial"/>
                        </a:defRPr>
                      </a:pPr>
                      <a:r>
                        <a:t>Under ₹1,000 ($12)</a:t>
                      </a:r>
                    </a:p>
                  </a:txBody>
                  <a:tcPr>
                    <a:solidFill>
                      <a:srgbClr val="0E2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₹45,000–₹85,000</a:t>
                      </a:r>
                    </a:p>
                  </a:txBody>
                  <a:tcPr>
                    <a:solidFill>
                      <a:srgbClr val="0E2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₹1,20,000+ setup</a:t>
                      </a:r>
                    </a:p>
                  </a:txBody>
                  <a:tcPr>
                    <a:solidFill>
                      <a:srgbClr val="0E2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₹0 direct</a:t>
                      </a:r>
                    </a:p>
                  </a:txBody>
                  <a:tcPr>
                    <a:solidFill>
                      <a:srgbClr val="0E201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Subscription Fee</a:t>
                      </a:r>
                    </a:p>
                  </a:txBody>
                  <a:tcPr>
                    <a:solidFill>
                      <a:srgbClr val="11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A3E635"/>
                          </a:solidFill>
                          <a:latin typeface="Arial"/>
                        </a:defRPr>
                      </a:pPr>
                      <a:r>
                        <a:t>₹0 (Free / Open)</a:t>
                      </a:r>
                    </a:p>
                  </a:txBody>
                  <a:tcPr>
                    <a:solidFill>
                      <a:srgbClr val="11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₹1,200 / month</a:t>
                      </a:r>
                    </a:p>
                  </a:txBody>
                  <a:tcPr>
                    <a:solidFill>
                      <a:srgbClr val="11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Enterprise contract</a:t>
                      </a:r>
                    </a:p>
                  </a:txBody>
                  <a:tcPr>
                    <a:solidFill>
                      <a:srgbClr val="11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₹0</a:t>
                      </a:r>
                    </a:p>
                  </a:txBody>
                  <a:tcPr>
                    <a:solidFill>
                      <a:srgbClr val="1126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Offline Autonomy</a:t>
                      </a:r>
                    </a:p>
                  </a:txBody>
                  <a:tcPr>
                    <a:solidFill>
                      <a:srgbClr val="0E2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A3E635"/>
                          </a:solidFill>
                          <a:latin typeface="Arial"/>
                        </a:defRPr>
                      </a:pPr>
                      <a:r>
                        <a:t>✅ 100% FreeRTOS Edge</a:t>
                      </a:r>
                    </a:p>
                  </a:txBody>
                  <a:tcPr>
                    <a:solidFill>
                      <a:srgbClr val="0E2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❌ Cloud Dependent</a:t>
                      </a:r>
                    </a:p>
                  </a:txBody>
                  <a:tcPr>
                    <a:solidFill>
                      <a:srgbClr val="0E2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❌ Cloud Dependent</a:t>
                      </a:r>
                    </a:p>
                  </a:txBody>
                  <a:tcPr>
                    <a:solidFill>
                      <a:srgbClr val="0E2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Manual Valve</a:t>
                      </a:r>
                    </a:p>
                  </a:txBody>
                  <a:tcPr>
                    <a:solidFill>
                      <a:srgbClr val="0E201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AI Leaf Diagnosis</a:t>
                      </a:r>
                    </a:p>
                  </a:txBody>
                  <a:tcPr>
                    <a:solidFill>
                      <a:srgbClr val="11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A3E635"/>
                          </a:solidFill>
                          <a:latin typeface="Arial"/>
                        </a:defRPr>
                      </a:pPr>
                      <a:r>
                        <a:t>✅ Multimodal Vision &lt;1.8s</a:t>
                      </a:r>
                    </a:p>
                  </a:txBody>
                  <a:tcPr>
                    <a:solidFill>
                      <a:srgbClr val="11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❌ Sensor Telemetry Only</a:t>
                      </a:r>
                    </a:p>
                  </a:txBody>
                  <a:tcPr>
                    <a:solidFill>
                      <a:srgbClr val="11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⚠️ Satellite / Batch</a:t>
                      </a:r>
                    </a:p>
                  </a:txBody>
                  <a:tcPr>
                    <a:solidFill>
                      <a:srgbClr val="11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126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Sensor Longevity</a:t>
                      </a:r>
                    </a:p>
                  </a:txBody>
                  <a:tcPr>
                    <a:solidFill>
                      <a:srgbClr val="0E2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A3E635"/>
                          </a:solidFill>
                          <a:latin typeface="Arial"/>
                        </a:defRPr>
                      </a:pPr>
                      <a:r>
                        <a:t>✅ Capacitive (3+ Yrs)</a:t>
                      </a:r>
                    </a:p>
                  </a:txBody>
                  <a:tcPr>
                    <a:solidFill>
                      <a:srgbClr val="0E2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✅ Industrial Probe</a:t>
                      </a:r>
                    </a:p>
                  </a:txBody>
                  <a:tcPr>
                    <a:solidFill>
                      <a:srgbClr val="0E2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N/A (Satellite)</a:t>
                      </a:r>
                    </a:p>
                  </a:txBody>
                  <a:tcPr>
                    <a:solidFill>
                      <a:srgbClr val="0E2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❌ Resistive Leaching</a:t>
                      </a:r>
                    </a:p>
                  </a:txBody>
                  <a:tcPr>
                    <a:solidFill>
                      <a:srgbClr val="0E201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166360"/>
            <a:ext cx="11094415" cy="114300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276088"/>
            <a:ext cx="107652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⭐ THE AGRISENSE USP TRIPLE ADVANTAGE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F1F5F9"/>
                </a:solidFill>
                <a:latin typeface="Arial"/>
              </a:defRPr>
            </a:pPr>
            <a:r>
              <a:t>1. Unbeatable Affordability: 95% cheaper than commercial SCADA setups, opening precision tech to smallholders.</a:t>
            </a:r>
            <a:br/>
            <a:r>
              <a:t>2. Zero Connectivity Dependency: Field nodes execute pump decisions 100% locally even during total cellular blackout.</a:t>
            </a:r>
            <a:br/>
            <a:r>
              <a:t>3. Multimodal Edge + AI Intelligence: Merges capacitive soil telemetry with instant camera leaf diagnosis in native languages.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Commercial AgTech Pricing Benchmarks &amp; Competitor Specifications — https://fasal.co | https://cropin.com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4415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SLIDE 12  |  TEAM &amp; VISION</a:t>
            </a:r>
          </a:p>
          <a:p>
            <a:pPr>
              <a:spcBef>
                <a:spcPts val="300"/>
              </a:spcBef>
              <a:defRPr sz="1800" b="1">
                <a:solidFill>
                  <a:srgbClr val="FFFFFF"/>
                </a:solidFill>
                <a:latin typeface="Arial"/>
              </a:defRPr>
            </a:pPr>
            <a:r>
              <a:t>Bal Bharati Public School Innovation Team, Mentor &amp; Future Horizons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4415" cy="246888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107652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👥 INNOVATION TEAM MEMBERS &amp;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2066543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Pranav Saxena</a:t>
            </a:r>
          </a:p>
          <a:p>
            <a:pPr>
              <a:spcBef>
                <a:spcPts val="200"/>
              </a:spcBef>
              <a:defRPr sz="850" b="1">
                <a:solidFill>
                  <a:srgbClr val="F59E0B"/>
                </a:solidFill>
                <a:latin typeface="Arial"/>
              </a:defRPr>
            </a:pPr>
            <a:r>
              <a:t>Lead Developer &amp; Architect</a:t>
            </a:r>
          </a:p>
          <a:p>
            <a:pPr>
              <a:spcBef>
                <a:spcPts val="300"/>
              </a:spcBef>
              <a:defRPr sz="780">
                <a:solidFill>
                  <a:srgbClr val="9CAFA5"/>
                </a:solidFill>
                <a:latin typeface="Arial"/>
              </a:defRPr>
            </a:pPr>
            <a:r>
              <a:t>ESP32 C++ firmware, FastAPI backend, cloud database sync &amp;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600200"/>
            <a:ext cx="2066543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Hiyasha Deviyal</a:t>
            </a:r>
          </a:p>
          <a:p>
            <a:pPr>
              <a:spcBef>
                <a:spcPts val="200"/>
              </a:spcBef>
              <a:defRPr sz="850" b="1">
                <a:solidFill>
                  <a:srgbClr val="F59E0B"/>
                </a:solidFill>
                <a:latin typeface="Arial"/>
              </a:defRPr>
            </a:pPr>
            <a:r>
              <a:t>Agronomy &amp; UI/UX Research</a:t>
            </a:r>
          </a:p>
          <a:p>
            <a:pPr>
              <a:spcBef>
                <a:spcPts val="300"/>
              </a:spcBef>
              <a:defRPr sz="780">
                <a:solidFill>
                  <a:srgbClr val="9CAFA5"/>
                </a:solidFill>
                <a:latin typeface="Arial"/>
              </a:defRPr>
            </a:pPr>
            <a:r>
              <a:t>Soil moisture thresholds, farmer user-journey, accessibility design &amp; UX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600200"/>
            <a:ext cx="2066543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Chaitanya Vashisht</a:t>
            </a:r>
          </a:p>
          <a:p>
            <a:pPr>
              <a:spcBef>
                <a:spcPts val="200"/>
              </a:spcBef>
              <a:defRPr sz="850" b="1">
                <a:solidFill>
                  <a:srgbClr val="F59E0B"/>
                </a:solidFill>
                <a:latin typeface="Arial"/>
              </a:defRPr>
            </a:pPr>
            <a:r>
              <a:t>IoT Hardware &amp; Field Bench</a:t>
            </a:r>
          </a:p>
          <a:p>
            <a:pPr>
              <a:spcBef>
                <a:spcPts val="300"/>
              </a:spcBef>
              <a:defRPr sz="780">
                <a:solidFill>
                  <a:srgbClr val="9CAFA5"/>
                </a:solidFill>
                <a:latin typeface="Arial"/>
              </a:defRPr>
            </a:pPr>
            <a:r>
              <a:t>Dual relay circuitry, sensor calibration, breadboard assembly &amp; bench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600200"/>
            <a:ext cx="2066543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Kairavi Patel</a:t>
            </a:r>
          </a:p>
          <a:p>
            <a:pPr>
              <a:spcBef>
                <a:spcPts val="200"/>
              </a:spcBef>
              <a:defRPr sz="850" b="1">
                <a:solidFill>
                  <a:srgbClr val="F59E0B"/>
                </a:solidFill>
                <a:latin typeface="Arial"/>
              </a:defRPr>
            </a:pPr>
            <a:r>
              <a:t>Frontend &amp; Multilingual Voice</a:t>
            </a:r>
          </a:p>
          <a:p>
            <a:pPr>
              <a:spcBef>
                <a:spcPts val="300"/>
              </a:spcBef>
              <a:defRPr sz="780">
                <a:solidFill>
                  <a:srgbClr val="9CAFA5"/>
                </a:solidFill>
                <a:latin typeface="Arial"/>
              </a:defRPr>
            </a:pPr>
            <a:r>
              <a:t>Web interface, multilingual translation engine &amp; native voice synthesizer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1600200"/>
            <a:ext cx="2066543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Eekansh Patni</a:t>
            </a:r>
          </a:p>
          <a:p>
            <a:pPr>
              <a:spcBef>
                <a:spcPts val="200"/>
              </a:spcBef>
              <a:defRPr sz="850" b="1">
                <a:solidFill>
                  <a:srgbClr val="F59E0B"/>
                </a:solidFill>
                <a:latin typeface="Arial"/>
              </a:defRPr>
            </a:pPr>
            <a:r>
              <a:t>Data Analytics &amp; Reliability</a:t>
            </a:r>
          </a:p>
          <a:p>
            <a:pPr>
              <a:spcBef>
                <a:spcPts val="300"/>
              </a:spcBef>
              <a:defRPr sz="780">
                <a:solidFill>
                  <a:srgbClr val="9CAFA5"/>
                </a:solidFill>
                <a:latin typeface="Arial"/>
              </a:defRPr>
            </a:pPr>
            <a:r>
              <a:t>Telemetry analysis, soak-test benchmarking &amp; crop stress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94760"/>
            <a:ext cx="5394960" cy="251460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96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904488"/>
            <a:ext cx="50657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🎯 MENTORSHIP &amp; ACKNOWLEDGEMENTS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60520"/>
            <a:ext cx="50292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• Institution: Bal Bharati Public School — Atal Tinkering Lab &amp; Innovation Cell</a:t>
            </a:r>
          </a:p>
          <a:p>
            <a:pPr>
              <a:spcBef>
                <a:spcPts val="4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• Faculty Mentor: Ms. Deepika Dutt — Continuous guidance on engineering methodology, structural rigor &amp; project mentorship</a:t>
            </a:r>
          </a:p>
          <a:p>
            <a:pPr>
              <a:spcBef>
                <a:spcPts val="4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• External Advisers: Punjab Agricultural University (PAU) Agronomy Extension &amp; Local Samrala Farmers Cooperative</a:t>
            </a:r>
          </a:p>
          <a:p>
            <a:pPr>
              <a:spcBef>
                <a:spcPts val="4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• Dedication: Dedicated to India's 126 million smallholder farmers fighting climate volatility and water scarcity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94760"/>
            <a:ext cx="5425135" cy="2514600"/>
          </a:xfrm>
          <a:prstGeom prst="roundRect">
            <a:avLst/>
          </a:prstGeom>
          <a:solidFill>
            <a:srgbClr val="112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3904488"/>
            <a:ext cx="509595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Trebuchet MS"/>
              </a:defRPr>
            </a:pPr>
            <a:r>
              <a:t>🚀 FUTURE VISION &amp; CALL TO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160520"/>
            <a:ext cx="4983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• 1. LoRa Mesh Farm Grid: 10km range multi-hop sensor telemetry without cellular towers</a:t>
            </a:r>
          </a:p>
          <a:p>
            <a:pPr>
              <a:spcBef>
                <a:spcPts val="3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• 2. Autonomous Drone NDVI: Automated aerial multispectral mapping integrated into AgriSense</a:t>
            </a:r>
          </a:p>
          <a:p>
            <a:pPr>
              <a:spcBef>
                <a:spcPts val="3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• 3. Satellite SAR Radar Moisture: Combining ESA Sentinel-1 radar with in-situ ESP32 data</a:t>
            </a:r>
          </a:p>
          <a:p>
            <a:pPr>
              <a:spcBef>
                <a:spcPts val="300"/>
              </a:spcBef>
              <a:defRPr sz="880">
                <a:solidFill>
                  <a:srgbClr val="A3E635"/>
                </a:solidFill>
                <a:latin typeface="Arial"/>
              </a:defRPr>
            </a:pPr>
            <a:r>
              <a:t>• Call to Action: Join us in scaling AgriSense across India's Krishi Vigyan Kendras to make precision agriculture a universal farmer right.</a:t>
            </a:r>
          </a:p>
          <a:p>
            <a:pPr>
              <a:spcBef>
                <a:spcPts val="300"/>
              </a:spcBef>
              <a:defRPr sz="880">
                <a:solidFill>
                  <a:srgbClr val="F1F5F9"/>
                </a:solidFill>
                <a:latin typeface="Arial"/>
              </a:defRPr>
            </a:pPr>
            <a:r>
              <a:t>• Contact: Pranav Saxena (pranavsaxenaofficial11@gmail.com) | agrisense-269.pages.dev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Bal Bharati Public School — AgriSense Project Archive — https://agrisense-269.pages.dev | github.com/pranavsaxenaofficial11-coder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