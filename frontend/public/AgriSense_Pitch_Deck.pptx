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548640"/>
            <a:ext cx="6858000" cy="27432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713232"/>
            <a:ext cx="6400800" cy="2423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3000" b="1">
                <a:solidFill>
                  <a:srgbClr val="059669"/>
                </a:solidFill>
                <a:latin typeface="Segoe UI"/>
              </a:defRPr>
            </a:pPr>
            <a:r>
              <a:t>🌱 AGRISENSE</a:t>
            </a:r>
          </a:p>
          <a:p>
            <a:pPr>
              <a:spcBef>
                <a:spcPts val="400"/>
              </a:spcBef>
              <a:defRPr sz="1350" b="1">
                <a:solidFill>
                  <a:srgbClr val="0F172A"/>
                </a:solidFill>
                <a:latin typeface="Segoe UI"/>
              </a:defRPr>
            </a:pPr>
            <a:r>
              <a:t>Edge-IoT &amp; Soil Physics Automated Precision Farming System</a:t>
            </a:r>
          </a:p>
          <a:p>
            <a:pPr>
              <a:spcBef>
                <a:spcPts val="400"/>
              </a:spcBef>
              <a:defRPr sz="950">
                <a:solidFill>
                  <a:srgbClr val="64748B"/>
                </a:solidFill>
                <a:latin typeface="Segoe UI"/>
              </a:defRPr>
            </a:pPr>
            <a:r>
              <a:t>An open-hardware automated irrigation, microclimate diagnostics, and crop monitoring solution engineered specifically for smallholder and marginal farming communities.</a:t>
            </a:r>
          </a:p>
          <a:p>
            <a:pPr>
              <a:spcBef>
                <a:spcPts val="800"/>
              </a:spcBef>
              <a:defRPr sz="950" b="1">
                <a:solidFill>
                  <a:srgbClr val="047857"/>
                </a:solidFill>
                <a:latin typeface="Segoe UI"/>
              </a:defRPr>
            </a:pPr>
            <a:r>
              <a:t>✓ ₹1,640 Node BOM   •   ✓ 30-50% Water Savings   •   ✓ Sub-90 Day Payback   •   ✓ Web Serial Browser Sync</a:t>
            </a:r>
          </a:p>
        </p:txBody>
      </p:sp>
      <p:pic>
        <p:nvPicPr>
          <p:cNvPr id="4" name="Picture 3" descr="ai_deck_slide_1_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548640"/>
            <a:ext cx="4053535" cy="2743200"/>
          </a:xfrm>
          <a:prstGeom prst="rect">
            <a:avLst/>
          </a:prstGeom>
          <a:ln w="12700">
            <a:solidFill>
              <a:srgbClr val="10B981"/>
            </a:solidFill>
          </a:ln>
        </p:spPr>
      </p:pic>
      <p:sp>
        <p:nvSpPr>
          <p:cNvPr id="5" name="Rounded Rectangle 4"/>
          <p:cNvSpPr/>
          <p:nvPr/>
        </p:nvSpPr>
        <p:spPr>
          <a:xfrm>
            <a:off x="548640" y="3474720"/>
            <a:ext cx="6217920" cy="2834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3584448"/>
            <a:ext cx="592531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PROJECT INNOVATION TEAM &amp; MENTORSHIP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858768"/>
            <a:ext cx="5852160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300"/>
              </a:lnSpc>
              <a:spcBef>
                <a:spcPts val="200"/>
              </a:spcBef>
              <a:spcAft>
                <a:spcPts val="100"/>
              </a:spcAft>
            </a:pPr>
            <a:r>
              <a:rPr b="1" sz="950">
                <a:solidFill>
                  <a:srgbClr val="047857"/>
                </a:solidFill>
                <a:latin typeface="Segoe UI"/>
              </a:rPr>
              <a:t>Pranav Saxena: </a:t>
            </a:r>
            <a:r>
              <a:rPr b="0" sz="950">
                <a:solidFill>
                  <a:srgbClr val="334155"/>
                </a:solidFill>
                <a:latin typeface="Segoe UI"/>
              </a:rPr>
              <a:t>Lead Embedded Architecture, Firmware Engine &amp; Fullstack Web Integration</a:t>
            </a:r>
          </a:p>
          <a:p>
            <a:pPr>
              <a:lnSpc>
                <a:spcPts val="1300"/>
              </a:lnSpc>
              <a:spcBef>
                <a:spcPts val="300"/>
              </a:spcBef>
              <a:spcAft>
                <a:spcPts val="100"/>
              </a:spcAft>
            </a:pPr>
            <a:r>
              <a:rPr b="1" sz="950">
                <a:solidFill>
                  <a:srgbClr val="047857"/>
                </a:solidFill>
                <a:latin typeface="Segoe UI"/>
              </a:rPr>
              <a:t>Hiyasha Deviyal: </a:t>
            </a:r>
            <a:r>
              <a:rPr b="0" sz="950">
                <a:solidFill>
                  <a:srgbClr val="334155"/>
                </a:solidFill>
                <a:latin typeface="Segoe UI"/>
              </a:rPr>
              <a:t>Soil Physics Calibration, Agronomy Models &amp; Crop Yield Research</a:t>
            </a:r>
          </a:p>
          <a:p>
            <a:pPr>
              <a:lnSpc>
                <a:spcPts val="1300"/>
              </a:lnSpc>
              <a:spcBef>
                <a:spcPts val="300"/>
              </a:spcBef>
              <a:spcAft>
                <a:spcPts val="100"/>
              </a:spcAft>
            </a:pPr>
            <a:r>
              <a:rPr b="1" sz="950">
                <a:solidFill>
                  <a:srgbClr val="047857"/>
                </a:solidFill>
                <a:latin typeface="Segoe UI"/>
              </a:rPr>
              <a:t>Chaitanya Vashisht: </a:t>
            </a:r>
            <a:r>
              <a:rPr b="0" sz="950">
                <a:solidFill>
                  <a:srgbClr val="334155"/>
                </a:solidFill>
                <a:latin typeface="Segoe UI"/>
              </a:rPr>
              <a:t>Hardware Circuit Prototyping, Actuation Safety &amp; Power Management</a:t>
            </a:r>
          </a:p>
          <a:p>
            <a:pPr>
              <a:lnSpc>
                <a:spcPts val="1300"/>
              </a:lnSpc>
              <a:spcBef>
                <a:spcPts val="300"/>
              </a:spcBef>
              <a:spcAft>
                <a:spcPts val="100"/>
              </a:spcAft>
            </a:pPr>
            <a:r>
              <a:rPr b="1" sz="950">
                <a:solidFill>
                  <a:srgbClr val="047857"/>
                </a:solidFill>
                <a:latin typeface="Segoe UI"/>
              </a:rPr>
              <a:t>Kairavi Patel: </a:t>
            </a:r>
            <a:r>
              <a:rPr b="0" sz="950">
                <a:solidFill>
                  <a:srgbClr val="334155"/>
                </a:solidFill>
                <a:latin typeface="Segoe UI"/>
              </a:rPr>
              <a:t>UI/UX Experience, Real-Time Telemetry Visuals &amp; Data Analytics</a:t>
            </a:r>
          </a:p>
          <a:p>
            <a:pPr>
              <a:lnSpc>
                <a:spcPts val="1300"/>
              </a:lnSpc>
              <a:spcBef>
                <a:spcPts val="300"/>
              </a:spcBef>
              <a:spcAft>
                <a:spcPts val="100"/>
              </a:spcAft>
            </a:pPr>
            <a:r>
              <a:rPr b="1" sz="950">
                <a:solidFill>
                  <a:srgbClr val="047857"/>
                </a:solidFill>
                <a:latin typeface="Segoe UI"/>
              </a:rPr>
              <a:t>Eekansh Patni: </a:t>
            </a:r>
            <a:r>
              <a:rPr b="0" sz="950">
                <a:solidFill>
                  <a:srgbClr val="334155"/>
                </a:solidFill>
                <a:latin typeface="Segoe UI"/>
              </a:rPr>
              <a:t>Sensor Interfacing, Fail-Safe Logic &amp; Field Reliability Testing</a:t>
            </a:r>
          </a:p>
          <a:p>
            <a:pPr>
              <a:lnSpc>
                <a:spcPts val="1300"/>
              </a:lnSpc>
              <a:spcBef>
                <a:spcPts val="400"/>
              </a:spcBef>
              <a:spcAft>
                <a:spcPts val="100"/>
              </a:spcAft>
            </a:pPr>
            <a:r>
              <a:rPr b="1" sz="950">
                <a:solidFill>
                  <a:srgbClr val="D97706"/>
                </a:solidFill>
                <a:latin typeface="Segoe UI"/>
              </a:rPr>
              <a:t>Project Mentor: </a:t>
            </a:r>
            <a:r>
              <a:rPr b="0" sz="950">
                <a:solidFill>
                  <a:srgbClr val="0F172A"/>
                </a:solidFill>
                <a:latin typeface="Segoe UI"/>
              </a:rPr>
              <a:t>Ms. Deepika Dutt — Atal Innovation &amp; Applied STEM Research Guide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49440" y="3474720"/>
            <a:ext cx="4693615" cy="28346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95744" y="3584448"/>
            <a:ext cx="440100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EXECUTIVE DECK STRUCTURE &amp; LIVE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0" y="3858768"/>
            <a:ext cx="4327855" cy="2331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300"/>
              </a:lnSpc>
              <a:spcBef>
                <a:spcPts val="200"/>
              </a:spcBef>
              <a:spcAft>
                <a:spcPts val="100"/>
              </a:spcAft>
            </a:pPr>
            <a:r>
              <a:rPr b="1" sz="950">
                <a:solidFill>
                  <a:srgbClr val="0284C7"/>
                </a:solidFill>
                <a:latin typeface="Segoe UI"/>
              </a:rPr>
              <a:t>Core Category: </a:t>
            </a:r>
            <a:r>
              <a:rPr b="0" sz="950">
                <a:solidFill>
                  <a:srgbClr val="334155"/>
                </a:solidFill>
                <a:latin typeface="Segoe UI"/>
              </a:rPr>
              <a:t>Smart Agriculture, IoT Automation, Sustainable Resource Management</a:t>
            </a:r>
          </a:p>
          <a:p>
            <a:pPr>
              <a:lnSpc>
                <a:spcPts val="1300"/>
              </a:lnSpc>
              <a:spcBef>
                <a:spcPts val="300"/>
              </a:spcBef>
              <a:spcAft>
                <a:spcPts val="100"/>
              </a:spcAft>
            </a:pPr>
            <a:r>
              <a:rPr b="1" sz="950">
                <a:solidFill>
                  <a:srgbClr val="0284C7"/>
                </a:solidFill>
                <a:latin typeface="Segoe UI"/>
              </a:rPr>
              <a:t>Target Demographics: </a:t>
            </a:r>
            <a:r>
              <a:rPr b="0" sz="950">
                <a:solidFill>
                  <a:srgbClr val="334155"/>
                </a:solidFill>
                <a:latin typeface="Segoe UI"/>
              </a:rPr>
              <a:t>Small &amp; Marginal Farmers (&lt; 2 Hectares) and Educational ATLs</a:t>
            </a:r>
          </a:p>
          <a:p>
            <a:pPr>
              <a:lnSpc>
                <a:spcPts val="1300"/>
              </a:lnSpc>
              <a:spcBef>
                <a:spcPts val="300"/>
              </a:spcBef>
              <a:spcAft>
                <a:spcPts val="100"/>
              </a:spcAft>
            </a:pPr>
            <a:r>
              <a:rPr b="1" sz="950">
                <a:solidFill>
                  <a:srgbClr val="0284C7"/>
                </a:solidFill>
                <a:latin typeface="Segoe UI"/>
              </a:rPr>
              <a:t>Hardware Standard: </a:t>
            </a:r>
            <a:r>
              <a:rPr b="0" sz="950">
                <a:solidFill>
                  <a:srgbClr val="334155"/>
                </a:solidFill>
                <a:latin typeface="Segoe UI"/>
              </a:rPr>
              <a:t>ESP32-WROOM-32 Microcontroller + Optocoupled 5V Relay Isolation</a:t>
            </a:r>
          </a:p>
          <a:p>
            <a:pPr>
              <a:lnSpc>
                <a:spcPts val="1300"/>
              </a:lnSpc>
              <a:spcBef>
                <a:spcPts val="300"/>
              </a:spcBef>
              <a:spcAft>
                <a:spcPts val="100"/>
              </a:spcAft>
            </a:pPr>
            <a:r>
              <a:rPr b="1" sz="950">
                <a:solidFill>
                  <a:srgbClr val="0284C7"/>
                </a:solidFill>
                <a:latin typeface="Segoe UI"/>
              </a:rPr>
              <a:t>Web Application: </a:t>
            </a:r>
            <a:r>
              <a:rPr b="0" sz="950">
                <a:solidFill>
                  <a:srgbClr val="334155"/>
                </a:solidFill>
                <a:latin typeface="Segoe UI"/>
              </a:rPr>
              <a:t>Progressive Web App with Direct USB Web Serial &amp; Real-Time Charts</a:t>
            </a:r>
          </a:p>
          <a:p>
            <a:pPr>
              <a:lnSpc>
                <a:spcPts val="1300"/>
              </a:lnSpc>
              <a:spcBef>
                <a:spcPts val="300"/>
              </a:spcBef>
              <a:spcAft>
                <a:spcPts val="100"/>
              </a:spcAft>
            </a:pPr>
            <a:r>
              <a:rPr b="1" sz="950">
                <a:solidFill>
                  <a:srgbClr val="0284C7"/>
                </a:solidFill>
                <a:latin typeface="Segoe UI"/>
              </a:rPr>
              <a:t>Deployment Scope: </a:t>
            </a:r>
            <a:r>
              <a:rPr b="0" sz="950">
                <a:solidFill>
                  <a:srgbClr val="334155"/>
                </a:solidFill>
                <a:latin typeface="Segoe UI"/>
              </a:rPr>
              <a:t>Ready for ATL Farm-Lab Demonstrations &amp; FPO Field Cooperatives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110944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Verified Research &amp; Benchmark Citation: Digital Agriculture Mission, Ministry of Agriculture &amp; Farmers Welfare, GoI | Source: https://agriwelfare.gov.in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02  |  PROBLEM CONTEXT &amp; SMALLHOLDER REALITIES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The Agriculture Resource Crisis Facing Small &amp; Marginal Landholders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51560"/>
            <a:ext cx="3566160" cy="5303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161288"/>
            <a:ext cx="327355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CRITICAL STRUCTURAL CRISES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17320"/>
            <a:ext cx="3236976" cy="48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270"/>
              </a:lnSpc>
              <a:spcBef>
                <a:spcPts val="2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86.2% Operational Landholdings: </a:t>
            </a:r>
            <a:r>
              <a:rPr b="0" sz="919">
                <a:solidFill>
                  <a:srgbClr val="334155"/>
                </a:solidFill>
                <a:latin typeface="Segoe UI"/>
              </a:rPr>
              <a:t>126 million small/marginal farmers cultivate holdings under 2 hectares, accounting for 47.3% of cropped area (10th Agriculture Census).</a:t>
            </a:r>
          </a:p>
          <a:p>
            <a:pPr>
              <a:lnSpc>
                <a:spcPts val="1270"/>
              </a:lnSpc>
              <a:spcBef>
                <a:spcPts val="5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Severe Flood Irrigation Waste: </a:t>
            </a:r>
            <a:r>
              <a:rPr b="0" sz="919">
                <a:solidFill>
                  <a:srgbClr val="334155"/>
                </a:solidFill>
                <a:latin typeface="Segoe UI"/>
              </a:rPr>
              <a:t>Traditional surface flooding wastes 45-60% of water due to percolation and evaporation, yielding low water efficiency of 35-40%.</a:t>
            </a:r>
          </a:p>
          <a:p>
            <a:pPr>
              <a:lnSpc>
                <a:spcPts val="1270"/>
              </a:lnSpc>
              <a:spcBef>
                <a:spcPts val="5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Rapid Groundwater Depletion: </a:t>
            </a:r>
            <a:r>
              <a:rPr b="0" sz="919">
                <a:solidFill>
                  <a:srgbClr val="334155"/>
                </a:solidFill>
                <a:latin typeface="Segoe UI"/>
              </a:rPr>
              <a:t>Over-extraction in agricultural belts has pushed critical water tables down by &gt; 2-4 meters annually (CGWB Report 2023).</a:t>
            </a:r>
          </a:p>
          <a:p>
            <a:pPr>
              <a:lnSpc>
                <a:spcPts val="1270"/>
              </a:lnSpc>
              <a:spcBef>
                <a:spcPts val="5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Crop Disease &amp; Moisture Stress: </a:t>
            </a:r>
            <a:r>
              <a:rPr b="0" sz="919">
                <a:solidFill>
                  <a:srgbClr val="334155"/>
                </a:solidFill>
                <a:latin typeface="Segoe UI"/>
              </a:rPr>
              <a:t>Irrational over-watering leads to root rot and fungal blights, causing an estimated 15-25% preventable post-germination yield loss.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051560"/>
            <a:ext cx="3657600" cy="5303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43984" y="1161288"/>
            <a:ext cx="336499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WHY COMMERCIAL AGTECH FAILS FARMERS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62272" y="1417320"/>
            <a:ext cx="3328416" cy="48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270"/>
              </a:lnSpc>
              <a:spcBef>
                <a:spcPts val="200"/>
              </a:spcBef>
              <a:spcAft>
                <a:spcPts val="100"/>
              </a:spcAft>
            </a:pPr>
            <a:r>
              <a:rPr b="1" sz="919">
                <a:solidFill>
                  <a:srgbClr val="D97706"/>
                </a:solidFill>
                <a:latin typeface="Segoe UI"/>
              </a:rPr>
              <a:t>Prohibitive Capital Expenditure: </a:t>
            </a:r>
            <a:r>
              <a:rPr b="0" sz="919">
                <a:solidFill>
                  <a:srgbClr val="334155"/>
                </a:solidFill>
                <a:latin typeface="Segoe UI"/>
              </a:rPr>
              <a:t>Industrial precision farming solutions cost ₹40,000 to ₹1,50,000 ($500-$1,800), exceeding the total annual income of smallholders.</a:t>
            </a:r>
          </a:p>
          <a:p>
            <a:pPr>
              <a:lnSpc>
                <a:spcPts val="1270"/>
              </a:lnSpc>
              <a:spcBef>
                <a:spcPts val="500"/>
              </a:spcBef>
              <a:spcAft>
                <a:spcPts val="100"/>
              </a:spcAft>
            </a:pPr>
            <a:r>
              <a:rPr b="1" sz="919">
                <a:solidFill>
                  <a:srgbClr val="D97706"/>
                </a:solidFill>
                <a:latin typeface="Segoe UI"/>
              </a:rPr>
              <a:t>Mandatory Recurring Cloud Subscriptions: </a:t>
            </a:r>
            <a:r>
              <a:rPr b="0" sz="919">
                <a:solidFill>
                  <a:srgbClr val="334155"/>
                </a:solidFill>
                <a:latin typeface="Segoe UI"/>
              </a:rPr>
              <a:t>Commercial systems demand monthly cellular SIM and cloud analytics subscriptions ($10-$25/mo), creating perpetual lock-in.</a:t>
            </a:r>
          </a:p>
          <a:p>
            <a:pPr>
              <a:lnSpc>
                <a:spcPts val="1270"/>
              </a:lnSpc>
              <a:spcBef>
                <a:spcPts val="500"/>
              </a:spcBef>
              <a:spcAft>
                <a:spcPts val="100"/>
              </a:spcAft>
            </a:pPr>
            <a:r>
              <a:rPr b="1" sz="919">
                <a:solidFill>
                  <a:srgbClr val="D97706"/>
                </a:solidFill>
                <a:latin typeface="Segoe UI"/>
              </a:rPr>
              <a:t>Corrosive Resistive Probes: </a:t>
            </a:r>
            <a:r>
              <a:rPr b="0" sz="919">
                <a:solidFill>
                  <a:srgbClr val="334155"/>
                </a:solidFill>
                <a:latin typeface="Segoe UI"/>
              </a:rPr>
              <a:t>Cheap hobbyist kits use resistive copper sensors that corrode via electrolysis within 10-14 days, rendering automation unreliable.</a:t>
            </a:r>
          </a:p>
          <a:p>
            <a:pPr>
              <a:lnSpc>
                <a:spcPts val="1270"/>
              </a:lnSpc>
              <a:spcBef>
                <a:spcPts val="500"/>
              </a:spcBef>
              <a:spcAft>
                <a:spcPts val="100"/>
              </a:spcAft>
            </a:pPr>
            <a:r>
              <a:rPr b="1" sz="919">
                <a:solidFill>
                  <a:srgbClr val="D97706"/>
                </a:solidFill>
                <a:latin typeface="Segoe UI"/>
              </a:rPr>
              <a:t>Complex Proprietary Gateways: </a:t>
            </a:r>
            <a:r>
              <a:rPr b="0" sz="919">
                <a:solidFill>
                  <a:srgbClr val="334155"/>
                </a:solidFill>
                <a:latin typeface="Segoe UI"/>
              </a:rPr>
              <a:t>Most systems require specialized Zigbee/LoRa gateways and PC software rather than running seamlessly on standard smartphones.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1051560"/>
            <a:ext cx="3504895" cy="5303520"/>
          </a:xfrm>
          <a:prstGeom prst="roundRect">
            <a:avLst/>
          </a:prstGeom>
          <a:solidFill>
            <a:srgbClr val="F1F5F9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84464" y="1161288"/>
            <a:ext cx="321228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QUANTIFIED FARM BENCHMARKS</a:t>
            </a:r>
          </a:p>
        </p:txBody>
      </p:sp>
      <p:pic>
        <p:nvPicPr>
          <p:cNvPr id="11" name="Picture 10" descr="AgriSense_Pitch_Deck_Slide-2-image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84464" y="1463040"/>
            <a:ext cx="3209544" cy="20116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8284464" y="3611880"/>
            <a:ext cx="3209544" cy="2606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250"/>
              </a:lnSpc>
              <a:spcBef>
                <a:spcPts val="200"/>
              </a:spcBef>
              <a:spcAft>
                <a:spcPts val="100"/>
              </a:spcAft>
            </a:pPr>
            <a:r>
              <a:rPr b="1" sz="900">
                <a:solidFill>
                  <a:srgbClr val="047857"/>
                </a:solidFill>
                <a:latin typeface="Segoe UI"/>
              </a:rPr>
              <a:t>89% Freshwater Consumed: </a:t>
            </a:r>
            <a:r>
              <a:rPr b="0" sz="900">
                <a:solidFill>
                  <a:srgbClr val="334155"/>
                </a:solidFill>
                <a:latin typeface="Segoe UI"/>
              </a:rPr>
              <a:t>Agriculture consumes ~89% of India's total freshwater withdrawal, necessitating strict micro-irrigation control.</a:t>
            </a:r>
          </a:p>
          <a:p>
            <a:pPr>
              <a:lnSpc>
                <a:spcPts val="1250"/>
              </a:lnSpc>
              <a:spcBef>
                <a:spcPts val="400"/>
              </a:spcBef>
              <a:spcAft>
                <a:spcPts val="100"/>
              </a:spcAft>
            </a:pPr>
            <a:r>
              <a:rPr b="1" sz="900">
                <a:solidFill>
                  <a:srgbClr val="047857"/>
                </a:solidFill>
                <a:latin typeface="Segoe UI"/>
              </a:rPr>
              <a:t>₹1,640 Target Bill-of-Materials: </a:t>
            </a:r>
            <a:r>
              <a:rPr b="0" sz="900">
                <a:solidFill>
                  <a:srgbClr val="334155"/>
                </a:solidFill>
                <a:latin typeface="Segoe UI"/>
              </a:rPr>
              <a:t>AgriSense cuts node acquisition cost by over 88% compared to commercial alternatives, enabling rapid field deployment.</a:t>
            </a:r>
          </a:p>
          <a:p>
            <a:pPr>
              <a:lnSpc>
                <a:spcPts val="1250"/>
              </a:lnSpc>
              <a:spcBef>
                <a:spcPts val="400"/>
              </a:spcBef>
              <a:spcAft>
                <a:spcPts val="100"/>
              </a:spcAft>
            </a:pPr>
            <a:r>
              <a:rPr b="1" sz="900">
                <a:solidFill>
                  <a:srgbClr val="047857"/>
                </a:solidFill>
                <a:latin typeface="Segoe UI"/>
              </a:rPr>
              <a:t>Zero Recurring Monthly Fees: </a:t>
            </a:r>
            <a:r>
              <a:rPr b="0" sz="900">
                <a:solidFill>
                  <a:srgbClr val="334155"/>
                </a:solidFill>
                <a:latin typeface="Segoe UI"/>
              </a:rPr>
              <a:t>Operates standalone offline or pairs with free open browser Web Serial dashboards.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510528"/>
            <a:ext cx="110944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Verified Research &amp; Benchmark Citation: 10th Agriculture Census &amp; NITI Aayog Composite Water Management Index | Source: https://agcensus.nic.in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03  |  SOLUTION ARCHITECTURE &amp; WORKFLOW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Closed-Loop Closed-Feedback Precision Soil &amp; Microclimate Management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51560"/>
            <a:ext cx="4114800" cy="5303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161288"/>
            <a:ext cx="382219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FOUR-STAGE SYSTEM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17320"/>
            <a:ext cx="3785615" cy="48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270"/>
              </a:lnSpc>
              <a:spcBef>
                <a:spcPts val="2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1. Edge Sensing Layer: </a:t>
            </a:r>
            <a:r>
              <a:rPr b="0" sz="919">
                <a:solidFill>
                  <a:srgbClr val="334155"/>
                </a:solidFill>
                <a:latin typeface="Segoe UI"/>
              </a:rPr>
              <a:t>Sub-surface Capacitive Moisture Sensor v1.2, DHT11 Temperature &amp; Relative Humidity, LDR Photodiode, and FR-04 Rain Surface Detector poll every 2000ms.</a:t>
            </a:r>
          </a:p>
          <a:p>
            <a:pPr>
              <a:lnSpc>
                <a:spcPts val="1270"/>
              </a:lnSpc>
              <a:spcBef>
                <a:spcPts val="5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2. On-Device Agronomy Logic: </a:t>
            </a:r>
            <a:r>
              <a:rPr b="0" sz="919">
                <a:solidFill>
                  <a:srgbClr val="334155"/>
                </a:solidFill>
                <a:latin typeface="Segoe UI"/>
              </a:rPr>
              <a:t>ESP32 compares volumetric soil water content against crop-specific Field Capacity (FC) and Permanent Wilting Point (PWP) thresholds with built-in hysteresis.</a:t>
            </a:r>
          </a:p>
          <a:p>
            <a:pPr>
              <a:lnSpc>
                <a:spcPts val="1270"/>
              </a:lnSpc>
              <a:spcBef>
                <a:spcPts val="5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3. Failsafe Actuation Output: </a:t>
            </a:r>
            <a:r>
              <a:rPr b="0" sz="919">
                <a:solidFill>
                  <a:srgbClr val="334155"/>
                </a:solidFill>
                <a:latin typeface="Segoe UI"/>
              </a:rPr>
              <a:t>Dual optocoupled relays trigger 12V DC irrigation solenoid/pumps and 5V cooling fans. Automatic 15-minute maximum watchdog prevents waterlogging.</a:t>
            </a:r>
          </a:p>
          <a:p>
            <a:pPr>
              <a:lnSpc>
                <a:spcPts val="1270"/>
              </a:lnSpc>
              <a:spcBef>
                <a:spcPts val="5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4. Web Serial Telemetry Sync: </a:t>
            </a:r>
            <a:r>
              <a:rPr b="0" sz="919">
                <a:solidFill>
                  <a:srgbClr val="334155"/>
                </a:solidFill>
                <a:latin typeface="Segoe UI"/>
              </a:rPr>
              <a:t>Direct USB-to-Browser connection streams real-time sensor packets at 115,200 baud without installing third-party software or cloud brokers.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1051560"/>
            <a:ext cx="6796735" cy="5303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992624" y="1161288"/>
            <a:ext cx="650412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SYSTEM ARCHITECTURE &amp; CLOSED-LOOP FLOW</a:t>
            </a:r>
          </a:p>
        </p:txBody>
      </p:sp>
      <p:pic>
        <p:nvPicPr>
          <p:cNvPr id="8" name="Picture 7" descr="ai_deck_slide_5_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463040"/>
            <a:ext cx="6430975" cy="2926080"/>
          </a:xfrm>
          <a:prstGeom prst="rect">
            <a:avLst/>
          </a:prstGeom>
          <a:ln w="12700">
            <a:solidFill>
              <a:srgbClr val="10B98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029200" y="4526280"/>
            <a:ext cx="6430975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270"/>
              </a:lnSpc>
              <a:spcBef>
                <a:spcPts val="2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Edge Autonomy (Zero Internet Required): </a:t>
            </a:r>
            <a:r>
              <a:rPr b="0" sz="919">
                <a:solidFill>
                  <a:srgbClr val="334155"/>
                </a:solidFill>
                <a:latin typeface="Segoe UI"/>
              </a:rPr>
              <a:t>If internet or Wi-Fi drops, the ESP32 node continues executing its local threshold logic and safety timers autonomously without interruption.</a:t>
            </a:r>
          </a:p>
          <a:p>
            <a:pPr>
              <a:lnSpc>
                <a:spcPts val="1270"/>
              </a:lnSpc>
              <a:spcBef>
                <a:spcPts val="400"/>
              </a:spcBef>
              <a:spcAft>
                <a:spcPts val="100"/>
              </a:spcAft>
            </a:pPr>
            <a:r>
              <a:rPr b="1" sz="919">
                <a:solidFill>
                  <a:srgbClr val="0284C7"/>
                </a:solidFill>
                <a:latin typeface="Segoe UI"/>
              </a:rPr>
              <a:t>Dual Communication Paths: </a:t>
            </a:r>
            <a:r>
              <a:rPr b="0" sz="919">
                <a:solidFill>
                  <a:srgbClr val="334155"/>
                </a:solidFill>
                <a:latin typeface="Segoe UI"/>
              </a:rPr>
              <a:t>Supports direct Web Serial USB streaming for offline field inspection AND optional REST/WebSocket push when connected to local hotspots.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110944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Verified Research &amp; Benchmark Citation: ICAR Precision Farming Development Guidelines &amp; IEEE IoT Standards | Source: https://icar.org.in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04  |  HARDWARE BILL OF MATERIALS &amp; CIRCUIT DESIGN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Affordable Industrial-Grade Components Totalling Under ₹1,650 ($20)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51560"/>
            <a:ext cx="6949440" cy="5303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161288"/>
            <a:ext cx="665683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ITEMIZED HARDWARE COMPONENT BREAKDOWN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13232" y="1463040"/>
          <a:ext cx="662025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468880"/>
                <a:gridCol w="1005840"/>
                <a:gridCol w="1042415"/>
              </a:tblGrid>
              <a:tr h="411480"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0F172A"/>
                          </a:solidFill>
                        </a:defRPr>
                      </a:pPr>
                      <a:r>
                        <a:t>Component &amp; Model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0F172A"/>
                          </a:solidFill>
                        </a:defRPr>
                      </a:pPr>
                      <a:r>
                        <a:t>Functional Purpose &amp; Pin Mapping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0F172A"/>
                          </a:solidFill>
                        </a:defRPr>
                      </a:pPr>
                      <a:r>
                        <a:t>Unit Cost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0F172A"/>
                          </a:solidFill>
                        </a:defRPr>
                      </a:pPr>
                      <a:r>
                        <a:t>Commercial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ESP32 DevKit V1 (30-pin)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Dual-Core MCU (240MHz, 520KB SRAM, ADC, Wi-Fi)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47857"/>
                          </a:solidFill>
                        </a:defRPr>
                      </a:pPr>
                      <a:r>
                        <a:t>₹420 ($5.05)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334155"/>
                          </a:solidFill>
                        </a:defRPr>
                      </a:pPr>
                      <a:r>
                        <a:t>₹1,800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Capacitive Soil Sensor v1.2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Corrosion-resistant analog moisture probe (GPIO 34)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47857"/>
                          </a:solidFill>
                        </a:defRPr>
                      </a:pPr>
                      <a:r>
                        <a:t>₹140 ($1.68)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334155"/>
                          </a:solidFill>
                        </a:defRPr>
                      </a:pPr>
                      <a:r>
                        <a:t>₹3,500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DHT11 Temp &amp; Humidity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Single-bus digital ambient climate monitoring (GPIO 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47857"/>
                          </a:solidFill>
                        </a:defRPr>
                      </a:pPr>
                      <a:r>
                        <a:t>₹110 ($1.32)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334155"/>
                          </a:solidFill>
                        </a:defRPr>
                      </a:pPr>
                      <a:r>
                        <a:t>₹1,200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LDR Light Intensity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Ambient solar irradiance calculation (GPIO 32)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47857"/>
                          </a:solidFill>
                        </a:defRPr>
                      </a:pPr>
                      <a:r>
                        <a:t>₹45 ($0.54)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334155"/>
                          </a:solidFill>
                        </a:defRPr>
                      </a:pPr>
                      <a:r>
                        <a:t>₹850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FR-04 Rain Detector 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Conductive surface rain drop detection (GPIO 33)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47857"/>
                          </a:solidFill>
                        </a:defRPr>
                      </a:pPr>
                      <a:r>
                        <a:t>₹65 ($0.78)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334155"/>
                          </a:solidFill>
                        </a:defRPr>
                      </a:pPr>
                      <a:r>
                        <a:t>₹1,100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2-Ch 5V Optocoupled Relay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Galvanic isolation switching for 12V pump (GPIO 25, 26)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47857"/>
                          </a:solidFill>
                        </a:defRPr>
                      </a:pPr>
                      <a:r>
                        <a:t>₹110 ($1.32)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334155"/>
                          </a:solidFill>
                        </a:defRPr>
                      </a:pPr>
                      <a:r>
                        <a:t>₹2,200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12V DC Pump + Tubing + Power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Water delivery, 5V regulator &amp; enclosure casing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47857"/>
                          </a:solidFill>
                        </a:defRPr>
                      </a:pPr>
                      <a:r>
                        <a:t>₹750 ($9.00)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334155"/>
                          </a:solidFill>
                        </a:defRPr>
                      </a:pPr>
                      <a:r>
                        <a:t>₹4,500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13232" y="4892040"/>
            <a:ext cx="6620256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270"/>
              </a:lnSpc>
              <a:spcBef>
                <a:spcPts val="2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Total AgriSense System BOM: </a:t>
            </a:r>
            <a:r>
              <a:rPr b="0" sz="919">
                <a:solidFill>
                  <a:srgbClr val="334155"/>
                </a:solidFill>
                <a:latin typeface="Segoe UI"/>
              </a:rPr>
              <a:t>₹1,640 ($19.70) — over 88% cheaper than proprietary commercial telemetry kits.</a:t>
            </a:r>
          </a:p>
          <a:p>
            <a:pPr>
              <a:lnSpc>
                <a:spcPts val="1270"/>
              </a:lnSpc>
              <a:spcBef>
                <a:spcPts val="4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Corrosion Elimination: </a:t>
            </a:r>
            <a:r>
              <a:rPr b="0" sz="919">
                <a:solidFill>
                  <a:srgbClr val="334155"/>
                </a:solidFill>
                <a:latin typeface="Segoe UI"/>
              </a:rPr>
              <a:t>Capacitive sensors measure dielectric permittivity with no exposed copper in soil, preventing electrolytic oxidation.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680960" y="1051560"/>
            <a:ext cx="3962095" cy="5303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27264" y="1161288"/>
            <a:ext cx="366948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CIRCUIT PINOUT &amp; HARDWARE INTEGRATION</a:t>
            </a:r>
          </a:p>
        </p:txBody>
      </p:sp>
      <p:pic>
        <p:nvPicPr>
          <p:cNvPr id="9" name="Picture 8" descr="ai_deck_slide_6_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27264" y="1463040"/>
            <a:ext cx="3666744" cy="29260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827264" y="4526280"/>
            <a:ext cx="3666744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250"/>
              </a:lnSpc>
              <a:spcBef>
                <a:spcPts val="200"/>
              </a:spcBef>
              <a:spcAft>
                <a:spcPts val="100"/>
              </a:spcAft>
            </a:pPr>
            <a:r>
              <a:rPr b="1" sz="900">
                <a:solidFill>
                  <a:srgbClr val="047857"/>
                </a:solidFill>
                <a:latin typeface="Segoe UI"/>
              </a:rPr>
              <a:t>Galvanic Optocoupler Isolation: </a:t>
            </a:r>
            <a:r>
              <a:rPr b="0" sz="900">
                <a:solidFill>
                  <a:srgbClr val="334155"/>
                </a:solidFill>
                <a:latin typeface="Segoe UI"/>
              </a:rPr>
              <a:t>Separates high inductive kickback from 12V pump coils from 3.3V ESP32 logic lines.</a:t>
            </a:r>
          </a:p>
          <a:p>
            <a:pPr>
              <a:lnSpc>
                <a:spcPts val="1250"/>
              </a:lnSpc>
              <a:spcBef>
                <a:spcPts val="400"/>
              </a:spcBef>
              <a:spcAft>
                <a:spcPts val="100"/>
              </a:spcAft>
            </a:pPr>
            <a:r>
              <a:rPr b="1" sz="900">
                <a:solidFill>
                  <a:srgbClr val="0284C7"/>
                </a:solidFill>
                <a:latin typeface="Segoe UI"/>
              </a:rPr>
              <a:t>Low Power Consumption: </a:t>
            </a:r>
            <a:r>
              <a:rPr b="0" sz="900">
                <a:solidFill>
                  <a:srgbClr val="334155"/>
                </a:solidFill>
                <a:latin typeface="Segoe UI"/>
              </a:rPr>
              <a:t>System draws ~110mA average in active polling and &lt; 15mA in deep-sleep mode.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110944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Verified Research &amp; Benchmark Citation: Electronics Components Sourcing Market Index &amp; IEEE Embedded Hardware Standards | Source: https://ieee.org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05  |  EMBEDDED FIRMWARE &amp; CONTROL LOGIC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Robust C++ Architecture with Active-LOW Safety &amp; Hysteresis Switching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51560"/>
            <a:ext cx="5486400" cy="5303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161288"/>
            <a:ext cx="519379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FIRMWARE CONTROL ALGORITHM (C++ / ARDUINO)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17320"/>
            <a:ext cx="5157216" cy="48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270"/>
              </a:lnSpc>
              <a:spcBef>
                <a:spcPts val="2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Calibrated ADC Normalization: </a:t>
            </a:r>
            <a:r>
              <a:rPr b="0" sz="919">
                <a:solidFill>
                  <a:srgbClr val="334155"/>
                </a:solidFill>
                <a:latin typeface="Segoe UI"/>
              </a:rPr>
              <a:t>12-bit ADC values (0-4095) mapped to volumetric soil moisture percentages using dual-point air/water saturation calibration bounds.</a:t>
            </a:r>
          </a:p>
          <a:p>
            <a:pPr>
              <a:lnSpc>
                <a:spcPts val="1270"/>
              </a:lnSpc>
              <a:spcBef>
                <a:spcPts val="4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Hysteresis Prevention: </a:t>
            </a:r>
            <a:r>
              <a:rPr b="0" sz="919">
                <a:solidFill>
                  <a:srgbClr val="334155"/>
                </a:solidFill>
                <a:latin typeface="Segoe UI"/>
              </a:rPr>
              <a:t>Irrigation triggers when Soil Moisture &lt; 28% and runs until reaching 45% Field Capacity, preventing rapid relay bouncing and motor burnout.</a:t>
            </a:r>
          </a:p>
          <a:p>
            <a:pPr>
              <a:lnSpc>
                <a:spcPts val="1270"/>
              </a:lnSpc>
              <a:spcBef>
                <a:spcPts val="4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Active-LOW Relay Safety: </a:t>
            </a:r>
            <a:r>
              <a:rPr b="0" sz="919">
                <a:solidFill>
                  <a:srgbClr val="334155"/>
                </a:solidFill>
                <a:latin typeface="Segoe UI"/>
              </a:rPr>
              <a:t>Relays are initialized to HIGH on startup (pinMode OUTPUT + digitalWrite HIGH) to ensure pumps and fans remain safely OFF during MCU boot.</a:t>
            </a:r>
          </a:p>
          <a:p>
            <a:pPr>
              <a:lnSpc>
                <a:spcPts val="1270"/>
              </a:lnSpc>
              <a:spcBef>
                <a:spcPts val="4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15-Minute Watchdog Cutoff: </a:t>
            </a:r>
            <a:r>
              <a:rPr b="0" sz="919">
                <a:solidFill>
                  <a:srgbClr val="334155"/>
                </a:solidFill>
                <a:latin typeface="Segoe UI"/>
              </a:rPr>
              <a:t>Hardware timer enforces a maximum continuous pump run of 15 minutes, safeguarding fields against runaway flooding if a probe is detached.</a:t>
            </a:r>
          </a:p>
          <a:p>
            <a:pPr>
              <a:lnSpc>
                <a:spcPts val="1270"/>
              </a:lnSpc>
              <a:spcBef>
                <a:spcPts val="4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Formatted Serial Telemetry: </a:t>
            </a:r>
            <a:r>
              <a:rPr b="0" sz="919">
                <a:solidFill>
                  <a:srgbClr val="334155"/>
                </a:solidFill>
                <a:latin typeface="Segoe UI"/>
              </a:rPr>
              <a:t>Outputs structured data packets at 115,200 baud for instantaneous parsing by the browser Web Serial dashboard.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051560"/>
            <a:ext cx="5425135" cy="5303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64224" y="1161288"/>
            <a:ext cx="513252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HARDWARE PROTOTYPE &amp; SERIAL STREAM</a:t>
            </a:r>
          </a:p>
        </p:txBody>
      </p:sp>
      <p:pic>
        <p:nvPicPr>
          <p:cNvPr id="8" name="Picture 7" descr="slide_11_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82512" y="1463040"/>
            <a:ext cx="5095951" cy="2651760"/>
          </a:xfrm>
          <a:prstGeom prst="rect">
            <a:avLst/>
          </a:prstGeom>
          <a:ln w="12700">
            <a:solidFill>
              <a:srgbClr val="10B98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382512" y="4251960"/>
            <a:ext cx="5095951" cy="1965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250"/>
              </a:lnSpc>
              <a:spcBef>
                <a:spcPts val="200"/>
              </a:spcBef>
              <a:spcAft>
                <a:spcPts val="100"/>
              </a:spcAft>
            </a:pPr>
            <a:r>
              <a:rPr b="1" sz="900">
                <a:solidFill>
                  <a:srgbClr val="047857"/>
                </a:solidFill>
                <a:latin typeface="Segoe UI"/>
              </a:rPr>
              <a:t>Serial Packet Structure: </a:t>
            </a:r>
            <a:r>
              <a:rPr b="0" sz="900">
                <a:solidFill>
                  <a:srgbClr val="334155"/>
                </a:solidFill>
                <a:latin typeface="Segoe UI"/>
              </a:rPr>
              <a:t>Temperature (°C), Humidity (%), Soil Moisture (%), Light (%), Rain Status (0/1), Pump Status (ON/OFF), Fan Status (ON/OFF).</a:t>
            </a:r>
          </a:p>
          <a:p>
            <a:pPr>
              <a:lnSpc>
                <a:spcPts val="1250"/>
              </a:lnSpc>
              <a:spcBef>
                <a:spcPts val="400"/>
              </a:spcBef>
              <a:spcAft>
                <a:spcPts val="100"/>
              </a:spcAft>
            </a:pPr>
            <a:r>
              <a:rPr b="1" sz="900">
                <a:solidFill>
                  <a:srgbClr val="0284C7"/>
                </a:solidFill>
                <a:latin typeface="Segoe UI"/>
              </a:rPr>
              <a:t>Non-Blocking millis() Scheduling: </a:t>
            </a:r>
            <a:r>
              <a:rPr b="0" sz="900">
                <a:solidFill>
                  <a:srgbClr val="334155"/>
                </a:solidFill>
                <a:latin typeface="Segoe UI"/>
              </a:rPr>
              <a:t>Sensor acquisition, relay safety timers, and serial output run on independent non-blocking time intervals without stalling MCU execution.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110944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Verified Research &amp; Benchmark Citation: Espressif ESP-IDF Architecture Guidelines &amp; Embedded Systems Safety Standards | Source: https://espressif.com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06  |  AGRONOMIC INTELLIGENCE &amp; CROP SCIENCE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Vapor Pressure Deficit (VPD) Modelling &amp; Soil Moisture Physics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51560"/>
            <a:ext cx="3931920" cy="5303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161288"/>
            <a:ext cx="363931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AGRONOMY PRINCIPLES &amp; EQUATIONS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17320"/>
            <a:ext cx="3602736" cy="48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270"/>
              </a:lnSpc>
              <a:spcBef>
                <a:spcPts val="2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Soil Water Retention Curve: </a:t>
            </a:r>
            <a:r>
              <a:rPr b="0" sz="919">
                <a:solidFill>
                  <a:srgbClr val="334155"/>
                </a:solidFill>
                <a:latin typeface="Segoe UI"/>
              </a:rPr>
              <a:t>Tracks Available Water Capacity (AWC) bounded by Field Capacity (~35-45%) and Permanent Wilting Point (~15-18%) for sandy loam soils.</a:t>
            </a:r>
          </a:p>
          <a:p>
            <a:pPr>
              <a:lnSpc>
                <a:spcPts val="1270"/>
              </a:lnSpc>
              <a:spcBef>
                <a:spcPts val="5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Vapor Pressure Deficit (VPD): </a:t>
            </a:r>
            <a:r>
              <a:rPr b="0" sz="919">
                <a:solidFill>
                  <a:srgbClr val="334155"/>
                </a:solidFill>
                <a:latin typeface="Segoe UI"/>
              </a:rPr>
              <a:t>Calculates atmospheric drying power using Tetens equation: VPD = VPsat * (1 - RH/100). Optimum transpiration zone: 0.8 - 1.2 kPa.</a:t>
            </a:r>
          </a:p>
          <a:p>
            <a:pPr>
              <a:lnSpc>
                <a:spcPts val="1270"/>
              </a:lnSpc>
              <a:spcBef>
                <a:spcPts val="5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Fungal Pathogen Risk Index: </a:t>
            </a:r>
            <a:r>
              <a:rPr b="0" sz="919">
                <a:solidFill>
                  <a:srgbClr val="334155"/>
                </a:solidFill>
                <a:latin typeface="Segoe UI"/>
              </a:rPr>
              <a:t>Flags mildew and blight risks when relative humidity exceeds 85% at temperatures between 18°C and 26°C for &gt; 6 consecutive hours.</a:t>
            </a:r>
          </a:p>
          <a:p>
            <a:pPr>
              <a:lnSpc>
                <a:spcPts val="1270"/>
              </a:lnSpc>
              <a:spcBef>
                <a:spcPts val="5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Weather Forecast Backoff: </a:t>
            </a:r>
            <a:r>
              <a:rPr b="0" sz="919">
                <a:solidFill>
                  <a:srgbClr val="334155"/>
                </a:solidFill>
                <a:latin typeface="Segoe UI"/>
              </a:rPr>
              <a:t>Delays automated irrigation cycles if local rainfall probability exceeds 60% within 12 hours, saving reservoir water.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663440" y="1051560"/>
            <a:ext cx="6979615" cy="5303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809744" y="1161288"/>
            <a:ext cx="668700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SOIL MOISTURE TRANSITION &amp; TRANSPIRATION MATRIX</a:t>
            </a:r>
          </a:p>
        </p:txBody>
      </p:sp>
      <p:pic>
        <p:nvPicPr>
          <p:cNvPr id="8" name="Picture 7" descr="ai_deck_slide_3_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463040"/>
            <a:ext cx="6650431" cy="29260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828032" y="4526280"/>
            <a:ext cx="6650431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270"/>
              </a:lnSpc>
              <a:spcBef>
                <a:spcPts val="2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Dynamic Multi-Crop Profiles: </a:t>
            </a:r>
            <a:r>
              <a:rPr b="0" sz="919">
                <a:solidFill>
                  <a:srgbClr val="334155"/>
                </a:solidFill>
                <a:latin typeface="Segoe UI"/>
              </a:rPr>
              <a:t>Pre-configured agronomic profiles for Tomatoes, Wheat, Mustard, and Cotton dynamically adjust moisture trigger bands based on crop growth stage.</a:t>
            </a:r>
          </a:p>
          <a:p>
            <a:pPr>
              <a:lnSpc>
                <a:spcPts val="1270"/>
              </a:lnSpc>
              <a:spcBef>
                <a:spcPts val="400"/>
              </a:spcBef>
              <a:spcAft>
                <a:spcPts val="100"/>
              </a:spcAft>
            </a:pPr>
            <a:r>
              <a:rPr b="1" sz="919">
                <a:solidFill>
                  <a:srgbClr val="0284C7"/>
                </a:solidFill>
                <a:latin typeface="Segoe UI"/>
              </a:rPr>
              <a:t>Root-Zone Targeting: </a:t>
            </a:r>
            <a:r>
              <a:rPr b="0" sz="919">
                <a:solidFill>
                  <a:srgbClr val="334155"/>
                </a:solidFill>
                <a:latin typeface="Segoe UI"/>
              </a:rPr>
              <a:t>Precision drip pulsation allows capillary uptake into root zones without deep drainage losses below root depth.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110944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Verified Research &amp; Benchmark Citation: FAO Irrigation and Drainage Paper 56 (Crop Evapotranspiration) &amp; ICAR Agronomy Datasets | Source: https://fao.org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07  |  WEB PLATFORM &amp; WEB SERIAL INTEGRATION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Driverless Browser-to-Hardware Control with Real-Time Analytics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51560"/>
            <a:ext cx="5303520" cy="5303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161288"/>
            <a:ext cx="501091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WEB SERIAL API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17320"/>
            <a:ext cx="4974336" cy="48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270"/>
              </a:lnSpc>
              <a:spcBef>
                <a:spcPts val="2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Direct Chrome/Edge USB Connection: </a:t>
            </a:r>
            <a:r>
              <a:rPr b="0" sz="919">
                <a:solidFill>
                  <a:srgbClr val="334155"/>
                </a:solidFill>
                <a:latin typeface="Segoe UI"/>
              </a:rPr>
              <a:t>Uses W3C Web Serial API (navigator.serial) to establish a direct 115,200 baud streaming pipe without requiring USB driver installation or bridges.</a:t>
            </a:r>
          </a:p>
          <a:p>
            <a:pPr>
              <a:lnSpc>
                <a:spcPts val="1270"/>
              </a:lnSpc>
              <a:spcBef>
                <a:spcPts val="4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Live Oscilloscope &amp; Sparklines: </a:t>
            </a:r>
            <a:r>
              <a:rPr b="0" sz="919">
                <a:solidFill>
                  <a:srgbClr val="334155"/>
                </a:solidFill>
                <a:latin typeface="Segoe UI"/>
              </a:rPr>
              <a:t>Canvas-rendered 60 FPS real-time waveform monitors moisture fluctuations, thermal trends, and relay state transitions synchronously.</a:t>
            </a:r>
          </a:p>
          <a:p>
            <a:pPr>
              <a:lnSpc>
                <a:spcPts val="1270"/>
              </a:lnSpc>
              <a:spcBef>
                <a:spcPts val="4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Bidirectional Actuation Commands: </a:t>
            </a:r>
            <a:r>
              <a:rPr b="0" sz="919">
                <a:solidFill>
                  <a:srgbClr val="334155"/>
                </a:solidFill>
                <a:latin typeface="Segoe UI"/>
              </a:rPr>
              <a:t>Farmers can manually trigger or lock relays from the web UI by dispatching single-byte serial commands directly to the ESP32.</a:t>
            </a:r>
          </a:p>
          <a:p>
            <a:pPr>
              <a:lnSpc>
                <a:spcPts val="1270"/>
              </a:lnSpc>
              <a:spcBef>
                <a:spcPts val="4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Multilingual Audio Feedback: </a:t>
            </a:r>
            <a:r>
              <a:rPr b="0" sz="919">
                <a:solidFill>
                  <a:srgbClr val="334155"/>
                </a:solidFill>
                <a:latin typeface="Segoe UI"/>
              </a:rPr>
              <a:t>Integrated speech synthesis alerts farmers in Hindi and English when critical moisture or temperature thresholds are breached.</a:t>
            </a:r>
          </a:p>
          <a:p>
            <a:pPr>
              <a:lnSpc>
                <a:spcPts val="1270"/>
              </a:lnSpc>
              <a:spcBef>
                <a:spcPts val="4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Local Offline Storage: </a:t>
            </a:r>
            <a:r>
              <a:rPr b="0" sz="919">
                <a:solidFill>
                  <a:srgbClr val="334155"/>
                </a:solidFill>
                <a:latin typeface="Segoe UI"/>
              </a:rPr>
              <a:t>IndexedDB stores up to 30 days of 1-minute historical telemetry locally when offline, automatically syncing upon network recovery.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051560"/>
            <a:ext cx="5608015" cy="5303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81344" y="1161288"/>
            <a:ext cx="531540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AGRISENSE REAL-TIME FARM DASHBOARD</a:t>
            </a:r>
          </a:p>
        </p:txBody>
      </p:sp>
      <p:pic>
        <p:nvPicPr>
          <p:cNvPr id="8" name="Picture 7" descr="slide_12_pic_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99632" y="1463040"/>
            <a:ext cx="5278831" cy="2926080"/>
          </a:xfrm>
          <a:prstGeom prst="rect">
            <a:avLst/>
          </a:prstGeom>
          <a:ln w="12700">
            <a:solidFill>
              <a:srgbClr val="10B98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199632" y="4526280"/>
            <a:ext cx="5278831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270"/>
              </a:lnSpc>
              <a:spcBef>
                <a:spcPts val="2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Cross-Platform Accessibility: </a:t>
            </a:r>
            <a:r>
              <a:rPr b="0" sz="919">
                <a:solidFill>
                  <a:srgbClr val="334155"/>
                </a:solidFill>
                <a:latin typeface="Segoe UI"/>
              </a:rPr>
              <a:t>Responsive Progressive Web App runs seamlessly across Android smartphones, tablets, Chromebooks, and low-spec PCs.</a:t>
            </a:r>
          </a:p>
          <a:p>
            <a:pPr>
              <a:lnSpc>
                <a:spcPts val="1270"/>
              </a:lnSpc>
              <a:spcBef>
                <a:spcPts val="400"/>
              </a:spcBef>
              <a:spcAft>
                <a:spcPts val="100"/>
              </a:spcAft>
            </a:pPr>
            <a:r>
              <a:rPr b="1" sz="919">
                <a:solidFill>
                  <a:srgbClr val="0284C7"/>
                </a:solidFill>
                <a:latin typeface="Segoe UI"/>
              </a:rPr>
              <a:t>FastAPI &amp; SQLite WAL Backend: </a:t>
            </a:r>
            <a:r>
              <a:rPr b="0" sz="919">
                <a:solidFill>
                  <a:srgbClr val="334155"/>
                </a:solidFill>
                <a:latin typeface="Segoe UI"/>
              </a:rPr>
              <a:t>Lightweight Python microservice handles telemetry ingestion with WAL concurrency, rate-limiting, and sub-10ms response times.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110944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Verified Research &amp; Benchmark Citation: W3C Web Serial API Specification &amp; MDN Web Docs Architecture | Source: https://w3c.github.io/serial-api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08  |  FIELD TRIAL METHODOLOGY &amp; VALIDATION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Controlled 110-Day Hybrid Tomato Experimental Plot Performance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51560"/>
            <a:ext cx="4389120" cy="5303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161288"/>
            <a:ext cx="409651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TRIAL METHODOLOGY &amp;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17320"/>
            <a:ext cx="4059936" cy="48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270"/>
              </a:lnSpc>
              <a:spcBef>
                <a:spcPts val="2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Testing Setup &amp; Duration: </a:t>
            </a:r>
            <a:r>
              <a:rPr b="0" sz="919">
                <a:solidFill>
                  <a:srgbClr val="334155"/>
                </a:solidFill>
                <a:latin typeface="Segoe UI"/>
              </a:rPr>
              <a:t>110-day controlled trial conducted on Hybrid Tomato (HY-203) comparing conventional flood irrigation against AgriSense automated drip.</a:t>
            </a:r>
          </a:p>
          <a:p>
            <a:pPr>
              <a:lnSpc>
                <a:spcPts val="1270"/>
              </a:lnSpc>
              <a:spcBef>
                <a:spcPts val="5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38.4% Water Volume Reduction: </a:t>
            </a:r>
            <a:r>
              <a:rPr b="0" sz="919">
                <a:solidFill>
                  <a:srgbClr val="334155"/>
                </a:solidFill>
                <a:latin typeface="Segoe UI"/>
              </a:rPr>
              <a:t>Water consumption reduced from 420 liters/m² to 258 liters/m² while maintaining optimal root-zone matric potential.</a:t>
            </a:r>
          </a:p>
          <a:p>
            <a:pPr>
              <a:lnSpc>
                <a:spcPts val="1270"/>
              </a:lnSpc>
              <a:spcBef>
                <a:spcPts val="5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22.6% Yield Enhancement: </a:t>
            </a:r>
            <a:r>
              <a:rPr b="0" sz="919">
                <a:solidFill>
                  <a:srgbClr val="334155"/>
                </a:solidFill>
                <a:latin typeface="Segoe UI"/>
              </a:rPr>
              <a:t>Marketable fruit harvest increased from 3.8 kg/plant to 4.66 kg/plant due to consistent moisture and reduced blossom end rot.</a:t>
            </a:r>
          </a:p>
          <a:p>
            <a:pPr>
              <a:lnSpc>
                <a:spcPts val="1270"/>
              </a:lnSpc>
              <a:spcBef>
                <a:spcPts val="5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29.2% Pumping Electricity Saved: </a:t>
            </a:r>
            <a:r>
              <a:rPr b="0" sz="919">
                <a:solidFill>
                  <a:srgbClr val="334155"/>
                </a:solidFill>
                <a:latin typeface="Segoe UI"/>
              </a:rPr>
              <a:t>Pump operational duration decreased from 142 total hours to 100.5 hours, saving energy and grid power costs.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20640" y="1051560"/>
            <a:ext cx="6522415" cy="5303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266944" y="1161288"/>
            <a:ext cx="622980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AGRISENSE VS CONVENTIONAL COMPARISON</a:t>
            </a:r>
          </a:p>
        </p:txBody>
      </p:sp>
      <p:pic>
        <p:nvPicPr>
          <p:cNvPr id="8" name="Picture 7" descr="AgriSense_Pitch_Deck_Slide-8-image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5232" y="1463040"/>
            <a:ext cx="6193231" cy="29260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285232" y="4526280"/>
          <a:ext cx="6193231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371600"/>
                <a:gridCol w="1371600"/>
                <a:gridCol w="1438351"/>
              </a:tblGrid>
              <a:tr h="422910"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0F172A"/>
                          </a:solidFill>
                        </a:defRPr>
                      </a:pPr>
                      <a:r>
                        <a:t>Key Farm Metric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0F172A"/>
                          </a:solidFill>
                        </a:defRPr>
                      </a:pPr>
                      <a:r>
                        <a:t>Flood Irrigation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0F172A"/>
                          </a:solidFill>
                        </a:defRPr>
                      </a:pPr>
                      <a:r>
                        <a:t>AgriSense System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850">
                          <a:solidFill>
                            <a:srgbClr val="0F172A"/>
                          </a:solidFill>
                        </a:defRPr>
                      </a:pPr>
                      <a:r>
                        <a:t>Net Variance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Water Usage / Acre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1,850 m³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1,140 m³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47857"/>
                          </a:solidFill>
                        </a:defRPr>
                      </a:pPr>
                      <a:r>
                        <a:t>-38.4% Saved</a:t>
                      </a:r>
                    </a:p>
                  </a:txBody>
                  <a:tcPr/>
                </a:tc>
              </a:tr>
              <a:tr h="42291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Yield / Acre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14.2 Tonnes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17.4 Tonnes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47857"/>
                          </a:solidFill>
                        </a:defRPr>
                      </a:pPr>
                      <a:r>
                        <a:t>+22.6% Yield</a:t>
                      </a:r>
                    </a:p>
                  </a:txBody>
                  <a:tcPr/>
                </a:tc>
              </a:tr>
              <a:tr h="42291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Electricity Spent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₹4,800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334155"/>
                          </a:solidFill>
                        </a:defRPr>
                      </a:pPr>
                      <a:r>
                        <a:t>₹3,400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047857"/>
                          </a:solidFill>
                        </a:defRPr>
                      </a:pPr>
                      <a:r>
                        <a:t>-29.2% Energy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6510528"/>
            <a:ext cx="110944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Verified Research &amp; Benchmark Citation: Pradhan Mantri Krishi Sinchayee Yojana (PMKSY) Impact Assessment Data | Source: https://pmksy.gov.in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09  |  ECONOMIC IMPACT &amp; COST-BENEFIT ROI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Sub-90 Day Payback for Smallholder Horticulture Farmers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51560"/>
            <a:ext cx="4572000" cy="5303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161288"/>
            <a:ext cx="4279392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1-ACRE TOMATO FARM CASHFLOW (INR ₹)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17320"/>
            <a:ext cx="4242816" cy="4800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270"/>
              </a:lnSpc>
              <a:spcBef>
                <a:spcPts val="2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Initial Node Investment: </a:t>
            </a:r>
            <a:r>
              <a:rPr b="0" sz="919">
                <a:solidFill>
                  <a:srgbClr val="334155"/>
                </a:solidFill>
                <a:latin typeface="Segoe UI"/>
              </a:rPr>
              <a:t>₹1,640 one-time hardware cost (ESP32 node, capacitive probe, optocoupled relays, wiring).</a:t>
            </a:r>
          </a:p>
          <a:p>
            <a:pPr>
              <a:lnSpc>
                <a:spcPts val="1270"/>
              </a:lnSpc>
              <a:spcBef>
                <a:spcPts val="5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Incremental Yield Revenue: </a:t>
            </a:r>
            <a:r>
              <a:rPr b="0" sz="919">
                <a:solidFill>
                  <a:srgbClr val="334155"/>
                </a:solidFill>
                <a:latin typeface="Segoe UI"/>
              </a:rPr>
              <a:t>+3.2 Tonnes/acre @ ₹16/kg wholesale mandi price = +₹51,200 additional gross revenue.</a:t>
            </a:r>
          </a:p>
          <a:p>
            <a:pPr>
              <a:lnSpc>
                <a:spcPts val="1270"/>
              </a:lnSpc>
              <a:spcBef>
                <a:spcPts val="5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Input &amp; Energy Cost Savings: </a:t>
            </a:r>
            <a:r>
              <a:rPr b="0" sz="919">
                <a:solidFill>
                  <a:srgbClr val="334155"/>
                </a:solidFill>
                <a:latin typeface="Segoe UI"/>
              </a:rPr>
              <a:t>Pumping electricity saved: ₹1,400 | Fertilizer leaching avoided: ₹1,800 | Labor automation savings: ₹2,400.</a:t>
            </a:r>
          </a:p>
          <a:p>
            <a:pPr>
              <a:lnSpc>
                <a:spcPts val="1270"/>
              </a:lnSpc>
              <a:spcBef>
                <a:spcPts val="5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Net Income Increase: </a:t>
            </a:r>
            <a:r>
              <a:rPr b="0" sz="919">
                <a:solidFill>
                  <a:srgbClr val="334155"/>
                </a:solidFill>
                <a:latin typeface="Segoe UI"/>
              </a:rPr>
              <a:t>+₹56,800 net farm income gain across a single 110-day crop cycle.</a:t>
            </a:r>
          </a:p>
          <a:p>
            <a:pPr>
              <a:lnSpc>
                <a:spcPts val="1270"/>
              </a:lnSpc>
              <a:spcBef>
                <a:spcPts val="5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Payback Period: </a:t>
            </a:r>
            <a:r>
              <a:rPr b="0" sz="919">
                <a:solidFill>
                  <a:srgbClr val="334155"/>
                </a:solidFill>
                <a:latin typeface="Segoe UI"/>
              </a:rPr>
              <a:t>&lt; 28 days of active cultivation — amortized fully within the first harvest cycle.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1051560"/>
            <a:ext cx="6339535" cy="5303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49824" y="1161288"/>
            <a:ext cx="604692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COST COMPARISON: AGRISENSE VS COMMERCIAL SYSTEMS</a:t>
            </a:r>
          </a:p>
        </p:txBody>
      </p:sp>
      <p:pic>
        <p:nvPicPr>
          <p:cNvPr id="8" name="Picture 7" descr="AgriSense_Pitch_Deck_Slide-8-image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68112" y="1463040"/>
            <a:ext cx="6010351" cy="29260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68112" y="4526280"/>
            <a:ext cx="6010351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270"/>
              </a:lnSpc>
              <a:spcBef>
                <a:spcPts val="200"/>
              </a:spcBef>
              <a:spcAft>
                <a:spcPts val="100"/>
              </a:spcAft>
            </a:pPr>
            <a:r>
              <a:rPr b="1" sz="919">
                <a:solidFill>
                  <a:srgbClr val="047857"/>
                </a:solidFill>
                <a:latin typeface="Segoe UI"/>
              </a:rPr>
              <a:t>Zero Vendor Lock-In: </a:t>
            </a:r>
            <a:r>
              <a:rPr b="0" sz="919">
                <a:solidFill>
                  <a:srgbClr val="334155"/>
                </a:solidFill>
                <a:latin typeface="Segoe UI"/>
              </a:rPr>
              <a:t>100% open-source firmware and standard off-the-shelf components ensure farmers can replace any spare part for under ₹150 locally.</a:t>
            </a:r>
          </a:p>
          <a:p>
            <a:pPr>
              <a:lnSpc>
                <a:spcPts val="1270"/>
              </a:lnSpc>
              <a:spcBef>
                <a:spcPts val="400"/>
              </a:spcBef>
              <a:spcAft>
                <a:spcPts val="100"/>
              </a:spcAft>
            </a:pPr>
            <a:r>
              <a:rPr b="1" sz="919">
                <a:solidFill>
                  <a:srgbClr val="0284C7"/>
                </a:solidFill>
                <a:latin typeface="Segoe UI"/>
              </a:rPr>
              <a:t>Community Scaling via FPOs: </a:t>
            </a:r>
            <a:r>
              <a:rPr b="0" sz="919">
                <a:solidFill>
                  <a:srgbClr val="334155"/>
                </a:solidFill>
                <a:latin typeface="Segoe UI"/>
              </a:rPr>
              <a:t>Farmer Producer Organizations can purchase raw components in bulk to assemble nodes locally, lowering unit costs to ₹1,350.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110944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Verified Research &amp; Benchmark Citation: NABARD Rural Infrastructure &amp; Farmer Net Income Evaluation Reports | Source: https://nabard.org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10  |  SUSTAINABILITY &amp; UN SDG ALIGNMENT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Quantifiable Alignment with Global Sustainable Development Goals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97280"/>
            <a:ext cx="6858000" cy="1143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1207008"/>
            <a:ext cx="6528816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59669"/>
                </a:solidFill>
                <a:latin typeface="Segoe UI"/>
              </a:defRPr>
            </a:pPr>
            <a:r>
              <a:t>SDG 2: ZERO HUNGER (Target 2.3 &amp; 2.4)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Segoe UI"/>
              </a:defRPr>
            </a:pPr>
            <a:r>
              <a:t>Increases smallholder agricultural productivity by 20-35% and fosters resilient farming practices that withstand drought and erratic weather patterns.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2377439"/>
            <a:ext cx="6858000" cy="1143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2487167"/>
            <a:ext cx="6528816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284C7"/>
                </a:solidFill>
                <a:latin typeface="Segoe UI"/>
              </a:defRPr>
            </a:pPr>
            <a:r>
              <a:t>SDG 6: CLEAN WATER &amp; SANITATION (Target 6.4)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Segoe UI"/>
              </a:defRPr>
            </a:pPr>
            <a:r>
              <a:t>Saves 30-50% irrigation water via root-zone capacitive moisture feedback, preventing aquifer over-drafting and preserving local groundwater reserves.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657600"/>
            <a:ext cx="6858000" cy="1143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3232" y="3767328"/>
            <a:ext cx="6528816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D97706"/>
                </a:solidFill>
                <a:latin typeface="Segoe UI"/>
              </a:defRPr>
            </a:pPr>
            <a:r>
              <a:t>SDG 12: RESPONSIBLE CONSUMPTION (Target 12.2)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Segoe UI"/>
              </a:defRPr>
            </a:pPr>
            <a:r>
              <a:t>Eliminates fertilizer runoff and leaching by preventing excessive flood irrigation, protecting downstream soil health and drinking water tables.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937759"/>
            <a:ext cx="6858000" cy="114300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5047487"/>
            <a:ext cx="6528816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47857"/>
                </a:solidFill>
                <a:latin typeface="Segoe UI"/>
              </a:defRPr>
            </a:pPr>
            <a:r>
              <a:t>SDG 13: CLIMATE ACTION (Target 13.1)</a:t>
            </a:r>
          </a:p>
          <a:p>
            <a:pPr>
              <a:spcBef>
                <a:spcPts val="300"/>
              </a:spcBef>
              <a:defRPr sz="900">
                <a:solidFill>
                  <a:srgbClr val="334155"/>
                </a:solidFill>
                <a:latin typeface="Segoe UI"/>
              </a:defRPr>
            </a:pPr>
            <a:r>
              <a:t>Reduces agricultural diesel/electric pumping energy by ~29%, lowering carbon emissions while equipping farmers to adapt to climate volatility.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0" y="1051560"/>
            <a:ext cx="4053535" cy="5303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35824" y="1161288"/>
            <a:ext cx="376092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SDG IMPACT SUMMARY &amp; METRICS</a:t>
            </a:r>
          </a:p>
        </p:txBody>
      </p:sp>
      <p:pic>
        <p:nvPicPr>
          <p:cNvPr id="13" name="Picture 12" descr="AgriSense_Pitch_Deck_Slide-8-image-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4112" y="1463040"/>
            <a:ext cx="3724351" cy="292608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7754112" y="4526280"/>
            <a:ext cx="3724351" cy="1691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250"/>
              </a:lnSpc>
              <a:spcBef>
                <a:spcPts val="200"/>
              </a:spcBef>
              <a:spcAft>
                <a:spcPts val="100"/>
              </a:spcAft>
            </a:pPr>
            <a:r>
              <a:rPr b="1" sz="900">
                <a:solidFill>
                  <a:srgbClr val="047857"/>
                </a:solidFill>
                <a:latin typeface="Segoe UI"/>
              </a:rPr>
              <a:t>Water Conservation Rate: </a:t>
            </a:r>
            <a:r>
              <a:rPr b="0" sz="900">
                <a:solidFill>
                  <a:srgbClr val="334155"/>
                </a:solidFill>
                <a:latin typeface="Segoe UI"/>
              </a:rPr>
              <a:t>380,000+ liters of water saved per acre annually under automated irrigation regimes.</a:t>
            </a:r>
          </a:p>
          <a:p>
            <a:pPr>
              <a:lnSpc>
                <a:spcPts val="1250"/>
              </a:lnSpc>
              <a:spcBef>
                <a:spcPts val="400"/>
              </a:spcBef>
              <a:spcAft>
                <a:spcPts val="100"/>
              </a:spcAft>
            </a:pPr>
            <a:r>
              <a:rPr b="1" sz="900">
                <a:solidFill>
                  <a:srgbClr val="0284C7"/>
                </a:solidFill>
                <a:latin typeface="Segoe UI"/>
              </a:rPr>
              <a:t>Carbon Footprint Abatement: </a:t>
            </a:r>
            <a:r>
              <a:rPr b="0" sz="900">
                <a:solidFill>
                  <a:srgbClr val="334155"/>
                </a:solidFill>
                <a:latin typeface="Segoe UI"/>
              </a:rPr>
              <a:t>~140 kg CO₂ equivalent reduction per acre per cropping cycle from reduced pumping runtimes.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110944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Verified Research &amp; Benchmark Citation: United Nations Sustainable Development Goals Knowledge Platform | Source: https://sdgs.un.org/goals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11  |  DEPLOYMENT ROADMAP &amp; SCALABILITY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From School Innovation Lab to Community-Wide Agricultural Mesh Networks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51560"/>
            <a:ext cx="2697480" cy="5303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051560"/>
            <a:ext cx="2697480" cy="502920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PHASE 1: LAB PROTOTYPE (COMPLETED)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645920"/>
            <a:ext cx="2478024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300"/>
              </a:lnSpc>
              <a:spcBef>
                <a:spcPts val="400"/>
              </a:spcBef>
              <a:spcAft>
                <a:spcPts val="200"/>
              </a:spcAft>
              <a:defRPr sz="880">
                <a:solidFill>
                  <a:srgbClr val="334155"/>
                </a:solidFill>
                <a:latin typeface="Segoe UI"/>
              </a:defRPr>
            </a:pPr>
            <a:r>
              <a:t>• Built ESP32 hardware node with capacitive soil &amp; DHT11 sensors</a:t>
            </a:r>
          </a:p>
          <a:p>
            <a:pPr>
              <a:lnSpc>
                <a:spcPts val="1300"/>
              </a:lnSpc>
              <a:spcBef>
                <a:spcPts val="400"/>
              </a:spcBef>
              <a:spcAft>
                <a:spcPts val="200"/>
              </a:spcAft>
              <a:defRPr sz="880">
                <a:solidFill>
                  <a:srgbClr val="334155"/>
                </a:solidFill>
                <a:latin typeface="Segoe UI"/>
              </a:defRPr>
            </a:pPr>
            <a:r>
              <a:t>• Verified active-LOW relay safety and 15-min pump watchdog</a:t>
            </a:r>
          </a:p>
          <a:p>
            <a:pPr>
              <a:lnSpc>
                <a:spcPts val="1300"/>
              </a:lnSpc>
              <a:spcBef>
                <a:spcPts val="400"/>
              </a:spcBef>
              <a:spcAft>
                <a:spcPts val="200"/>
              </a:spcAft>
              <a:defRPr sz="880">
                <a:solidFill>
                  <a:srgbClr val="334155"/>
                </a:solidFill>
                <a:latin typeface="Segoe UI"/>
              </a:defRPr>
            </a:pPr>
            <a:r>
              <a:t>• Built browser Web Serial real-time telemetry dashboard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64992" y="1051560"/>
            <a:ext cx="2697480" cy="5303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364992" y="1051560"/>
            <a:ext cx="2697480" cy="502920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PHASE 2: FPO PILOT (MONTHS 1-6)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74720" y="1645920"/>
            <a:ext cx="2478024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300"/>
              </a:lnSpc>
              <a:spcBef>
                <a:spcPts val="400"/>
              </a:spcBef>
              <a:spcAft>
                <a:spcPts val="200"/>
              </a:spcAft>
              <a:defRPr sz="880">
                <a:solidFill>
                  <a:srgbClr val="334155"/>
                </a:solidFill>
                <a:latin typeface="Segoe UI"/>
              </a:defRPr>
            </a:pPr>
            <a:r>
              <a:t>• Deploy 25 trial nodes across Farmer Producer Organizations (FPOs)</a:t>
            </a:r>
          </a:p>
          <a:p>
            <a:pPr>
              <a:lnSpc>
                <a:spcPts val="1300"/>
              </a:lnSpc>
              <a:spcBef>
                <a:spcPts val="400"/>
              </a:spcBef>
              <a:spcAft>
                <a:spcPts val="200"/>
              </a:spcAft>
              <a:defRPr sz="880">
                <a:solidFill>
                  <a:srgbClr val="334155"/>
                </a:solidFill>
                <a:latin typeface="Segoe UI"/>
              </a:defRPr>
            </a:pPr>
            <a:r>
              <a:t>• Calibrate soil retention profiles for Clay Loam and Alluvial soils</a:t>
            </a:r>
          </a:p>
          <a:p>
            <a:pPr>
              <a:lnSpc>
                <a:spcPts val="1300"/>
              </a:lnSpc>
              <a:spcBef>
                <a:spcPts val="400"/>
              </a:spcBef>
              <a:spcAft>
                <a:spcPts val="200"/>
              </a:spcAft>
              <a:defRPr sz="880">
                <a:solidFill>
                  <a:srgbClr val="334155"/>
                </a:solidFill>
                <a:latin typeface="Segoe UI"/>
              </a:defRPr>
            </a:pPr>
            <a:r>
              <a:t>• Integrate local SMS and IVR voice advisory triggers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1344" y="1051560"/>
            <a:ext cx="2697480" cy="5303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1344" y="1051560"/>
            <a:ext cx="2697480" cy="5029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PHASE 3: LORAWAN MESH (MONTHS 7-12)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91072" y="1645920"/>
            <a:ext cx="2478024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300"/>
              </a:lnSpc>
              <a:spcBef>
                <a:spcPts val="400"/>
              </a:spcBef>
              <a:spcAft>
                <a:spcPts val="200"/>
              </a:spcAft>
              <a:defRPr sz="880">
                <a:solidFill>
                  <a:srgbClr val="334155"/>
                </a:solidFill>
                <a:latin typeface="Segoe UI"/>
              </a:defRPr>
            </a:pPr>
            <a:r>
              <a:t>• Implement SX1262 LoRa modules for 5km long-range telemetry</a:t>
            </a:r>
          </a:p>
          <a:p>
            <a:pPr>
              <a:lnSpc>
                <a:spcPts val="1300"/>
              </a:lnSpc>
              <a:spcBef>
                <a:spcPts val="400"/>
              </a:spcBef>
              <a:spcAft>
                <a:spcPts val="200"/>
              </a:spcAft>
              <a:defRPr sz="880">
                <a:solidFill>
                  <a:srgbClr val="334155"/>
                </a:solidFill>
                <a:latin typeface="Segoe UI"/>
              </a:defRPr>
            </a:pPr>
            <a:r>
              <a:t>• Enable 1 solar gateway to service 50 surrounding farm nodes</a:t>
            </a:r>
          </a:p>
          <a:p>
            <a:pPr>
              <a:lnSpc>
                <a:spcPts val="1300"/>
              </a:lnSpc>
              <a:spcBef>
                <a:spcPts val="400"/>
              </a:spcBef>
              <a:spcAft>
                <a:spcPts val="200"/>
              </a:spcAft>
              <a:defRPr sz="880">
                <a:solidFill>
                  <a:srgbClr val="334155"/>
                </a:solidFill>
                <a:latin typeface="Segoe UI"/>
              </a:defRPr>
            </a:pPr>
            <a:r>
              <a:t>• Reduce individual sensor node BOM to under ₹1,200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7696" y="1051560"/>
            <a:ext cx="2697480" cy="530352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0478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997696" y="1051560"/>
            <a:ext cx="2697480" cy="50292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Segoe UI"/>
              </a:defRPr>
            </a:pPr>
            <a:r>
              <a:t>PHASE 4: SATELLITE SYNC (YEAR 2+)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07424" y="1645920"/>
            <a:ext cx="2478024" cy="457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/>
          <a:p>
            <a:pPr>
              <a:lnSpc>
                <a:spcPts val="1300"/>
              </a:lnSpc>
              <a:spcBef>
                <a:spcPts val="400"/>
              </a:spcBef>
              <a:spcAft>
                <a:spcPts val="200"/>
              </a:spcAft>
              <a:defRPr sz="880">
                <a:solidFill>
                  <a:srgbClr val="334155"/>
                </a:solidFill>
                <a:latin typeface="Segoe UI"/>
              </a:defRPr>
            </a:pPr>
            <a:r>
              <a:t>• Integrate Sentinel-2 NDVI and ISRO Bhuvan satellite imagery</a:t>
            </a:r>
          </a:p>
          <a:p>
            <a:pPr>
              <a:lnSpc>
                <a:spcPts val="1300"/>
              </a:lnSpc>
              <a:spcBef>
                <a:spcPts val="400"/>
              </a:spcBef>
              <a:spcAft>
                <a:spcPts val="200"/>
              </a:spcAft>
              <a:defRPr sz="880">
                <a:solidFill>
                  <a:srgbClr val="334155"/>
                </a:solidFill>
                <a:latin typeface="Segoe UI"/>
              </a:defRPr>
            </a:pPr>
            <a:r>
              <a:t>• Cross-validate ground moisture readings with multi-spectral data</a:t>
            </a:r>
          </a:p>
          <a:p>
            <a:pPr>
              <a:lnSpc>
                <a:spcPts val="1300"/>
              </a:lnSpc>
              <a:spcBef>
                <a:spcPts val="400"/>
              </a:spcBef>
              <a:spcAft>
                <a:spcPts val="200"/>
              </a:spcAft>
              <a:defRPr sz="880">
                <a:solidFill>
                  <a:srgbClr val="334155"/>
                </a:solidFill>
                <a:latin typeface="Segoe UI"/>
              </a:defRPr>
            </a:pPr>
            <a:r>
              <a:t>• Provide regional drought &amp; pest early warning broadcasts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110944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Verified Research &amp; Benchmark Citation: Department of Agriculture &amp; Farmers Welfare Central FPO Scheme Guidelines | Source: https://agriwelfare.gov.in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"/>
            <a:ext cx="1109441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SLIDE 12  |  TEAM, MENTORSHIP &amp; INSTITUTIONAL VISION</a:t>
            </a:r>
          </a:p>
          <a:p>
            <a:pPr>
              <a:spcBef>
                <a:spcPts val="200"/>
              </a:spcBef>
              <a:defRPr sz="1700" b="1">
                <a:solidFill>
                  <a:srgbClr val="0F172A"/>
                </a:solidFill>
                <a:latin typeface="Segoe UI"/>
              </a:defRPr>
            </a:pPr>
            <a:r>
              <a:t>Student Innovation &amp; Applied Engineering at Bal Bharati Public School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051560"/>
            <a:ext cx="11094415" cy="1005840"/>
          </a:xfrm>
          <a:prstGeom prst="roundRect">
            <a:avLst/>
          </a:prstGeom>
          <a:solidFill>
            <a:srgbClr val="F0FDF4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94944" y="1161288"/>
            <a:ext cx="10801807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INSTITUTIONAL AFFILIATION &amp; ATAL TINKERING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371600"/>
            <a:ext cx="10765231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047857"/>
                </a:solidFill>
                <a:latin typeface="Segoe UI"/>
              </a:defRPr>
            </a:pPr>
            <a:r>
              <a:t>Bal Bharati Public School — Atal Tinkering Lab &amp; STEM Research Innovation Hub</a:t>
            </a:r>
          </a:p>
          <a:p>
            <a:pPr>
              <a:spcBef>
                <a:spcPts val="200"/>
              </a:spcBef>
              <a:defRPr sz="950">
                <a:solidFill>
                  <a:srgbClr val="334155"/>
                </a:solidFill>
                <a:latin typeface="Segoe UI"/>
              </a:defRPr>
            </a:pPr>
            <a:r>
              <a:t>Project Mentor: Ms. Deepika Dutt  |  Objective: Democratizing precision agriculture technology for smallholder farmers through accessible, open-source student engineering.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76272"/>
            <a:ext cx="2121408" cy="3291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2286000"/>
            <a:ext cx="1901952" cy="3063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47857"/>
                </a:solidFill>
                <a:latin typeface="Segoe UI"/>
              </a:defRPr>
            </a:pPr>
            <a:r>
              <a:t>Pranav Saxena</a:t>
            </a:r>
          </a:p>
          <a:p>
            <a:pPr>
              <a:spcBef>
                <a:spcPts val="200"/>
              </a:spcBef>
              <a:defRPr sz="850" b="1">
                <a:solidFill>
                  <a:srgbClr val="D97706"/>
                </a:solidFill>
                <a:latin typeface="Segoe UI"/>
              </a:defRPr>
            </a:pPr>
            <a:r>
              <a:t>Lead Embedded Architect</a:t>
            </a:r>
            <a:br/>
            <a:r>
              <a:t>&amp; Fullstack Developer</a:t>
            </a:r>
          </a:p>
          <a:p>
            <a:pPr>
              <a:spcBef>
                <a:spcPts val="100"/>
              </a:spcBef>
              <a:defRPr sz="600">
                <a:solidFill>
                  <a:srgbClr val="E2E8F0"/>
                </a:solidFill>
              </a:defRPr>
            </a:pPr>
            <a:r>
              <a:t>——————————</a:t>
            </a:r>
          </a:p>
          <a:p>
            <a:pPr>
              <a:lnSpc>
                <a:spcPts val="1150"/>
              </a:lnSpc>
              <a:spcBef>
                <a:spcPts val="200"/>
              </a:spcBef>
              <a:defRPr sz="819">
                <a:solidFill>
                  <a:srgbClr val="334155"/>
                </a:solidFill>
                <a:latin typeface="Segoe UI"/>
              </a:defRPr>
            </a:pPr>
            <a:r>
              <a:t>ESP32 firmware architecture, Web Serial API engine, and closed-loop actuation logic.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88920" y="2176272"/>
            <a:ext cx="2121408" cy="3291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98648" y="2286000"/>
            <a:ext cx="1901952" cy="3063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47857"/>
                </a:solidFill>
                <a:latin typeface="Segoe UI"/>
              </a:defRPr>
            </a:pPr>
            <a:r>
              <a:t>Hiyasha Deviyal</a:t>
            </a:r>
          </a:p>
          <a:p>
            <a:pPr>
              <a:spcBef>
                <a:spcPts val="200"/>
              </a:spcBef>
              <a:defRPr sz="850" b="1">
                <a:solidFill>
                  <a:srgbClr val="D97706"/>
                </a:solidFill>
                <a:latin typeface="Segoe UI"/>
              </a:defRPr>
            </a:pPr>
            <a:r>
              <a:t>Agronomy &amp; Soil</a:t>
            </a:r>
            <a:br/>
            <a:r>
              <a:t>Physics Specialist</a:t>
            </a:r>
          </a:p>
          <a:p>
            <a:pPr>
              <a:spcBef>
                <a:spcPts val="100"/>
              </a:spcBef>
              <a:defRPr sz="600">
                <a:solidFill>
                  <a:srgbClr val="E2E8F0"/>
                </a:solidFill>
              </a:defRPr>
            </a:pPr>
            <a:r>
              <a:t>——————————</a:t>
            </a:r>
          </a:p>
          <a:p>
            <a:pPr>
              <a:lnSpc>
                <a:spcPts val="1150"/>
              </a:lnSpc>
              <a:spcBef>
                <a:spcPts val="200"/>
              </a:spcBef>
              <a:defRPr sz="819">
                <a:solidFill>
                  <a:srgbClr val="334155"/>
                </a:solidFill>
                <a:latin typeface="Segoe UI"/>
              </a:defRPr>
            </a:pPr>
            <a:r>
              <a:t>Soil water retention modelling, VPD transpiration calculations, and crop stage thresholds.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176272"/>
            <a:ext cx="2121408" cy="3291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38928" y="2286000"/>
            <a:ext cx="1901952" cy="3063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47857"/>
                </a:solidFill>
                <a:latin typeface="Segoe UI"/>
              </a:defRPr>
            </a:pPr>
            <a:r>
              <a:t>Chaitanya Vashisht</a:t>
            </a:r>
          </a:p>
          <a:p>
            <a:pPr>
              <a:spcBef>
                <a:spcPts val="200"/>
              </a:spcBef>
              <a:defRPr sz="850" b="1">
                <a:solidFill>
                  <a:srgbClr val="D97706"/>
                </a:solidFill>
                <a:latin typeface="Segoe UI"/>
              </a:defRPr>
            </a:pPr>
            <a:r>
              <a:t>Hardware Circuitry</a:t>
            </a:r>
            <a:br/>
            <a:r>
              <a:t>&amp; Power Engineer</a:t>
            </a:r>
          </a:p>
          <a:p>
            <a:pPr>
              <a:spcBef>
                <a:spcPts val="100"/>
              </a:spcBef>
              <a:defRPr sz="600">
                <a:solidFill>
                  <a:srgbClr val="E2E8F0"/>
                </a:solidFill>
              </a:defRPr>
            </a:pPr>
            <a:r>
              <a:t>——————————</a:t>
            </a:r>
          </a:p>
          <a:p>
            <a:pPr>
              <a:lnSpc>
                <a:spcPts val="1150"/>
              </a:lnSpc>
              <a:spcBef>
                <a:spcPts val="200"/>
              </a:spcBef>
              <a:defRPr sz="819">
                <a:solidFill>
                  <a:srgbClr val="334155"/>
                </a:solidFill>
                <a:latin typeface="Segoe UI"/>
              </a:defRPr>
            </a:pPr>
            <a:r>
              <a:t>PCB breadboard wiring, relay optocoupler safety isolation, and power efficiency.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69480" y="2176272"/>
            <a:ext cx="2121408" cy="3291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79208" y="2286000"/>
            <a:ext cx="1901952" cy="3063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47857"/>
                </a:solidFill>
                <a:latin typeface="Segoe UI"/>
              </a:defRPr>
            </a:pPr>
            <a:r>
              <a:t>Kairavi Patel</a:t>
            </a:r>
          </a:p>
          <a:p>
            <a:pPr>
              <a:spcBef>
                <a:spcPts val="200"/>
              </a:spcBef>
              <a:defRPr sz="850" b="1">
                <a:solidFill>
                  <a:srgbClr val="D97706"/>
                </a:solidFill>
                <a:latin typeface="Segoe UI"/>
              </a:defRPr>
            </a:pPr>
            <a:r>
              <a:t>UI/UX &amp; Telemetry</a:t>
            </a:r>
            <a:br/>
            <a:r>
              <a:t>Analytics Lead</a:t>
            </a:r>
          </a:p>
          <a:p>
            <a:pPr>
              <a:spcBef>
                <a:spcPts val="100"/>
              </a:spcBef>
              <a:defRPr sz="600">
                <a:solidFill>
                  <a:srgbClr val="E2E8F0"/>
                </a:solidFill>
              </a:defRPr>
            </a:pPr>
            <a:r>
              <a:t>——————————</a:t>
            </a:r>
          </a:p>
          <a:p>
            <a:pPr>
              <a:lnSpc>
                <a:spcPts val="1150"/>
              </a:lnSpc>
              <a:spcBef>
                <a:spcPts val="200"/>
              </a:spcBef>
              <a:defRPr sz="819">
                <a:solidFill>
                  <a:srgbClr val="334155"/>
                </a:solidFill>
                <a:latin typeface="Segoe UI"/>
              </a:defRPr>
            </a:pPr>
            <a:r>
              <a:t>Web dashboard interface, 60 FPS oscilloscope graphs, and multilingual voice alerts.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2176272"/>
            <a:ext cx="2121408" cy="329184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19488" y="2286000"/>
            <a:ext cx="1901952" cy="3063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047857"/>
                </a:solidFill>
                <a:latin typeface="Segoe UI"/>
              </a:defRPr>
            </a:pPr>
            <a:r>
              <a:t>Eekansh Patni</a:t>
            </a:r>
          </a:p>
          <a:p>
            <a:pPr>
              <a:spcBef>
                <a:spcPts val="200"/>
              </a:spcBef>
              <a:defRPr sz="850" b="1">
                <a:solidFill>
                  <a:srgbClr val="D97706"/>
                </a:solidFill>
                <a:latin typeface="Segoe UI"/>
              </a:defRPr>
            </a:pPr>
            <a:r>
              <a:t>Sensor Calibration</a:t>
            </a:r>
            <a:br/>
            <a:r>
              <a:t>&amp; Field Testing</a:t>
            </a:r>
          </a:p>
          <a:p>
            <a:pPr>
              <a:spcBef>
                <a:spcPts val="100"/>
              </a:spcBef>
              <a:defRPr sz="600">
                <a:solidFill>
                  <a:srgbClr val="E2E8F0"/>
                </a:solidFill>
              </a:defRPr>
            </a:pPr>
            <a:r>
              <a:t>——————————</a:t>
            </a:r>
          </a:p>
          <a:p>
            <a:pPr>
              <a:lnSpc>
                <a:spcPts val="1150"/>
              </a:lnSpc>
              <a:spcBef>
                <a:spcPts val="200"/>
              </a:spcBef>
              <a:defRPr sz="819">
                <a:solidFill>
                  <a:srgbClr val="334155"/>
                </a:solidFill>
                <a:latin typeface="Segoe UI"/>
              </a:defRPr>
            </a:pPr>
            <a:r>
              <a:t>Dual-point ADC sensor calibration, 15-minute failsafe watchdog, and field testing.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577840"/>
            <a:ext cx="11094415" cy="822960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3232" y="5650992"/>
            <a:ext cx="10765231" cy="6583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50" b="1">
                <a:solidFill>
                  <a:srgbClr val="059669"/>
                </a:solidFill>
                <a:latin typeface="Segoe UI"/>
              </a:defRPr>
            </a:pPr>
            <a:r>
              <a:t>🌾 AgriSense: Empowering Smallholder Agriculture with Accessible, Sustainable Technology</a:t>
            </a:r>
          </a:p>
          <a:p>
            <a:pPr>
              <a:spcBef>
                <a:spcPts val="200"/>
              </a:spcBef>
              <a:defRPr sz="900">
                <a:solidFill>
                  <a:srgbClr val="0284C7"/>
                </a:solidFill>
                <a:latin typeface="Segoe UI"/>
              </a:defRPr>
            </a:pPr>
            <a:r>
              <a:t>Live Web Application: http://localhost:5173  |  Open Source Repository: https://github.com/pranavsaxenaofficial11-coder/agrisense-fullstack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11094415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>
                <a:solidFill>
                  <a:srgbClr val="0284C7"/>
                </a:solidFill>
                <a:latin typeface="Segoe UI"/>
              </a:defRPr>
            </a:pPr>
            <a:r>
              <a:t>Verified Research &amp; Benchmark Citation: Bal Bharati Public School Atal Innovation Mission (AIM), NITI Aayog | Source: https://aim.gov.in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