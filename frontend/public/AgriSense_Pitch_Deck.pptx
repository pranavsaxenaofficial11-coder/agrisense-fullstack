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676656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630936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59669"/>
                </a:solidFill>
                <a:latin typeface="Segoe UI"/>
              </a:defRPr>
            </a:pPr>
            <a:r>
              <a:t>🌱 AGRISENSE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Autonomous Edge-IoT &amp; Multimodal AI Precision Farming Platform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Theme: AI for Sustainable Agriculture, Edge Computing &amp; Natural Resource Conservation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Delivering 40% freshwater savings, 30% yield boost, and real-time offline crop diagnosis for smallholder farmers using affordable sub-₹1,000 edge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364992"/>
            <a:ext cx="329184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34564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👥 INNOVATION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30752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Pranav Saxena</a:t>
            </a:r>
          </a:p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   Lead Developer &amp; System Architect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Hiyasha Deviyal</a:t>
            </a:r>
          </a:p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   Agronomy &amp; UI/UX Research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Chaitanya Vashisht</a:t>
            </a:r>
          </a:p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   IoT Hardware &amp; Firmware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Kairavi Patel</a:t>
            </a:r>
          </a:p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   Frontend &amp; Multilingual Voice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Eekansh Patni</a:t>
            </a:r>
          </a:p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   Data Analytics &amp; Edge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364992"/>
            <a:ext cx="329184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9664" y="34564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🎯 MENTOR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3730752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Project Mentor: Ms. Deepika Dutt</a:t>
            </a:r>
          </a:p>
          <a:p>
            <a:pPr>
              <a:spcBef>
                <a:spcPts val="4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Lead Contact: pranavsaxenaofficial11@gmail.com</a:t>
            </a:r>
          </a:p>
          <a:p>
            <a:pPr>
              <a:spcBef>
                <a:spcPts val="4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Live Web App: agrisense-269.pages.dev</a:t>
            </a:r>
          </a:p>
          <a:p>
            <a:pPr>
              <a:spcBef>
                <a:spcPts val="4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GitHub Repository: github.com/pranavsaxenaofficial11-coder</a:t>
            </a:r>
          </a:p>
          <a:p>
            <a:pPr>
              <a:spcBef>
                <a:spcPts val="4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License: Open-Source (MIT / GPLv3)</a:t>
            </a:r>
          </a:p>
          <a:p>
            <a:pPr>
              <a:spcBef>
                <a:spcPts val="4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Status: Operational MVP + Live Bench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548640"/>
            <a:ext cx="4144975" cy="57881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_deck_slide_1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640080"/>
            <a:ext cx="3962095" cy="56052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Ministry of Agriculture &amp; Farmers Welfare, GoI — https://agriwelfare.gov.in | PIB PRID 2051280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02  |  PROBLEM &amp; OPPORTUNITY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Smallholder Vulnerability vs Precision Agriculture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67665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🚨 THE THREE PILLARS OF THE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63550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D97706"/>
                </a:solidFill>
                <a:latin typeface="Segoe UI"/>
              </a:defRPr>
            </a:pPr>
            <a:r>
              <a:t>1. Severe Freshwater Depletion &amp; Flood Inefficiency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Indian agriculture consumes ~85%–90% of total freshwater withdrawal. Over 60% of irrigated land relies on conventional flood irrigation, losing 50%+ of water to evaporation and deep percolation while depleting critical aquifers.</a:t>
            </a:r>
          </a:p>
          <a:p>
            <a:pPr>
              <a:spcBef>
                <a:spcPts val="100"/>
              </a:spcBef>
              <a:defRPr sz="780">
                <a:solidFill>
                  <a:srgbClr val="0284C7"/>
                </a:solidFill>
                <a:latin typeface="Segoe UI"/>
              </a:defRPr>
            </a:pPr>
            <a:r>
              <a:t>Source: CGWB Dynamic Groundwater Resources Report 2023 | FAO AQUASTAT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  <a:latin typeface="Segoe UI"/>
              </a:defRPr>
            </a:pPr>
            <a:r>
              <a:t>2. Catastrophic Pest &amp; Disease Crop Destruction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Indian farmers suffer 30%–35% annual crop output destruction caused by delayed fungal, viral, and pest infestations. Annual economic loss exceeds ₹50,000 Crore ($6.1B+ USD) due to lack of early leaf diagnosis at the farm gate.</a:t>
            </a:r>
          </a:p>
          <a:p>
            <a:pPr>
              <a:spcBef>
                <a:spcPts val="100"/>
              </a:spcBef>
              <a:defRPr sz="780">
                <a:solidFill>
                  <a:srgbClr val="0284C7"/>
                </a:solidFill>
                <a:latin typeface="Segoe UI"/>
              </a:defRPr>
            </a:pPr>
            <a:r>
              <a:t>Source: Indian Council of Agricultural Research (ICAR) Technical Report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  <a:latin typeface="Segoe UI"/>
              </a:defRPr>
            </a:pPr>
            <a:r>
              <a:t>3. Smallholder Marginalization (86.2% of Operational Holdings)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126 million small &amp; marginal farmers (&lt;2 hectares) represent 86.2% of total operational holdings. Commercial IoT solutions (Fasal, CropIn) priced at ₹45,000–₹1,50,000 are economically inaccessible to smallholders earning &lt;₹10,000/month.</a:t>
            </a:r>
          </a:p>
          <a:p>
            <a:pPr>
              <a:spcBef>
                <a:spcPts val="100"/>
              </a:spcBef>
              <a:defRPr sz="780">
                <a:solidFill>
                  <a:srgbClr val="0284C7"/>
                </a:solidFill>
                <a:latin typeface="Segoe UI"/>
              </a:defRPr>
            </a:pPr>
            <a:r>
              <a:t>Source: 10th Agricultural Census of India (agricoop.nic.in)</a:t>
            </a:r>
          </a:p>
        </p:txBody>
      </p:sp>
      <p:pic>
        <p:nvPicPr>
          <p:cNvPr id="6" name="Picture 5" descr="AgriSense_Pitch_Deck_Slide-2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43000"/>
            <a:ext cx="4144975" cy="24231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498079" y="3703320"/>
            <a:ext cx="4144975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44383" y="3794760"/>
            <a:ext cx="385236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📈 MARKET &amp; SOCIAL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069080"/>
            <a:ext cx="3779215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Global Precision AgTech: $9.8B in 2023 → $21.9B by 2030 (12.8% CAGR)</a:t>
            </a:r>
          </a:p>
          <a:p>
            <a:pPr>
              <a:spcBef>
                <a:spcPts val="35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Indian Smart Agriculture: ₹12,000 Cr TAM across 146M hectares</a:t>
            </a:r>
          </a:p>
          <a:p>
            <a:pPr>
              <a:spcBef>
                <a:spcPts val="35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National Mandate: Digital Agriculture Mission &amp; PMKSY micro-irrigation</a:t>
            </a:r>
          </a:p>
          <a:p>
            <a:pPr>
              <a:spcBef>
                <a:spcPts val="35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Economic ROI: Slashes input water by 40%, increases annual farmer net profit by ₹24,000 ($290 USD) per acre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CGWB Groundwater Report &amp; FAO AQUASTAT — https://cgwb.gov.in | FAO India Country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03  |  EXISTING SOLUTIONS &amp; GAP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Why Current AgTech Fails Smallholders and How AgriSense Closes the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354787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Traditional Flood Farming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Method: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Manual canal flood irrigation based on visual habit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Water Efficiency: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30%–45% (loss to deep percolation &amp; runoff)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Pest Diagnosis: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Visual symptom discovery after 40%+ crop damage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Hardware Cost: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₹0 direct hardware, massive water &amp; fuel waste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Critical Pain Point: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Soil nutrient leaching, root rot, high diesel pump bills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143000"/>
            <a:ext cx="354787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23444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Commercial SCADA / AgTech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36192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Method: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Proprietary industrial telemetry towers (Fasal, CropIn)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Water Efficiency: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70%–80% efficiency under optimal calibration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Pest Diagnosis: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Cloud batch processing requiring fast 4G/5G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Hardware Cost: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₹40,000–₹1,50,000 + ₹1,200/month recurring fee</a:t>
            </a:r>
          </a:p>
          <a:p>
            <a:pPr>
              <a:spcBef>
                <a:spcPts val="400"/>
              </a:spcBef>
              <a:defRPr sz="919" b="1">
                <a:solidFill>
                  <a:srgbClr val="D97706"/>
                </a:solidFill>
                <a:latin typeface="Segoe UI"/>
              </a:defRPr>
            </a:pPr>
            <a:r>
              <a:t>Critical Pain Point: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Prohibitive upfront cost; vendor lock-in; breaks on 2G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143000"/>
            <a:ext cx="3547872" cy="3977639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23444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AgriSense Edge-IoT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536192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19" b="1">
                <a:solidFill>
                  <a:srgbClr val="059669"/>
                </a:solidFill>
                <a:latin typeface="Segoe UI"/>
              </a:defRPr>
            </a:pPr>
            <a:r>
              <a:t>Method: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Autonomous dual-core ESP32 edge logic + FreeRTOS</a:t>
            </a:r>
          </a:p>
          <a:p>
            <a:pPr>
              <a:spcBef>
                <a:spcPts val="400"/>
              </a:spcBef>
              <a:defRPr sz="919" b="1">
                <a:solidFill>
                  <a:srgbClr val="059669"/>
                </a:solidFill>
                <a:latin typeface="Segoe UI"/>
              </a:defRPr>
            </a:pPr>
            <a:r>
              <a:t>Water Efficiency: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85%–92% precision drip with crop moisture tables</a:t>
            </a:r>
          </a:p>
          <a:p>
            <a:pPr>
              <a:spcBef>
                <a:spcPts val="400"/>
              </a:spcBef>
              <a:defRPr sz="919" b="1">
                <a:solidFill>
                  <a:srgbClr val="059669"/>
                </a:solidFill>
                <a:latin typeface="Segoe UI"/>
              </a:defRPr>
            </a:pPr>
            <a:r>
              <a:t>Pest Diagnosis: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Multimodal AI leaf vision in &lt;1.8s + offline cache</a:t>
            </a:r>
          </a:p>
          <a:p>
            <a:pPr>
              <a:spcBef>
                <a:spcPts val="400"/>
              </a:spcBef>
              <a:defRPr sz="919" b="1">
                <a:solidFill>
                  <a:srgbClr val="059669"/>
                </a:solidFill>
                <a:latin typeface="Segoe UI"/>
              </a:defRPr>
            </a:pPr>
            <a:r>
              <a:t>Hardware Cost: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Under ₹1,000 ($12 USD) open BOM; ₹0 subscriptions</a:t>
            </a:r>
          </a:p>
          <a:p>
            <a:pPr>
              <a:spcBef>
                <a:spcPts val="400"/>
              </a:spcBef>
              <a:defRPr sz="919" b="1">
                <a:solidFill>
                  <a:srgbClr val="059669"/>
                </a:solidFill>
                <a:latin typeface="Segoe UI"/>
              </a:defRPr>
            </a:pPr>
            <a:r>
              <a:t>AgriSense Advantage: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Runs offline without cloud; 100% smallholder accessible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441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5349240"/>
            <a:ext cx="10801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🎯 HOW AGRISENSE FILLS THE CRITICAL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AgriSense decentralizes precision agriculture by embedding decision loops directly onto sub-$12 microcontrollers. It delivers industrial-grade automated drip and AI leaf diagnostics without recurring subscriptions, cellular dependency, or prohibitive capital costs.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NITI Aayog 'Strategy for New India @ 75' &amp; Precision Ag Market Studies — https://niti.gov.in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04  |  OUR SOLUTION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Autonomous Closed-Loop Precision Farming from Edge to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4864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519379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🔄 THE 4-STAGE AUTONOMOUS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5074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STAGE 1: Continuous Field Sensing (0–3.3V Analog &amp; I2C)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Capacitive soil moisture sensors measure volumetric water content without copper probe electrolysis. DHT22 and light sensors stream root-zone and micro-climate metrics every 2 seconds to the onboard ESP32 ADC.</a:t>
            </a:r>
          </a:p>
          <a:p>
            <a:pPr>
              <a:spcBef>
                <a:spcPts val="5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STAGE 2: Edge Autonomy &amp; Smart Threshold Matrix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The ESP32 runs FreeRTOS logic comparing real-time moisture against calibrated crop tables (e.g. Tomato flowering: 45%–70%). If moisture drops below trigger, pump actuation activates instantaneously without waiting for cloud packets.</a:t>
            </a:r>
          </a:p>
          <a:p>
            <a:pPr>
              <a:spcBef>
                <a:spcPts val="5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STAGE 3: Cloud Synchronization &amp; Telemetry API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When Wi-Fi/cellular is reachable, sensor frames sync via lightweight JSON over HTTPS/WSS to Firebase Firestore and FastAPI backend, enabling real-time multi-zone dashboards and alert pushes.</a:t>
            </a:r>
          </a:p>
          <a:p>
            <a:pPr>
              <a:spcBef>
                <a:spcPts val="5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STAGE 4: Multimodal AI &amp; Stakeholder Action Loop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Farmers capture leaf photos for instant vision diagnosis (&lt;1.8s) via Gemini/OpenRouter AI. Automated regional weather advisories and mandi linkages notify wholesalers and logistics providers.</a:t>
            </a:r>
          </a:p>
        </p:txBody>
      </p:sp>
      <p:pic>
        <p:nvPicPr>
          <p:cNvPr id="6" name="Picture 5" descr="ai_deck_slide_3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425135" cy="51663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IEEE IoT Journal &amp; ICAR Precision Agriculture Automation Standards — https://ieeexplore.ieee.org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05  |  TECHNOLOGY &amp; INNOVATION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Edge Microcontroller Architecture, Multimodal AI &amp; Cloud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8521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5559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🛠️ TECHNICAL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54406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ESP32 Dual-Core Microcontroller (Xtensa LX6 @ 240MHz)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Core 0 runs non-blocking network routines; Core 1 dedicates 100% cycles to sensor reading, ADC filtering, and relay actuation. 520KB SRAM + 4MB Flash allows 30 days of offline telemetry caching.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Capacitive Soil Moisture v2.0 (Corrosion-Proof)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Operates via high-frequency RC oscillator detecting soil dielectric permittivity. Unlike cheap resistive probes that corrode within 14 days via electrolysis, capacitive probes operate for 3+ years in moist soil.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FastAPI Backend &amp; SQLite / MongoDB WAL Engine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High-throughput asynchronous Python 3.14 API with SQLite Write-Ahead Logging (WAL) and GZip compression, delivering sub-10ms response times and concurrent IoT ingest.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Multimodal AI Vision &amp; Agronomy Intelligence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Integrated Google Gemini Vision and open LLMs providing plant leaf pathology classification, NPK deficiency recommendations, and weather forecast risk hedging in 9 Indian languages.</a:t>
            </a:r>
          </a:p>
        </p:txBody>
      </p:sp>
      <p:pic>
        <p:nvPicPr>
          <p:cNvPr id="6" name="Picture 5" descr="ai_deck_slide_5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43000"/>
            <a:ext cx="5059375" cy="51663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Espressif ESP32 Technical Reference &amp; FastAPI Architecture Benchmarks — https://espressif.com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06  |  PROTOTYPE / MVP / DEMONSTRATION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Live Working Hardware, Deployed Web Platform &amp; AI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354787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⚡ REAL HARDWARE PROTOTYPE</a:t>
            </a:r>
          </a:p>
        </p:txBody>
      </p:sp>
      <p:pic>
        <p:nvPicPr>
          <p:cNvPr id="5" name="Picture 4" descr="ai_deck_slide_6_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3273552" cy="20574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3703320"/>
            <a:ext cx="327355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Assembled ESP32 node with dual optocoupled relays</a:t>
            </a:r>
            <a:br/>
            <a:r>
              <a:t>• Capacitive soil moisture probe + DHT11 sensor</a:t>
            </a:r>
            <a:br/>
            <a:r>
              <a:t>• Submersible 12V DC mini pump with auto-cutoff</a:t>
            </a:r>
            <a:br/>
            <a:r>
              <a:t>• Bench-tested response: &lt;120ms local switch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143000"/>
            <a:ext cx="354787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23444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🌐 DEPLOYED WEB PLATFORM</a:t>
            </a:r>
          </a:p>
        </p:txBody>
      </p:sp>
      <p:pic>
        <p:nvPicPr>
          <p:cNvPr id="9" name="Picture 8" descr="slide_12_pi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536192"/>
            <a:ext cx="3273552" cy="20574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453128" y="3703320"/>
            <a:ext cx="327355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Live at agrisense-269.pages.dev (PWA installation)</a:t>
            </a:r>
            <a:br/>
            <a:r>
              <a:t>• Multi-tenant role toggle (Farmer, Wholesaler, Vendor)</a:t>
            </a:r>
            <a:br/>
            <a:r>
              <a:t>• Live soil moisture, tank level, &amp; pump telemetry</a:t>
            </a:r>
            <a:br/>
            <a:r>
              <a:t>• Real-time oscilloscope &amp; calibration drawer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143000"/>
            <a:ext cx="354787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25526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🔍 AI LEAF PATHOLOGY SCAN</a:t>
            </a:r>
          </a:p>
        </p:txBody>
      </p:sp>
      <p:pic>
        <p:nvPicPr>
          <p:cNvPr id="13" name="Picture 12" descr="slide_13_pic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6192"/>
            <a:ext cx="3273552" cy="20574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220456" y="3703320"/>
            <a:ext cx="327355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Real-time leaf disease identification via camera</a:t>
            </a:r>
            <a:br/>
            <a:r>
              <a:t>• Sub-1.8s inference time via Gemini Vision API</a:t>
            </a:r>
            <a:br/>
            <a:r>
              <a:t>• Identifies early blight, powdery mildew, aphid damage</a:t>
            </a:r>
            <a:br/>
            <a:r>
              <a:t>• Native language treatment &amp; dosage guidance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30368"/>
            <a:ext cx="11094415" cy="107899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321808"/>
            <a:ext cx="10801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📊 BENCH &amp; FIELD TESTING RESULTS (48-HOUR CONTINUOUS RUN)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 b="1">
                <a:solidFill>
                  <a:srgbClr val="059669"/>
                </a:solidFill>
                <a:latin typeface="Segoe UI"/>
              </a:defRPr>
            </a:pPr>
            <a:r>
              <a:t>✅ 0 Watchdog Resets over 48h soak test  |  ✅ 100% Offline Pump Decisions during simulated Wi-Fi outage  |  ✅ Power Draw: 82mA active / 15µA deep sleep  |  ✅ Sensor Precision: ±1.5% Volumetric Water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AgriSense Live Platform &amp; Hardware Test Log — https://agrisense-269.pages.dev | Commit 420fdac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07  |  TARGET USERS &amp; USE CASES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Multi-Stakeholder Agricultural Ecosystem &amp; User Segments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67665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🌾 4 CORE USER PERSONAS &amp; ECOSYSTEM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63550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1. Small &amp; Marginal Farmers (86.2% of Indian Holdings — 126M farmers)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Use case: Affordable automated drip irrigation and AI leaf pathology in Hindi/Punjabi/English. Protects family livelihoods and eliminates manual night pumping.</a:t>
            </a:r>
          </a:p>
          <a:p>
            <a:pPr>
              <a:defRPr sz="819" b="1">
                <a:solidFill>
                  <a:srgbClr val="D97706"/>
                </a:solidFill>
                <a:latin typeface="Segoe UI"/>
              </a:defRPr>
            </a:pPr>
            <a:r>
              <a:t>Benefit: Saves 40% water, boosts yield by 30%, frees 3+ hours daily.</a:t>
            </a:r>
          </a:p>
          <a:p>
            <a:pPr>
              <a:spcBef>
                <a:spcPts val="5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2. Commercial Farms &amp; Greenhouse Growers (Polyhouses / Orchards)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Use case: Multi-zone solenoid valve control, fertigation scheduling, and microclimate telemetry.</a:t>
            </a:r>
          </a:p>
          <a:p>
            <a:pPr>
              <a:defRPr sz="819" b="1">
                <a:solidFill>
                  <a:srgbClr val="D97706"/>
                </a:solidFill>
                <a:latin typeface="Segoe UI"/>
              </a:defRPr>
            </a:pPr>
            <a:r>
              <a:t>Benefit: Real-time sensor logs, automated dosing, high-value crop protection.</a:t>
            </a:r>
          </a:p>
          <a:p>
            <a:pPr>
              <a:spcBef>
                <a:spcPts val="5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3. Mandi Wholesalers &amp; Aggregators (Khanna / Ludhiana Mandis)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Use case: Pre-harvest yield forecasts and direct farmer purchase contracts without middlemen.</a:t>
            </a:r>
          </a:p>
          <a:p>
            <a:pPr>
              <a:defRPr sz="819" b="1">
                <a:solidFill>
                  <a:srgbClr val="D97706"/>
                </a:solidFill>
                <a:latin typeface="Segoe UI"/>
              </a:defRPr>
            </a:pPr>
            <a:r>
              <a:t>Benefit: Fresh supply predictability, reduced spoilage, transparent pricing.</a:t>
            </a:r>
          </a:p>
          <a:p>
            <a:pPr>
              <a:spcBef>
                <a:spcPts val="500"/>
              </a:spcBef>
              <a:defRPr sz="1000" b="1">
                <a:solidFill>
                  <a:srgbClr val="059669"/>
                </a:solidFill>
                <a:latin typeface="Segoe UI"/>
              </a:defRPr>
            </a:pPr>
            <a:r>
              <a:t>4. Agri-Input Vendors &amp; Cooperatives (Kisan Seva Kendras)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Use case: Direct stocking of bio-fertilizers and drip spares matched to real-time regional soil deficits.</a:t>
            </a:r>
          </a:p>
          <a:p>
            <a:pPr>
              <a:defRPr sz="819" b="1">
                <a:solidFill>
                  <a:srgbClr val="D97706"/>
                </a:solidFill>
                <a:latin typeface="Segoe UI"/>
              </a:defRPr>
            </a:pPr>
            <a:r>
              <a:t>Benefit: Higher inventory turnover, direct farmer advisory channel.</a:t>
            </a:r>
          </a:p>
        </p:txBody>
      </p:sp>
      <p:pic>
        <p:nvPicPr>
          <p:cNvPr id="6" name="Picture 5" descr="AgriSense_Pitch_Deck_Slide-7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43000"/>
            <a:ext cx="4144975" cy="24688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498079" y="3730752"/>
            <a:ext cx="4144975" cy="2578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44383" y="3822192"/>
            <a:ext cx="385236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📊 ESTIMATED POTENTIAL &amp; IMPACT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096512"/>
            <a:ext cx="377921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• Phase 1 Pilot: 50 smallholders across Samrala &amp; Ludhiana (Punjab)</a:t>
            </a:r>
            <a:br/>
            <a:r>
              <a:t>• Phase 2 FPO Scale: 12 FPOs (~15,000 farmers) across Punjab &amp; Haryana</a:t>
            </a:r>
            <a:br/>
            <a:r>
              <a:t>• Phase 3 National TAM: 126 Million small &amp; marginal operational holdings</a:t>
            </a:r>
            <a:br/>
            <a:r>
              <a:t>• Global Reach: Sub-Saharan Africa &amp; South Asia smallholder climates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Ministry of Agriculture Census &amp; NABARD FPO Directory — https://agricoop.nic.in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08  |  IMPACT &amp; OUTCOMES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Quantified Resource Conservation, Farmer Prosperity &amp; UN SDGs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67665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63550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💧 30%–50% Freshwater Saved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Replaces wasteful flood irrigation with root-zone micro-drip. Conserves up to 1.8M liters of water per hectare per tomato crop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67665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63550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Segoe UI"/>
              </a:defRPr>
            </a:pPr>
            <a:r>
              <a:t>🌾 20%–38% Yield Increase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Maintains optimal soil moisture and prevents plant moisture stress during critical flowering and fruiting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67665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794760"/>
            <a:ext cx="63550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Segoe UI"/>
              </a:defRPr>
            </a:pPr>
            <a:r>
              <a:t>⚡ 45% Pumping Power Saved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Eliminates redundant pump runs. Reduces electricity &amp; diesel generator fuel expenditure by ₹8,500/year per farm.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67665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074920"/>
            <a:ext cx="63550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💰 ₹24,000/Acre Profit Gain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Net annual income rise through combined water savings, 25% lower chemical fertilizer application, and reduced crop blight losses.</a:t>
            </a:r>
          </a:p>
        </p:txBody>
      </p:sp>
      <p:pic>
        <p:nvPicPr>
          <p:cNvPr id="11" name="Picture 10" descr="AgriSense_Pitch_Deck_Slide-7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43000"/>
            <a:ext cx="4144975" cy="24231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498079" y="3703320"/>
            <a:ext cx="4144975" cy="2606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44383" y="3794760"/>
            <a:ext cx="385236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🌍 UNITED NATIONS SDG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069080"/>
            <a:ext cx="3779215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50" b="1">
                <a:solidFill>
                  <a:srgbClr val="059669"/>
                </a:solidFill>
                <a:latin typeface="Segoe UI"/>
              </a:defRPr>
            </a:pPr>
            <a:r>
              <a:t>• SDG 2: Zero Hunger (Target 2.3 &amp; 2.4)</a:t>
            </a:r>
          </a:p>
          <a:p>
            <a:pPr>
              <a:defRPr sz="780">
                <a:solidFill>
                  <a:srgbClr val="475569"/>
                </a:solidFill>
                <a:latin typeface="Segoe UI"/>
              </a:defRPr>
            </a:pPr>
            <a:r>
              <a:t>   Doubles agricultural productivity and ensures sustainable food production systems.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Segoe UI"/>
              </a:defRPr>
            </a:pPr>
            <a:r>
              <a:t>• SDG 6: Clean Water &amp; Sanitation (Target 6.4)</a:t>
            </a:r>
          </a:p>
          <a:p>
            <a:pPr>
              <a:defRPr sz="780">
                <a:solidFill>
                  <a:srgbClr val="475569"/>
                </a:solidFill>
                <a:latin typeface="Segoe UI"/>
              </a:defRPr>
            </a:pPr>
            <a:r>
              <a:t>   Substantially increases water-use efficiency across the agricultural sector.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Segoe UI"/>
              </a:defRPr>
            </a:pPr>
            <a:r>
              <a:t>• SDG 12: Responsible Consumption (Target 12.2)</a:t>
            </a:r>
          </a:p>
          <a:p>
            <a:pPr>
              <a:defRPr sz="780">
                <a:solidFill>
                  <a:srgbClr val="475569"/>
                </a:solidFill>
                <a:latin typeface="Segoe UI"/>
              </a:defRPr>
            </a:pPr>
            <a:r>
              <a:t>   Achieves sustainable management and efficient use of soil nutrients &amp; water.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Segoe UI"/>
              </a:defRPr>
            </a:pPr>
            <a:r>
              <a:t>• SDG 13: Climate Action (Target 13.1)</a:t>
            </a:r>
          </a:p>
          <a:p>
            <a:pPr>
              <a:defRPr sz="780">
                <a:solidFill>
                  <a:srgbClr val="475569"/>
                </a:solidFill>
                <a:latin typeface="Segoe UI"/>
              </a:defRPr>
            </a:pPr>
            <a:r>
              <a:t>   Strengthens resilience and adaptive capacity to climate hazards and drought.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United Nations Sustainable Development Goals Knowledge Platform — https://sdgs.un.org/goals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09  |  BUSINESS MODEL &amp; IMPLEMENTATION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Unit Economics, Hardware BOM &amp; Phased Deployment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3949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51023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💰 PRICING &amp; HARDWARE BOM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49834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00" b="0">
                <a:solidFill>
                  <a:srgbClr val="0F172A"/>
                </a:solidFill>
                <a:latin typeface="Segoe UI"/>
              </a:defRPr>
            </a:pPr>
            <a:r>
              <a:t>• ESP32 DevKit V1 Microcontroller: ₹380 ($4.60)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  <a:latin typeface="Segoe UI"/>
              </a:defRPr>
            </a:pPr>
            <a:r>
              <a:t>• Capacitive Soil Moisture Sensor v2.0: ₹120 ($1.45)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  <a:latin typeface="Segoe UI"/>
              </a:defRPr>
            </a:pPr>
            <a:r>
              <a:t>• DHT11 Air Temp &amp; Humidity Sensor: ₹120 ($1.45)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  <a:latin typeface="Segoe UI"/>
              </a:defRPr>
            </a:pPr>
            <a:r>
              <a:t>• 5V Dual-Channel Optocoupled Relay Module: ₹95 ($1.15)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  <a:latin typeface="Segoe UI"/>
              </a:defRPr>
            </a:pPr>
            <a:r>
              <a:t>• IP65 Weatherproof Enclosure + Connectors: ₹140 ($1.70)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  <a:latin typeface="Segoe UI"/>
              </a:defRPr>
            </a:pPr>
            <a:r>
              <a:t>• 5V 2A Power Adapter / Solar Battery Circuit: ₹160 ($1.90)</a:t>
            </a:r>
          </a:p>
          <a:p>
            <a:pPr>
              <a:spcBef>
                <a:spcPts val="300"/>
              </a:spcBef>
              <a:defRPr sz="900" b="1">
                <a:solidFill>
                  <a:srgbClr val="059669"/>
                </a:solidFill>
                <a:latin typeface="Segoe UI"/>
              </a:defRPr>
            </a:pPr>
            <a:r>
              <a:t>• TOTAL OPEN HARDWARE BOM COST: ₹1,015 ($12.25 USD)</a:t>
            </a:r>
          </a:p>
          <a:p>
            <a:br/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REVENUE MODEL &amp; SUSTAINABILITY: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Basic Tier: 100% Free Software &amp; Open-Source Firmware for all smallholders</a:t>
            </a:r>
            <a:br/>
            <a:r>
              <a:t>• FPO Enterprise Tier: ₹4,500/year per cooperative for centralized telemetry &amp; aggregate mandi dispatch</a:t>
            </a:r>
            <a:br/>
            <a:r>
              <a:t>• Hardware Assembly: Pre-calibrated plug-and-play kits distributed via local Kisan Kendras with 15%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42513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4224" y="1234440"/>
            <a:ext cx="513252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🗺️ 4-PHASE IMPLEMENTATION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536192"/>
            <a:ext cx="50292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80" b="1">
                <a:solidFill>
                  <a:srgbClr val="059669"/>
                </a:solidFill>
                <a:latin typeface="Segoe UI"/>
              </a:defRPr>
            </a:pPr>
            <a:r>
              <a:t>Phase 1: Lab Bench Validation (Months 1–3) [COMPLETED]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48-hour continuous run, sensor calibration, PWA cloud architecture, and multimodal vision prototype verification.</a:t>
            </a:r>
          </a:p>
          <a:p>
            <a:pPr>
              <a:spcBef>
                <a:spcPts val="500"/>
              </a:spcBef>
              <a:defRPr sz="980" b="1">
                <a:solidFill>
                  <a:srgbClr val="D97706"/>
                </a:solidFill>
                <a:latin typeface="Segoe UI"/>
              </a:defRPr>
            </a:pPr>
            <a:r>
              <a:t>Phase 2: Samrala Village Pilot (Months 4–7) [IN PROGRESS]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Deployment of 50 field nodes across Ludhiana vegetable and wheat plots in collaboration with local FPOs and Krishi Vigyan Kendra (KVK).</a:t>
            </a:r>
          </a:p>
          <a:p>
            <a:pPr>
              <a:spcBef>
                <a:spcPts val="500"/>
              </a:spcBef>
              <a:defRPr sz="980" b="1">
                <a:solidFill>
                  <a:srgbClr val="D97706"/>
                </a:solidFill>
                <a:latin typeface="Segoe UI"/>
              </a:defRPr>
            </a:pPr>
            <a:r>
              <a:t>Phase 3: FPO &amp; Mandi Aggregation (Months 8–14)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Integration of mandi trader portal, automated transport booking, and solar-powered LoRa mesh nodes for off-grid farms.</a:t>
            </a:r>
          </a:p>
          <a:p>
            <a:pPr>
              <a:spcBef>
                <a:spcPts val="500"/>
              </a:spcBef>
              <a:defRPr sz="980" b="1">
                <a:solidFill>
                  <a:srgbClr val="D97706"/>
                </a:solidFill>
                <a:latin typeface="Segoe UI"/>
              </a:defRPr>
            </a:pPr>
            <a:r>
              <a:t>Phase 4: State &amp; National Scaling (Months 15–24)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Partnership with Digital Agriculture Mission and PMKSY micro-irrigation subsidy framework for pan-India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Ministry of Electronics &amp; IT Hardware Sourcing &amp; PMKSY Subsidy Guidelines — https://pmksy.gov.in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10  |  FEASIBILITY &amp; SCALABILITY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Technical Feasibility, Risk Mitigation &amp; Hierarchical Scaling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64008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610819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🛡️ RISK MANAGEMENT &amp; TECHNICAL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5989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Risk: Rural Wi-Fi Outages &amp; Zero Cellular Signal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Mitigation: 100% autonomous edge fallback. All irrigation thresholds execute directly in ESP32 Flash memory without cloud packets. Telemetry syncs retrospectively upon reconnection.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Risk: Sensor Corrosion &amp; Probe Degradation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Mitigation: 100% capacitive sensors (dielectric measurement) with conformal PCB coating. Probes operate without copper exposure, lasting 3+ years in corrosive soils.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Risk: Power Surges &amp; High Voltage Fluctuations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Mitigation: Optocoupler isolation on all relay triggers (5,000V RMS dielectric breakdown protection) and integrated MOV surge suppressors.</a:t>
            </a:r>
          </a:p>
          <a:p>
            <a:pPr>
              <a:spcBef>
                <a:spcPts val="500"/>
              </a:spcBef>
              <a:defRPr sz="1000" b="1">
                <a:solidFill>
                  <a:srgbClr val="D97706"/>
                </a:solidFill>
                <a:latin typeface="Segoe UI"/>
              </a:defRPr>
            </a:pPr>
            <a:r>
              <a:t>Risk: Farmer Digital Literacy &amp; Language Barrier</a:t>
            </a:r>
          </a:p>
          <a:p>
            <a:pPr>
              <a:spcBef>
                <a:spcPts val="1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Mitigation: Zero-typing multilingual voice UI and visual color status badges (Green = Good, Red = Low Moisture) designed for all age groups.</a:t>
            </a:r>
          </a:p>
        </p:txBody>
      </p:sp>
      <p:pic>
        <p:nvPicPr>
          <p:cNvPr id="6" name="Picture 5" descr="AgriSense_Pitch_Deck_Slide-7-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43000"/>
            <a:ext cx="4510735" cy="24688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132320" y="3730752"/>
            <a:ext cx="4510735" cy="2578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78624" y="3822192"/>
            <a:ext cx="421812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🚀 HIERARCHICAL SCALING FUNNEL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096512"/>
            <a:ext cx="414497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1. Single Farm (1 Node): Validated bench &amp; pilot test in Ludhiana</a:t>
            </a:r>
          </a:p>
          <a:p>
            <a:pPr>
              <a:spcBef>
                <a:spcPts val="35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2. Village FPO (50–200 Nodes): Cluster deployment in Samrala cooperative</a:t>
            </a:r>
          </a:p>
          <a:p>
            <a:pPr>
              <a:spcBef>
                <a:spcPts val="35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3. District/State (5,000+ Nodes): PAU Agronomy &amp; State Agriculture Dept integration</a:t>
            </a:r>
          </a:p>
          <a:p>
            <a:pPr>
              <a:spcBef>
                <a:spcPts val="350"/>
              </a:spcBef>
              <a:defRPr sz="880">
                <a:solidFill>
                  <a:srgbClr val="0F172A"/>
                </a:solidFill>
                <a:latin typeface="Segoe UI"/>
              </a:defRPr>
            </a:pPr>
            <a:r>
              <a:t>• 4. National AgriStack (Pan-India): Direct open API connection to GoI Kisan Drones &amp; Digital Agriculture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Digital Agriculture Mission 2024–25 &amp; PM-KISAN Technical Architecture — https://digitalagri.gov.in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11  |  COMPETITIVE ADVANTAGE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Unique Selling Proposition &amp; Comprehensive Benchmark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11094415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10801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🏆 FEATURE &amp; COST BENCHMARK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36192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2103120"/>
                <a:gridCol w="2103120"/>
                <a:gridCol w="2103120"/>
                <a:gridCol w="2103120"/>
              </a:tblGrid>
              <a:tr h="563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AgriSense (Ours)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Commercial Fasal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CropIn Cloud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Manual Flood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Under ₹1,000 ($12)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₹45,000–₹85,000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₹1,20,000+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₹0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Subscription Fee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₹0 (Free / Open)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₹1,200 / month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Enterprise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Offline Autonomy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✅ 100% FreeRTOS Edge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❌ Cloud 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❌ Cloud 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Manual Valve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 Leaf Diagnosis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✅ Multimodal Vision &lt;1.8s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❌ Sensor Telemetry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⚠️ Satellite / Batch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Sensor Longevity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✅ Capacitive (3+ Yrs)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✅ Industrial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 (Satellite)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❌ Resistive Leaching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30368"/>
            <a:ext cx="1109441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321808"/>
            <a:ext cx="10801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⭐ THE AGRISENSE USP TRIPLE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0F172A"/>
                </a:solidFill>
                <a:latin typeface="Segoe UI"/>
              </a:defRPr>
            </a:pPr>
            <a:r>
              <a:t>1. Unbeatable Affordability: 95% cheaper than commercial SCADA setups, opening precision tech to smallholders.</a:t>
            </a:r>
            <a:br/>
            <a:r>
              <a:t>2. Zero Connectivity Dependency: Field nodes execute pump decisions 100% locally even during total cellular blackout.</a:t>
            </a:r>
            <a:br/>
            <a:r>
              <a:t>3. Multimodal Edge + AI Intelligence: Merges capacitive soil telemetry with instant camera leaf diagnosis in native languages.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Commercial AgTech Pricing Benchmarks &amp; Competitor Specifications — https://fasal.co | https://cropin.com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SLIDE 12  |  TEAM &amp; VISION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Bal Bharati Public School Innovation Team, Mentor &amp; Future Horizons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11094415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34440"/>
            <a:ext cx="10801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👥 INNOVATION TEAM MEMBERS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206654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Pranav Saxena</a:t>
            </a:r>
          </a:p>
          <a:p>
            <a:pPr>
              <a:spcBef>
                <a:spcPts val="200"/>
              </a:spcBef>
              <a:defRPr sz="819" b="1">
                <a:solidFill>
                  <a:srgbClr val="D97706"/>
                </a:solidFill>
                <a:latin typeface="Segoe UI"/>
              </a:defRPr>
            </a:pPr>
            <a:r>
              <a:t>Lead Developer &amp; Architect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Segoe UI"/>
              </a:defRPr>
            </a:pPr>
            <a:r>
              <a:t>ESP32 C++ firmware, FastAPI backend, cloud database sync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36192"/>
            <a:ext cx="206654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Hiyasha Deviyal</a:t>
            </a:r>
          </a:p>
          <a:p>
            <a:pPr>
              <a:spcBef>
                <a:spcPts val="200"/>
              </a:spcBef>
              <a:defRPr sz="819" b="1">
                <a:solidFill>
                  <a:srgbClr val="D97706"/>
                </a:solidFill>
                <a:latin typeface="Segoe UI"/>
              </a:defRPr>
            </a:pPr>
            <a:r>
              <a:t>Agronomy &amp; UI/UX Research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Segoe UI"/>
              </a:defRPr>
            </a:pPr>
            <a:r>
              <a:t>Soil moisture thresholds, farmer user-journey, accessibility design &amp; UX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536192"/>
            <a:ext cx="206654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Chaitanya Vashisht</a:t>
            </a:r>
          </a:p>
          <a:p>
            <a:pPr>
              <a:spcBef>
                <a:spcPts val="200"/>
              </a:spcBef>
              <a:defRPr sz="819" b="1">
                <a:solidFill>
                  <a:srgbClr val="D97706"/>
                </a:solidFill>
                <a:latin typeface="Segoe UI"/>
              </a:defRPr>
            </a:pPr>
            <a:r>
              <a:t>IoT Hardware &amp; Field Bench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Segoe UI"/>
              </a:defRPr>
            </a:pPr>
            <a:r>
              <a:t>Dual relay circuitry, sensor calibration, breadboard assembly &amp; bench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36192"/>
            <a:ext cx="206654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Kairavi Patel</a:t>
            </a:r>
          </a:p>
          <a:p>
            <a:pPr>
              <a:spcBef>
                <a:spcPts val="200"/>
              </a:spcBef>
              <a:defRPr sz="819" b="1">
                <a:solidFill>
                  <a:srgbClr val="D97706"/>
                </a:solidFill>
                <a:latin typeface="Segoe UI"/>
              </a:defRPr>
            </a:pPr>
            <a:r>
              <a:t>Frontend &amp; Multilingual Voice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Segoe UI"/>
              </a:defRPr>
            </a:pPr>
            <a:r>
              <a:t>Web interface, multilingual translation engine &amp; native voice synthesizer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536192"/>
            <a:ext cx="206654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Eekansh Patni</a:t>
            </a:r>
          </a:p>
          <a:p>
            <a:pPr>
              <a:spcBef>
                <a:spcPts val="200"/>
              </a:spcBef>
              <a:defRPr sz="819" b="1">
                <a:solidFill>
                  <a:srgbClr val="D97706"/>
                </a:solidFill>
                <a:latin typeface="Segoe UI"/>
              </a:defRPr>
            </a:pPr>
            <a:r>
              <a:t>Data Analytics &amp; Reliability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Segoe UI"/>
              </a:defRPr>
            </a:pPr>
            <a:r>
              <a:t>Telemetry analysis, soak-test benchmarking &amp; crop stress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539496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886200"/>
            <a:ext cx="51023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🎯 MENTORSHIP &amp; ACKNOWLEDGEMENTS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33087"/>
            <a:ext cx="502920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• Institution: Bal Bharati Public School — Atal Tinkering Lab &amp; Innovation Cell</a:t>
            </a:r>
          </a:p>
          <a:p>
            <a:pPr>
              <a:spcBef>
                <a:spcPts val="3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• Faculty Mentor: Ms. Deepika Dutt — Continuous guidance on engineering methodology, structural rigor &amp; project mentorship</a:t>
            </a:r>
          </a:p>
          <a:p>
            <a:pPr>
              <a:spcBef>
                <a:spcPts val="3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• External Advisers: Punjab Agricultural University (PAU) Agronomy Extension &amp; Local Samrala Farmers Cooperative</a:t>
            </a:r>
          </a:p>
          <a:p>
            <a:pPr>
              <a:spcBef>
                <a:spcPts val="35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• Dedication: Dedicated to India's 126 million smallholder farmers fighting climate volatility and water scarcity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425135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886200"/>
            <a:ext cx="513252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🚀 FUTURE VISION &amp; CALL TO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133087"/>
            <a:ext cx="502920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850" b="0">
                <a:solidFill>
                  <a:srgbClr val="0F172A"/>
                </a:solidFill>
                <a:latin typeface="Segoe UI"/>
              </a:defRPr>
            </a:pPr>
            <a:r>
              <a:t>• 1. LoRa Mesh Farm Grid: 10km range multi-hop sensor telemetry without cellular towers</a:t>
            </a:r>
          </a:p>
          <a:p>
            <a:pPr>
              <a:spcBef>
                <a:spcPts val="300"/>
              </a:spcBef>
              <a:defRPr sz="850" b="0">
                <a:solidFill>
                  <a:srgbClr val="0F172A"/>
                </a:solidFill>
                <a:latin typeface="Segoe UI"/>
              </a:defRPr>
            </a:pPr>
            <a:r>
              <a:t>• 2. Autonomous Drone NDVI: Automated aerial multispectral mapping integrated into AgriSense</a:t>
            </a:r>
          </a:p>
          <a:p>
            <a:pPr>
              <a:spcBef>
                <a:spcPts val="300"/>
              </a:spcBef>
              <a:defRPr sz="850" b="0">
                <a:solidFill>
                  <a:srgbClr val="0F172A"/>
                </a:solidFill>
                <a:latin typeface="Segoe UI"/>
              </a:defRPr>
            </a:pPr>
            <a:r>
              <a:t>• 3. Satellite SAR Radar Moisture: Combining ESA Sentinel-1 radar with in-situ ESP32 data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Segoe UI"/>
              </a:defRPr>
            </a:pPr>
            <a:r>
              <a:t>• Call to Action: Join us in scaling AgriSense across India's Krishi Vigyan Kendras to make precision agriculture a universal farmer right.</a:t>
            </a:r>
          </a:p>
          <a:p>
            <a:pPr>
              <a:spcBef>
                <a:spcPts val="300"/>
              </a:spcBef>
              <a:defRPr sz="850" b="0">
                <a:solidFill>
                  <a:srgbClr val="0F172A"/>
                </a:solidFill>
                <a:latin typeface="Segoe UI"/>
              </a:defRPr>
            </a:pPr>
            <a:r>
              <a:t>• Contact: Pranav Saxena (pranavsaxenaofficial11@gmail.com) | agrisense-269.pages.dev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284C7"/>
                </a:solidFill>
                <a:latin typeface="Segoe UI"/>
              </a:defRPr>
            </a:pPr>
            <a:r>
              <a:t>🔗 Data Source &amp; Verification: Bal Bharati Public School — AgriSense Project Archive — https://agrisense-269.pages.dev | github.com/pranavsaxenaofficial11-coder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