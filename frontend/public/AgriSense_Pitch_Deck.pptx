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AgriSense is our AI-powered smart farming platform combining a live web app with real sensor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core problems: water waste, late disease detection, weather uncertainty, and the language/access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Sense, think, tell, act — the full loop from soil to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phases: UI, real services, security hardening, real hardware, final polish.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pillars of the live product. All of these are deployed and working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sensors, ESP32, Firebase, the web app, the farmer. Below: the three external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hardware works standalone — the ESP32 makes irrigation and cooling decisions on-board.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digital 3D model of the physical prototype. The interactive Three.js version can be spun live during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AI capabilities plus the fallback-chain reliability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is an access feature, not a cosmetic one. Hand-built packs make switching instant.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security hardening: verification, App Check, rules, fallbacks, analytics, in-app-browser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credibility slide: exactly what is real today versus the labelled future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debugging stories — each one demonstrates diagnosis, not just 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stack, all free-tier services — deliberately low-cost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Live-deployment stats. Note honestly: raw request counts include bot traffic; Web Analytics separates real visitors.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realistic day-in-the-life narrative combining the real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Four-part demo: dashboard, crop scan, weather+report,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roadmap in three horizons.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team and the live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926080"/>
            <a:ext cx="8686800" cy="8686800"/>
          </a:xfrm>
          <a:prstGeom prst="ellipse">
            <a:avLst/>
          </a:prstGeom>
          <a:solidFill>
            <a:srgbClr val="2C5F2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023360"/>
            <a:ext cx="5852160" cy="5852160"/>
          </a:xfrm>
          <a:prstGeom prst="ellipse">
            <a:avLst/>
          </a:prstGeom>
          <a:solidFill>
            <a:srgbClr val="35702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052560" y="914400"/>
            <a:ext cx="2377440" cy="2377440"/>
          </a:xfrm>
          <a:prstGeom prst="ellipse">
            <a:avLst/>
          </a:prstGeom>
          <a:solidFill>
            <a:srgbClr val="2C5F2D"/>
          </a:solidFill>
          <a:ln w="2540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0" y="914400"/>
            <a:ext cx="23774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0" dirty="0">
                <a:solidFill>
                  <a:srgbClr val="000000"/>
                </a:solidFill>
              </a:rPr>
              <a:t>🌱</a:t>
            </a:r>
            <a:endParaRPr lang="en-US" sz="7600" dirty="0"/>
          </a:p>
        </p:txBody>
      </p:sp>
      <p:sp>
        <p:nvSpPr>
          <p:cNvPr id="6" name="Shape 4"/>
          <p:cNvSpPr/>
          <p:nvPr/>
        </p:nvSpPr>
        <p:spPr>
          <a:xfrm>
            <a:off x="11109960" y="2926080"/>
            <a:ext cx="1051560" cy="10515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7" name="Text 5"/>
          <p:cNvSpPr/>
          <p:nvPr/>
        </p:nvSpPr>
        <p:spPr>
          <a:xfrm>
            <a:off x="11109960" y="2926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🌾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366760" y="3200400"/>
            <a:ext cx="822960" cy="822960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9" name="Text 7"/>
          <p:cNvSpPr/>
          <p:nvPr/>
        </p:nvSpPr>
        <p:spPr>
          <a:xfrm>
            <a:off x="8366760" y="32004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☀️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332720" y="4206240"/>
            <a:ext cx="1554480" cy="1554480"/>
          </a:xfrm>
          <a:prstGeom prst="ellipse">
            <a:avLst/>
          </a:prstGeom>
          <a:solidFill>
            <a:srgbClr val="1E441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6002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AgriSense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the field. Act in real time.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96112" y="34747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smart farming — web platform + real IoT hardware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" y="416052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" y="416052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CLOUDFLARE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364992" y="4160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D9941F"/>
          </a:solidFill>
          <a:ln/>
        </p:spPr>
      </p:sp>
      <p:sp>
        <p:nvSpPr>
          <p:cNvPr id="17" name="Text 15"/>
          <p:cNvSpPr/>
          <p:nvPr/>
        </p:nvSpPr>
        <p:spPr>
          <a:xfrm>
            <a:off x="3364992" y="4160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559552" y="4160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D7E4CF"/>
          </a:solidFill>
          <a:ln/>
        </p:spPr>
      </p:sp>
      <p:sp>
        <p:nvSpPr>
          <p:cNvPr id="19" name="Text 17"/>
          <p:cNvSpPr/>
          <p:nvPr/>
        </p:nvSpPr>
        <p:spPr>
          <a:xfrm>
            <a:off x="5559552" y="416052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LANGUAGES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" y="5760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BD1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AgriSense — Pranav Saxena · Chaitanya Vashisht · Atharv Gupta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68680" y="6144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9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Engineering Project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— Indian farming runs on guesswork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farmers lack affordable, real-time insight into their own fields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1847088"/>
            <a:ext cx="566928" cy="566928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1828800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💧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572768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waste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72768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by habit, not data — over- and under-watering are both common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92240" y="1847088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46520" y="1828800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🦠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242048" y="1783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disease detection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242048" y="2286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disease is often spotted only after visible spread — yield already lost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3840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" y="4133088"/>
            <a:ext cx="566928" cy="566928"/>
          </a:xfrm>
          <a:prstGeom prst="ellipse">
            <a:avLst/>
          </a:prstGeom>
          <a:solidFill>
            <a:srgbClr val="D9941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77240" y="4114800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🌦️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1572768" y="4069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uncertainty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572768" y="4572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 and heat swings hit unprepared fields; advice arrives too 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217920" y="3840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4133088"/>
            <a:ext cx="566928" cy="566928"/>
          </a:xfrm>
          <a:prstGeom prst="ellipse">
            <a:avLst/>
          </a:prstGeom>
          <a:solidFill>
            <a:srgbClr val="35702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46520" y="4114800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🗣️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242048" y="4069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&amp; access gap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242048" y="457200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agri-tech is in English and priced for large farms, not smallholders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48640" y="5989320"/>
            <a:ext cx="3657600" cy="603504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5989320"/>
            <a:ext cx="3246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  </a:t>
            </a:r>
            <a:pPr indent="0" marL="0">
              <a:buNone/>
            </a:pPr>
            <a:r>
              <a:rPr lang="en-US" sz="115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water wasted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434840" y="5989320"/>
            <a:ext cx="3657600" cy="603504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44" name="Text 42"/>
          <p:cNvSpPr/>
          <p:nvPr/>
        </p:nvSpPr>
        <p:spPr>
          <a:xfrm>
            <a:off x="4709160" y="5989320"/>
            <a:ext cx="3246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   </a:t>
            </a:r>
            <a:pPr indent="0" marL="0">
              <a:buNone/>
            </a:pPr>
            <a:r>
              <a:rPr lang="en-US" sz="115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lost to pests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321040" y="5989320"/>
            <a:ext cx="3657600" cy="603504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46" name="Text 44"/>
          <p:cNvSpPr/>
          <p:nvPr/>
        </p:nvSpPr>
        <p:spPr>
          <a:xfrm>
            <a:off x="8595360" y="5989320"/>
            <a:ext cx="3246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  </a:t>
            </a:r>
            <a:pPr indent="0" marL="0">
              <a:buNone/>
            </a:pPr>
            <a:r>
              <a:rPr lang="en-US" sz="115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are smallholders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Solution — a farm that talks to you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platform: sensors in the soil, AI in the cloud, answers in your language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554480"/>
            <a:ext cx="548640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AgriSense does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68680" y="228600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the field with real sensors — soil, climate, water, light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crop disease from a photo using AI vision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Advises with live weather + an AI assistant that speaks 15+ languages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— auto-irrigation and cooling driven by live readings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68680" y="539496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be affordable, multilingual, and honest about what is real today.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00800" y="1554480"/>
            <a:ext cx="5212080" cy="4754880"/>
          </a:xfrm>
          <a:prstGeom prst="roundRect">
            <a:avLst>
              <a:gd name="adj" fmla="val 1923"/>
            </a:avLst>
          </a:prstGeom>
          <a:solidFill>
            <a:srgbClr val="2C5F2D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20840" y="175564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6720840" y="2331720"/>
            <a:ext cx="658368" cy="65836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23317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543800" y="2359152"/>
            <a:ext cx="3794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 </a:t>
            </a:r>
            <a:pPr indent="0" marL="0">
              <a:buNone/>
            </a:pPr>
            <a:r>
              <a:rPr lang="en-US" sz="140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38-stream dashboard, 8 real hardware readings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720840" y="3319272"/>
            <a:ext cx="658368" cy="65836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3319272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543800" y="3346704"/>
            <a:ext cx="3794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 </a:t>
            </a:r>
            <a:pPr indent="0" marL="0">
              <a:buNone/>
            </a:pPr>
            <a:r>
              <a:rPr lang="en-US" sz="140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AI + weather + crop rules decide what matters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720840" y="4306824"/>
            <a:ext cx="658368" cy="658368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34" name="Text 32"/>
          <p:cNvSpPr/>
          <p:nvPr/>
        </p:nvSpPr>
        <p:spPr>
          <a:xfrm>
            <a:off x="6720840" y="4306824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📣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543800" y="4334256"/>
            <a:ext cx="3794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 </a:t>
            </a:r>
            <a:pPr indent="0" marL="0">
              <a:buNone/>
            </a:pPr>
            <a:r>
              <a:rPr lang="en-US" sz="140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alerts, reports &amp; advice in the farmer's language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720840" y="5294376"/>
            <a:ext cx="658368" cy="658368"/>
          </a:xfrm>
          <a:prstGeom prst="ellipse">
            <a:avLst/>
          </a:prstGeom>
          <a:solidFill>
            <a:srgbClr val="35702F"/>
          </a:solidFill>
          <a:ln/>
        </p:spPr>
      </p:sp>
      <p:sp>
        <p:nvSpPr>
          <p:cNvPr id="37" name="Text 35"/>
          <p:cNvSpPr/>
          <p:nvPr/>
        </p:nvSpPr>
        <p:spPr>
          <a:xfrm>
            <a:off x="6720840" y="529437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543800" y="5321808"/>
            <a:ext cx="3794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DD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 </a:t>
            </a:r>
            <a:pPr indent="0" marL="0">
              <a:buNone/>
            </a:pPr>
            <a:r>
              <a:rPr lang="en-US" sz="1400" dirty="0">
                <a:solidFill>
                  <a:srgbClr val="EAF3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pump &amp; fan switch automatically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Journey — idea to working system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below is something we actually built and debugged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554480" y="2103120"/>
            <a:ext cx="9098280" cy="0"/>
          </a:xfrm>
          <a:prstGeom prst="line">
            <a:avLst/>
          </a:prstGeom>
          <a:noFill/>
          <a:ln w="38100">
            <a:solidFill>
              <a:srgbClr val="CFE0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43584" y="1691640"/>
            <a:ext cx="822960" cy="822960"/>
          </a:xfrm>
          <a:prstGeom prst="ellipse">
            <a:avLst/>
          </a:prstGeom>
          <a:solidFill>
            <a:srgbClr val="2C5F2D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243584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502920" y="2788920"/>
            <a:ext cx="2121408" cy="30632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" y="29718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&amp; UI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3520440"/>
            <a:ext cx="18470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web app, dashboard, 38-sensor simulation, 3D field view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547872" y="1691640"/>
            <a:ext cx="822960" cy="822960"/>
          </a:xfrm>
          <a:prstGeom prst="ellipse">
            <a:avLst/>
          </a:prstGeom>
          <a:solidFill>
            <a:srgbClr val="97BC6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47872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2807208" y="2788920"/>
            <a:ext cx="2121408" cy="3063240"/>
          </a:xfrm>
          <a:prstGeom prst="roundRect">
            <a:avLst>
              <a:gd name="adj" fmla="val 4310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944368" y="29718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services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944368" y="3520440"/>
            <a:ext cx="18470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 (Open-Meteo), AI chat &amp; vision (OpenRouter), Firebase auth + database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52160" y="1691640"/>
            <a:ext cx="822960" cy="822960"/>
          </a:xfrm>
          <a:prstGeom prst="ellipse">
            <a:avLst/>
          </a:prstGeom>
          <a:solidFill>
            <a:srgbClr val="D9941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85216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34" name="Shape 32"/>
          <p:cNvSpPr/>
          <p:nvPr/>
        </p:nvSpPr>
        <p:spPr>
          <a:xfrm>
            <a:off x="5111496" y="2788920"/>
            <a:ext cx="2121408" cy="30632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29718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248656" y="3520440"/>
            <a:ext cx="18470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verification, App Check security, analytics, bug-fix cycles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56448" y="1691640"/>
            <a:ext cx="822960" cy="822960"/>
          </a:xfrm>
          <a:prstGeom prst="ellipse">
            <a:avLst/>
          </a:prstGeom>
          <a:solidFill>
            <a:srgbClr val="35702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156448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39" name="Shape 37"/>
          <p:cNvSpPr/>
          <p:nvPr/>
        </p:nvSpPr>
        <p:spPr>
          <a:xfrm>
            <a:off x="7415784" y="2788920"/>
            <a:ext cx="2121408" cy="3063240"/>
          </a:xfrm>
          <a:prstGeom prst="roundRect">
            <a:avLst>
              <a:gd name="adj" fmla="val 4310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552944" y="29718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7552944" y="3520440"/>
            <a:ext cx="18470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+ 8 sensors + relays wired on breadboard, firmware written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0460736" y="1691640"/>
            <a:ext cx="822960" cy="822960"/>
          </a:xfrm>
          <a:prstGeom prst="ellipse">
            <a:avLst/>
          </a:prstGeom>
          <a:solidFill>
            <a:srgbClr val="2C5F2D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0460736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44" name="Shape 42"/>
          <p:cNvSpPr/>
          <p:nvPr/>
        </p:nvSpPr>
        <p:spPr>
          <a:xfrm>
            <a:off x="9720072" y="2788920"/>
            <a:ext cx="2121408" cy="306324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857232" y="2971800"/>
            <a:ext cx="18470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&amp; pitch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9857232" y="3520440"/>
            <a:ext cx="1847088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Greenery UI theme, 8-language translation, cancel orders, profiles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02920" y="603504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/>
        </p:spPr>
      </p:sp>
      <p:sp>
        <p:nvSpPr>
          <p:cNvPr id="48" name="Text 46"/>
          <p:cNvSpPr/>
          <p:nvPr/>
        </p:nvSpPr>
        <p:spPr>
          <a:xfrm>
            <a:off x="502920" y="6035040"/>
            <a:ext cx="2121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app.html · 3D sim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2807208" y="603504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C9DDAB"/>
          </a:solidFill>
          <a:ln/>
        </p:spPr>
      </p:sp>
      <p:sp>
        <p:nvSpPr>
          <p:cNvPr id="50" name="Text 48"/>
          <p:cNvSpPr/>
          <p:nvPr/>
        </p:nvSpPr>
        <p:spPr>
          <a:xfrm>
            <a:off x="2807208" y="6035040"/>
            <a:ext cx="2121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· Firebase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111496" y="603504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/>
        </p:spPr>
      </p:sp>
      <p:sp>
        <p:nvSpPr>
          <p:cNvPr id="52" name="Text 50"/>
          <p:cNvSpPr/>
          <p:nvPr/>
        </p:nvSpPr>
        <p:spPr>
          <a:xfrm>
            <a:off x="5111496" y="6035040"/>
            <a:ext cx="2121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Check · rules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7415784" y="603504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C9DDAB"/>
          </a:solidFill>
          <a:ln/>
        </p:spPr>
      </p:sp>
      <p:sp>
        <p:nvSpPr>
          <p:cNvPr id="54" name="Text 52"/>
          <p:cNvSpPr/>
          <p:nvPr/>
        </p:nvSpPr>
        <p:spPr>
          <a:xfrm>
            <a:off x="7415784" y="6035040"/>
            <a:ext cx="2121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· C++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720072" y="6035040"/>
            <a:ext cx="2121408" cy="38404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/>
        </p:spPr>
      </p:sp>
      <p:sp>
        <p:nvSpPr>
          <p:cNvPr id="56" name="Text 54"/>
          <p:cNvSpPr/>
          <p:nvPr/>
        </p:nvSpPr>
        <p:spPr>
          <a:xfrm>
            <a:off x="9720072" y="6035040"/>
            <a:ext cx="2121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Greenery · i18n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— live on the internet today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agrisense-269.pages.dev — deployed on Cloudflare Pages, used from real devices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60020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1856232"/>
            <a:ext cx="566928" cy="566928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183794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463040" y="185623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77240" y="25603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Plant-health index, grouped sensor streams, compact &amp; mobile layouts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34840" y="160020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856232"/>
            <a:ext cx="566928" cy="566928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617720" y="183794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49240" y="185623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crop scan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663440" y="25603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→ disease diagnosis, severity, treatment steps (real AI vision)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21040" y="160020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549640" y="1856232"/>
            <a:ext cx="566928" cy="566928"/>
          </a:xfrm>
          <a:prstGeom prst="ellipse">
            <a:avLst/>
          </a:prstGeom>
          <a:solidFill>
            <a:srgbClr val="D9941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503920" y="183794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🌦️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9235440" y="185623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advisories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49640" y="256032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live forecast for any Indian region, daily field advice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397764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77240" y="4233672"/>
            <a:ext cx="566928" cy="566928"/>
          </a:xfrm>
          <a:prstGeom prst="ellipse">
            <a:avLst/>
          </a:prstGeom>
          <a:solidFill>
            <a:srgbClr val="35702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31520" y="421538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463040" y="42336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 + voice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77240" y="49377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Q&amp;A with spoken replies; weekly AI farm report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434840" y="397764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63440" y="4233672"/>
            <a:ext cx="566928" cy="566928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617720" y="421538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349240" y="42336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&amp; orders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4663440" y="49377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cart, orders with tracking and cancellation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321040" y="3977640"/>
            <a:ext cx="3657600" cy="2103120"/>
          </a:xfrm>
          <a:prstGeom prst="roundRect">
            <a:avLst>
              <a:gd name="adj" fmla="val 4348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549640" y="4233672"/>
            <a:ext cx="566928" cy="566928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503920" y="421538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👥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9235440" y="42336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profiles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8549640" y="49377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follows, messaging, rewards — Instagram-style profiles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All six modules are deployed at agrisense-269.pages.dev and testable live during Q&amp;A.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to screen — every arrow below exists in the running system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151790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97BC6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151790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TODAY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035808" y="1517904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/>
        </p:spPr>
      </p:sp>
      <p:sp>
        <p:nvSpPr>
          <p:cNvPr id="24" name="Text 22"/>
          <p:cNvSpPr/>
          <p:nvPr/>
        </p:nvSpPr>
        <p:spPr>
          <a:xfrm>
            <a:off x="3035808" y="1517904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FREE-TIER STACK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87568" y="1517904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F3E3C3"/>
          </a:solidFill>
          <a:ln/>
        </p:spPr>
      </p:sp>
      <p:sp>
        <p:nvSpPr>
          <p:cNvPr id="26" name="Text 24"/>
          <p:cNvSpPr/>
          <p:nvPr/>
        </p:nvSpPr>
        <p:spPr>
          <a:xfrm>
            <a:off x="5687568" y="151790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7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ON-BOARD FAILSAFE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246888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E441F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" y="260604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🌡️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502920" y="3200400"/>
            <a:ext cx="1965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real readings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423160" y="3063240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941F"/>
                </a:solidFill>
              </a:rPr>
              <a:t>→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2743200" y="246888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E441F">
                <a:alpha val="2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743200" y="260604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🔌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2743200" y="3200400"/>
            <a:ext cx="1965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(C++)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663440" y="3063240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941F"/>
                </a:solidFill>
              </a:rPr>
              <a:t>→</a:t>
            </a:r>
            <a:endParaRPr lang="en-US" sz="2800" dirty="0"/>
          </a:p>
        </p:txBody>
      </p:sp>
      <p:sp>
        <p:nvSpPr>
          <p:cNvPr id="35" name="Shape 33"/>
          <p:cNvSpPr/>
          <p:nvPr/>
        </p:nvSpPr>
        <p:spPr>
          <a:xfrm>
            <a:off x="4983480" y="246888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E441F">
                <a:alpha val="2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983480" y="260604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☁️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983480" y="3200400"/>
            <a:ext cx="1965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· Firestore · App Check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903720" y="3063240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941F"/>
                </a:solidFill>
              </a:rPr>
              <a:t>→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7543800" y="246888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E441F">
                <a:alpha val="2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543800" y="260604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7543800" y="3200400"/>
            <a:ext cx="1965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on Cloudflare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9464040" y="3063240"/>
            <a:ext cx="384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941F"/>
                </a:solidFill>
              </a:rPr>
              <a:t>→</a:t>
            </a:r>
            <a:endParaRPr lang="en-US" sz="2800" dirty="0"/>
          </a:p>
        </p:txBody>
      </p:sp>
      <p:sp>
        <p:nvSpPr>
          <p:cNvPr id="43" name="Shape 41"/>
          <p:cNvSpPr/>
          <p:nvPr/>
        </p:nvSpPr>
        <p:spPr>
          <a:xfrm>
            <a:off x="10012680" y="2468880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E441F">
                <a:alpha val="2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012680" y="2606040"/>
            <a:ext cx="1965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👩‍🌾</a:t>
            </a:r>
            <a:endParaRPr lang="en-US" sz="2800" dirty="0"/>
          </a:p>
        </p:txBody>
      </p:sp>
      <p:sp>
        <p:nvSpPr>
          <p:cNvPr id="45" name="Text 43"/>
          <p:cNvSpPr/>
          <p:nvPr/>
        </p:nvSpPr>
        <p:spPr>
          <a:xfrm>
            <a:off x="10012680" y="3200400"/>
            <a:ext cx="1965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phone or laptop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371600" y="48920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5448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OpenRouter AI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1554480" y="5468112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vision · reports — 14-model self-healing fallback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937760" y="48920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12064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🌦️  Open-Meteo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120640" y="5468112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 + geocoding for any region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4892040"/>
            <a:ext cx="3017520" cy="1371600"/>
          </a:xfrm>
          <a:prstGeom prst="roundRect">
            <a:avLst>
              <a:gd name="adj" fmla="val 66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8686800" y="50292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  Cloudflare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8686800" y="5468112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· CDN · web analytics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Every arrow above is running code — nothing on this slide is conceptual.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Hardware — built with our own hands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+ breadboard + 8 live readings + 2 actuators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554480"/>
            <a:ext cx="5577840" cy="484632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17830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On the board today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68680" y="228600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DHT11 — air temperature + humidity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capacitive soil-moisture probes (two zones)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LDR light sensor · rain-drop sensor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HC-SR04 ultrasonic — water-tank level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2-channel relay → water pump + 5V cooling fan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Battery-powered actuator circuit with shared ground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68680" y="56235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97BC62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6235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ARDUINO C++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697480" y="562356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/>
        </p:spPr>
      </p:sp>
      <p:sp>
        <p:nvSpPr>
          <p:cNvPr id="27" name="Text 25"/>
          <p:cNvSpPr/>
          <p:nvPr/>
        </p:nvSpPr>
        <p:spPr>
          <a:xfrm>
            <a:off x="2697480" y="56235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EVERY 2s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617720" y="56235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3E3C3"/>
          </a:solidFill>
          <a:ln/>
        </p:spPr>
      </p:sp>
      <p:sp>
        <p:nvSpPr>
          <p:cNvPr id="29" name="Text 27"/>
          <p:cNvSpPr/>
          <p:nvPr/>
        </p:nvSpPr>
        <p:spPr>
          <a:xfrm>
            <a:off x="4617720" y="56235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7A54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115200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92240" y="1554480"/>
            <a:ext cx="5120640" cy="4846320"/>
          </a:xfrm>
          <a:prstGeom prst="roundRect">
            <a:avLst>
              <a:gd name="adj" fmla="val 1887"/>
            </a:avLst>
          </a:prstGeom>
          <a:solidFill>
            <a:srgbClr val="1E441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81228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Auto-logic (runs on the chip)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812280" y="2377440"/>
            <a:ext cx="452628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237744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PUMP ON:  </a:t>
            </a:r>
            <a:pPr indent="0" marL="0">
              <a:buNone/>
            </a:pPr>
            <a:r>
              <a:rPr lang="en-US" sz="1300" dirty="0">
                <a:solidFill>
                  <a:srgbClr val="EAF3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soil &lt; 30% AND no rain AND tank ok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812280" y="3429000"/>
            <a:ext cx="4526280" cy="914400"/>
          </a:xfrm>
          <a:prstGeom prst="roundRect">
            <a:avLst>
              <a:gd name="adj" fmla="val 8000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342900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FAN ON:   </a:t>
            </a:r>
            <a:pPr indent="0" marL="0">
              <a:buNone/>
            </a:pPr>
            <a:r>
              <a:rPr lang="en-US" sz="1300" dirty="0">
                <a:solidFill>
                  <a:srgbClr val="EAF3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 temperature &gt; 34°C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12280" y="4663440"/>
            <a:ext cx="4572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waters and cools itself — no app, no internet needed. Decisions happen on the ESP32.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Prototype — digital 3D model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isometric render of our actual breadboard build — spin the interactive Three.js version live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1417320"/>
            <a:ext cx="7452360" cy="52120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pic>
        <p:nvPicPr>
          <p:cNvPr id="22" name="Image 0" descr="/home/claude/prototype_i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7223760" cy="4965192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092440" y="1417320"/>
            <a:ext cx="35204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247888" y="1600200"/>
            <a:ext cx="502920" cy="50292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202168" y="1581912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887968" y="152704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brain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887968" y="187452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sensors every 2 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092440" y="2496312"/>
            <a:ext cx="3520440" cy="932688"/>
          </a:xfrm>
          <a:prstGeom prst="roundRect">
            <a:avLst>
              <a:gd name="adj" fmla="val 9804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8247888" y="2679192"/>
            <a:ext cx="502920" cy="502920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202168" y="266090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🌡️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8887968" y="2606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sensor modules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8887968" y="295351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DHT11 · 2× soil · LDR · rain · HC-SR04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8092440" y="3575304"/>
            <a:ext cx="352044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247888" y="3758184"/>
            <a:ext cx="502920" cy="502920"/>
          </a:xfrm>
          <a:prstGeom prst="ellipse">
            <a:avLst/>
          </a:prstGeom>
          <a:solidFill>
            <a:srgbClr val="D9941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8202168" y="3739896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887968" y="368503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actuators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887968" y="40325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relay-driven pump + cooling fan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092440" y="4654296"/>
            <a:ext cx="3520440" cy="932688"/>
          </a:xfrm>
          <a:prstGeom prst="roundRect">
            <a:avLst>
              <a:gd name="adj" fmla="val 9804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47888" y="4837176"/>
            <a:ext cx="502920" cy="502920"/>
          </a:xfrm>
          <a:prstGeom prst="ellipse">
            <a:avLst/>
          </a:prstGeom>
          <a:solidFill>
            <a:srgbClr val="35702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0" name="Text 37"/>
          <p:cNvSpPr/>
          <p:nvPr/>
        </p:nvSpPr>
        <p:spPr>
          <a:xfrm>
            <a:off x="8202168" y="4818888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🔋</a:t>
            </a:r>
            <a:endParaRPr lang="en-US" sz="2200" dirty="0"/>
          </a:p>
        </p:txBody>
      </p:sp>
      <p:sp>
        <p:nvSpPr>
          <p:cNvPr id="41" name="Text 38"/>
          <p:cNvSpPr/>
          <p:nvPr/>
        </p:nvSpPr>
        <p:spPr>
          <a:xfrm>
            <a:off x="8887968" y="476402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power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8887968" y="511149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actuators run off Li battery, shared GND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8092440" y="5806440"/>
            <a:ext cx="3520440" cy="822960"/>
          </a:xfrm>
          <a:prstGeom prst="roundRect">
            <a:avLst>
              <a:gd name="adj" fmla="val 13333"/>
            </a:avLst>
          </a:prstGeom>
          <a:solidFill>
            <a:srgbClr val="2C5F2D"/>
          </a:solidFill>
          <a:ln/>
        </p:spPr>
      </p:sp>
      <p:sp>
        <p:nvSpPr>
          <p:cNvPr id="44" name="Text 41"/>
          <p:cNvSpPr/>
          <p:nvPr/>
        </p:nvSpPr>
        <p:spPr>
          <a:xfrm>
            <a:off x="8275320" y="58064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Interactive version
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prototype_3d.html — drag to rotate, Three.js</a:t>
            </a:r>
            <a:endParaRPr lang="en-US" sz="1250" dirty="0"/>
          </a:p>
        </p:txBody>
      </p:sp>
      <p:sp>
        <p:nvSpPr>
          <p:cNvPr id="45" name="Text 42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Same layout as the real breadboard — pin-for-pin with the wiring diagram and firmware.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Capabilities — real models, real answers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48640" y="132588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1627632"/>
            <a:ext cx="566928" cy="566928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160934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572768" y="1600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Crop-disease vision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72768" y="210312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leaf photo → diagnosis, severity, confidence, treatment with India-available products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132588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92240" y="1627632"/>
            <a:ext cx="566928" cy="566928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46520" y="160934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242048" y="16002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Farming assistant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242048" y="210312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Q&amp;A that knows the live field data; speaks replies aloud (accessibility)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960" y="4096512"/>
            <a:ext cx="566928" cy="566928"/>
          </a:xfrm>
          <a:prstGeom prst="ellipse">
            <a:avLst/>
          </a:prstGeom>
          <a:solidFill>
            <a:srgbClr val="D9941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407822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572768" y="4069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farm report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1572768" y="457200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sensors + forecast + activity log and writes a plain-language action plan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41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92240" y="4096512"/>
            <a:ext cx="566928" cy="566928"/>
          </a:xfrm>
          <a:prstGeom prst="ellipse">
            <a:avLst/>
          </a:prstGeom>
          <a:solidFill>
            <a:srgbClr val="35702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46520" y="4078224"/>
            <a:ext cx="65836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242048" y="40690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engine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242048" y="457200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packs for 8 languages + AI translation — full UI in the farmer's language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8640" y="6035040"/>
            <a:ext cx="11064240" cy="566928"/>
          </a:xfrm>
          <a:prstGeom prst="roundRect">
            <a:avLst>
              <a:gd name="adj" fmla="val 50000"/>
            </a:avLst>
          </a:prstGeom>
          <a:solidFill>
            <a:srgbClr val="EFF7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2960" y="6035040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Reliability: 14 free AI models in a self-healing fallback chain — junk responses detected and skipped automatically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2011680"/>
            <a:ext cx="5120640" cy="5120640"/>
          </a:xfrm>
          <a:prstGeom prst="ellipse">
            <a:avLst/>
          </a:prstGeom>
          <a:solidFill>
            <a:srgbClr val="2C5F2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572000"/>
            <a:ext cx="4754880" cy="4754880"/>
          </a:xfrm>
          <a:prstGeom prst="ellipse">
            <a:avLst/>
          </a:prstGeom>
          <a:solidFill>
            <a:srgbClr val="35702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4937760"/>
            <a:ext cx="2651760" cy="2651760"/>
          </a:xfrm>
          <a:prstGeom prst="ellipse">
            <a:avLst/>
          </a:prstGeom>
          <a:solidFill>
            <a:srgbClr val="1E441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E5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 rot="-1680000">
            <a:off x="274320" y="1216152"/>
            <a:ext cx="219456" cy="91440"/>
          </a:xfrm>
          <a:prstGeom prst="ellipse">
            <a:avLst/>
          </a:prstGeom>
          <a:solidFill>
            <a:srgbClr val="C9DDAB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59184" y="2377440"/>
            <a:ext cx="274320" cy="274320"/>
          </a:xfrm>
          <a:prstGeom prst="ellipse">
            <a:avLst/>
          </a:prstGeom>
          <a:solidFill>
            <a:srgbClr val="1E441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-2100000">
            <a:off x="146304" y="5029200"/>
            <a:ext cx="292608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539728" y="1371600"/>
            <a:ext cx="137160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11759184" y="1627632"/>
            <a:ext cx="91440" cy="91440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2" name="Shape 10"/>
          <p:cNvSpPr/>
          <p:nvPr/>
        </p:nvSpPr>
        <p:spPr>
          <a:xfrm>
            <a:off x="146304" y="2697480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Bharat — 15+ languages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9CD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agronomy advice only helps if you can read it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169164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16916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हिन्दी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3474720" y="169164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74720" y="16916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मराठी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309360" y="169164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09360" y="16916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বাংলা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0" y="169164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0" y="16916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தமிழ்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640080" y="297180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29718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తెలుగు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3474720" y="297180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474720" y="29718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ગુજરાતી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309360" y="297180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29718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ਪੰਜਾਬੀ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144000" y="297180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0" y="297180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" y="425196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40080" y="42519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ಕನ್ನಡ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3474720" y="425196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474720" y="42519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മലയാളം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6309360" y="425196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09360" y="42519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ଓଡ଼ିଆ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9144000" y="4251960"/>
            <a:ext cx="2606040" cy="1005840"/>
          </a:xfrm>
          <a:prstGeom prst="roundRect">
            <a:avLst>
              <a:gd name="adj" fmla="val 10909"/>
            </a:avLst>
          </a:prstGeom>
          <a:solidFill>
            <a:srgbClr val="35702F"/>
          </a:solidFill>
          <a:ln w="12700">
            <a:solidFill>
              <a:srgbClr val="97BC62"/>
            </a:solidFill>
            <a:prstDash val="solid"/>
          </a:ln>
          <a:effectLst>
            <a:outerShdw sx="100000" sy="100000" kx="0" ky="0" algn="bl" rotWithShape="0" blurRad="76200" dist="38100" dir="5400000">
              <a:srgbClr val="000000">
                <a:alpha val="3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44000" y="425196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অসমীয়া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640080" y="5806440"/>
            <a:ext cx="10881360" cy="566928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8064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Home dashboard hand-translated in 8 languages · instant switching · voice replies for low-literacy users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&amp; Reliability — production practices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48640" y="132588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1581912"/>
            <a:ext cx="502920" cy="50292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156362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17320" y="158191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Email-verified accounts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228600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Sign-ups must verify by email; auto-detects the click and enters the app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434840" y="132588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1581912"/>
            <a:ext cx="502920" cy="502920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617720" y="156362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303520" y="158191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App Check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663440" y="228600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reCAPTCHA v3 tokens verify every request comes from OUR app, not scrapers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321040" y="132588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549640" y="1581912"/>
            <a:ext cx="502920" cy="502920"/>
          </a:xfrm>
          <a:prstGeom prst="ellipse">
            <a:avLst/>
          </a:prstGeom>
          <a:solidFill>
            <a:srgbClr val="D9941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03920" y="156362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📜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189720" y="158191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security rules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49640" y="228600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rules limit who can read/write what — not just client checks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379476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77240" y="4050792"/>
            <a:ext cx="502920" cy="502920"/>
          </a:xfrm>
          <a:prstGeom prst="ellipse">
            <a:avLst/>
          </a:prstGeom>
          <a:solidFill>
            <a:srgbClr val="35702F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31520" y="403250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417320" y="40507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AI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77240" y="475488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14-model fallback; bad model responses detected and skipped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434840" y="379476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4050792"/>
            <a:ext cx="502920" cy="50292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617720" y="403250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5303520" y="40507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analytics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663440" y="475488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Privacy-friendly visitor tracking, bot traffic identified and excluded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321040" y="379476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8549640" y="4050792"/>
            <a:ext cx="502920" cy="502920"/>
          </a:xfrm>
          <a:prstGeom prst="ellipse">
            <a:avLst/>
          </a:prstGeom>
          <a:solidFill>
            <a:srgbClr val="97BC62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8503920" y="4032504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9189720" y="4050792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In-app-browser guard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549640" y="4754880"/>
            <a:ext cx="3200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Instagram/FB browsers that break login and guides users out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All layers are active in production today — we can show the Firebase &amp; Cloudflare consoles live on request.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 vs Future Scope — our honesty slide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judges deserve the truth. Here it is.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554480"/>
            <a:ext cx="5486400" cy="4846320"/>
          </a:xfrm>
          <a:prstGeom prst="roundRect">
            <a:avLst>
              <a:gd name="adj" fmla="val 188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1783080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572768" y="1828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&amp; WORKING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68680" y="256032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 · AI chat, vision &amp; reports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cross-device sync, App Check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hardware readings + auto pump/fan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flow, orders, community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languages, voice replies, analytics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1554480"/>
            <a:ext cx="5212080" cy="4846320"/>
          </a:xfrm>
          <a:prstGeom prst="roundRect">
            <a:avLst>
              <a:gd name="adj" fmla="val 1887"/>
            </a:avLst>
          </a:prstGeom>
          <a:solidFill>
            <a:srgbClr val="FBF3E4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720840" y="1783080"/>
            <a:ext cx="566928" cy="566928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🔮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24928" y="1828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(labelled in-app)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720840" y="256032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advanced sensors (NDVI, sap flow, NPK at scale)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 settlement &amp; delivery logistics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imagery &amp; drone integration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notifications; offline-first mode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Firebase live-data bridge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Engineering Battles — problems we actually solved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48640" y="132588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4672" y="1554480"/>
            <a:ext cx="502920" cy="5029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58952" y="1536192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44752" y="1554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returned junk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216712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'Content Safety' model answered crop scans with nothing useful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2880360"/>
            <a:ext cx="566928" cy="365760"/>
          </a:xfrm>
          <a:prstGeom prst="rect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508760" y="2807208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response-quality detection that skips bad models automatically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17920" y="132588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73952" y="1554480"/>
            <a:ext cx="502920" cy="5029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28232" y="1536192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114032" y="155448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broke in Instagram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92240" y="216712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browsers silently block Firebase auth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2880360"/>
            <a:ext cx="566928" cy="365760"/>
          </a:xfrm>
          <a:prstGeom prst="rect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78040" y="2807208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in-app browsers, warn users, guide them to a real browser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48640" y="38862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4114800"/>
            <a:ext cx="502920" cy="5029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58952" y="4096512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444752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orders looked alive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22960" y="472744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engine ignored the cancelled flag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5440680"/>
            <a:ext cx="566928" cy="365760"/>
          </a:xfrm>
          <a:prstGeom prst="rect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508760" y="5367528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Rewrote order-state logic across tracking, list &amp; payments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6217920" y="3886200"/>
            <a:ext cx="5394960" cy="2331720"/>
          </a:xfrm>
          <a:prstGeom prst="roundRect">
            <a:avLst>
              <a:gd name="adj" fmla="val 3922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73952" y="4114800"/>
            <a:ext cx="502920" cy="5029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1E441F">
                <a:alpha val="2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28232" y="4096512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114032" y="4114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wouldn't reach ESP32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492240" y="472744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Bluetooth COM ports masqueraded as the board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492240" y="5440680"/>
            <a:ext cx="566928" cy="365760"/>
          </a:xfrm>
          <a:prstGeom prst="rect">
            <a:avLst/>
          </a:prstGeom>
          <a:solidFill>
            <a:srgbClr val="2C5F2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 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178040" y="5367528"/>
            <a:ext cx="4160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via driver/port forensics — CH340 driver + port isolation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Every fix above shipped to the live site the same day it was found.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48640" y="1298448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129844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Frontend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840480" y="134416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JavaScript — single-file app, 3 themes, glassmorphism, Three.js 3D field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2176272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35702F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77240" y="2176272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Backend services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840480" y="222199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Authentication · Cloud Firestore · App Check (reCAPTCHA v3)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48640" y="3054096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77240" y="3054096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AI layer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840480" y="3099816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free models — chat, vision &amp; report generation with fallback chain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548640" y="3931920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35702F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77240" y="39319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🌦️  Data services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840480" y="39776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live weather + geocoding · Cloudflare Web Analytics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4809744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77240" y="4809744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 Hardware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840480" y="4855464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(Arduino C++) · DHT11 · soil/LDR/rain/ultrasonic · 2-ch relay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48640" y="5687568"/>
            <a:ext cx="3063240" cy="731520"/>
          </a:xfrm>
          <a:prstGeom prst="roundRect">
            <a:avLst>
              <a:gd name="adj" fmla="val 50000"/>
            </a:avLst>
          </a:prstGeom>
          <a:solidFill>
            <a:srgbClr val="35702F"/>
          </a:solidFill>
          <a:ln/>
          <a:effectLst>
            <a:outerShdw sx="100000" sy="100000" kx="0" ky="0" algn="bl" rotWithShape="0" blurRad="76200" dist="25400" dir="5400000">
              <a:srgbClr val="1E441F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77240" y="5687568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Hosting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840480" y="573328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 — global CDN, free tier, deployed from day one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4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2011680"/>
            <a:ext cx="5120640" cy="5120640"/>
          </a:xfrm>
          <a:prstGeom prst="ellipse">
            <a:avLst/>
          </a:prstGeom>
          <a:solidFill>
            <a:srgbClr val="2C5F2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572000"/>
            <a:ext cx="4754880" cy="4754880"/>
          </a:xfrm>
          <a:prstGeom prst="ellipse">
            <a:avLst/>
          </a:prstGeom>
          <a:solidFill>
            <a:srgbClr val="35702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81360" y="4937760"/>
            <a:ext cx="2651760" cy="2651760"/>
          </a:xfrm>
          <a:prstGeom prst="ellipse">
            <a:avLst/>
          </a:prstGeom>
          <a:solidFill>
            <a:srgbClr val="1E441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E5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7" name="Shape 5"/>
          <p:cNvSpPr/>
          <p:nvPr/>
        </p:nvSpPr>
        <p:spPr>
          <a:xfrm rot="-1680000">
            <a:off x="274320" y="1216152"/>
            <a:ext cx="219456" cy="91440"/>
          </a:xfrm>
          <a:prstGeom prst="ellipse">
            <a:avLst/>
          </a:prstGeom>
          <a:solidFill>
            <a:srgbClr val="C9DDAB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59184" y="2377440"/>
            <a:ext cx="274320" cy="274320"/>
          </a:xfrm>
          <a:prstGeom prst="ellipse">
            <a:avLst/>
          </a:prstGeom>
          <a:solidFill>
            <a:srgbClr val="1E441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-2100000">
            <a:off x="146304" y="5029200"/>
            <a:ext cx="292608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539728" y="1371600"/>
            <a:ext cx="137160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Shape 9"/>
          <p:cNvSpPr/>
          <p:nvPr/>
        </p:nvSpPr>
        <p:spPr>
          <a:xfrm>
            <a:off x="11759184" y="1627632"/>
            <a:ext cx="91440" cy="91440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2" name="Shape 10"/>
          <p:cNvSpPr/>
          <p:nvPr/>
        </p:nvSpPr>
        <p:spPr>
          <a:xfrm>
            <a:off x="146304" y="2697480"/>
            <a:ext cx="109728" cy="10972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Traction — it's not a mock-up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9CD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from our live deployment (Cloudflare + Firebase dashboards)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2C5F2D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1828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850+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in 24h at peak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26280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35702F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09160" y="1828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262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22" name="Text 20"/>
          <p:cNvSpPr/>
          <p:nvPr/>
        </p:nvSpPr>
        <p:spPr>
          <a:xfrm>
            <a:off x="4526280" y="2971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reached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412480" y="169164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2C5F2D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8288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📡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412480" y="192024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600" dirty="0"/>
          </a:p>
        </p:txBody>
      </p:sp>
      <p:sp>
        <p:nvSpPr>
          <p:cNvPr id="26" name="Text 24"/>
          <p:cNvSpPr/>
          <p:nvPr/>
        </p:nvSpPr>
        <p:spPr>
          <a:xfrm>
            <a:off x="8412480" y="29718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streams in dashboard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35702F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" y="3977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40080" y="40690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600" dirty="0"/>
          </a:p>
        </p:txBody>
      </p:sp>
      <p:sp>
        <p:nvSpPr>
          <p:cNvPr id="30" name="Text 28"/>
          <p:cNvSpPr/>
          <p:nvPr/>
        </p:nvSpPr>
        <p:spPr>
          <a:xfrm>
            <a:off x="640080" y="5120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hardware readings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628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2C5F2D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3977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🗣️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26280" y="40690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15+</a:t>
            </a:r>
            <a:endParaRPr lang="en-US" sz="4600" dirty="0"/>
          </a:p>
        </p:txBody>
      </p:sp>
      <p:sp>
        <p:nvSpPr>
          <p:cNvPr id="34" name="Text 32"/>
          <p:cNvSpPr/>
          <p:nvPr/>
        </p:nvSpPr>
        <p:spPr>
          <a:xfrm>
            <a:off x="4526280" y="5120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supported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41248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35702F"/>
          </a:solidFill>
          <a:ln w="15875">
            <a:solidFill>
              <a:srgbClr val="97BC6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9776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8412480" y="40690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600" dirty="0"/>
          </a:p>
        </p:txBody>
      </p:sp>
      <p:sp>
        <p:nvSpPr>
          <p:cNvPr id="38" name="Text 36"/>
          <p:cNvSpPr/>
          <p:nvPr/>
        </p:nvSpPr>
        <p:spPr>
          <a:xfrm>
            <a:off x="8412480" y="51206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in fallback chain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FA9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Honest read: raw edge requests include bot traffic — Cloudflare Web Analytics separates the human visitors.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— a day with AgriSense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548640" y="1325880"/>
            <a:ext cx="11064240" cy="516636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572768" y="1691640"/>
            <a:ext cx="0" cy="4526280"/>
          </a:xfrm>
          <a:prstGeom prst="line">
            <a:avLst/>
          </a:prstGeom>
          <a:noFill/>
          <a:ln w="31750">
            <a:solidFill>
              <a:srgbClr val="D8E5C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71600" y="1609344"/>
            <a:ext cx="420624" cy="420624"/>
          </a:xfrm>
          <a:prstGeom prst="ellipse">
            <a:avLst/>
          </a:prstGeom>
          <a:solidFill>
            <a:srgbClr val="2C5F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53312" y="160020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11680" y="155448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06:30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154680" y="15544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opens the app in Hindi — overnight report: soil zone 2 dropped to 28%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1371600" y="2368296"/>
            <a:ext cx="420624" cy="420624"/>
          </a:xfrm>
          <a:prstGeom prst="ellipse">
            <a:avLst/>
          </a:prstGeom>
          <a:solidFill>
            <a:srgbClr val="97BC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235915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💧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011680" y="2313432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06:31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154680" y="2313432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already ran at dawn (auto-logic) — 18 L used, rain expected Thursday so schedule adjusted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1371600" y="3127248"/>
            <a:ext cx="420624" cy="420624"/>
          </a:xfrm>
          <a:prstGeom prst="ellipse">
            <a:avLst/>
          </a:prstGeom>
          <a:solidFill>
            <a:srgbClr val="D9941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11810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📷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011680" y="3072384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154680" y="3072384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pale leaves → photographs them → AI: early nitrogen deficiency, low severity, urea top-dress advice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371600" y="3886200"/>
            <a:ext cx="420624" cy="420624"/>
          </a:xfrm>
          <a:prstGeom prst="ellipse">
            <a:avLst/>
          </a:prstGeom>
          <a:solidFill>
            <a:srgbClr val="35702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53312" y="3877056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🌡️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011680" y="3831336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13:00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3154680" y="3831336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crosses 34°C — fan relay kicks in; app suggests dawn irrigation for the week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1371600" y="4645152"/>
            <a:ext cx="420624" cy="420624"/>
          </a:xfrm>
          <a:prstGeom prst="ellipse">
            <a:avLst/>
          </a:prstGeom>
          <a:solidFill>
            <a:srgbClr val="2C5F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53312" y="463600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👥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011680" y="4590288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3154680" y="4590288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the leaf photo in Community; two farmers nearby confirm the same issue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1371600" y="5404104"/>
            <a:ext cx="420624" cy="420624"/>
          </a:xfrm>
          <a:prstGeom prst="ellipse">
            <a:avLst/>
          </a:prstGeom>
          <a:solidFill>
            <a:srgbClr val="97BC6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53312" y="539496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📝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011680" y="5349240"/>
            <a:ext cx="1051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21:00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3154680" y="534924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AI report: water saved, crop-health trend up, three actions for next week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66928" y="9601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show you right now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1508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22960" y="1801368"/>
            <a:ext cx="731520" cy="731520"/>
          </a:xfrm>
          <a:prstGeom prst="ellipse">
            <a:avLst/>
          </a:prstGeom>
          <a:solidFill>
            <a:srgbClr val="2C5F2D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18013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73736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→ dashboard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37360" y="242316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Greenery UI, live health index, grouped sensors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17920" y="150876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92240" y="1801368"/>
            <a:ext cx="731520" cy="731520"/>
          </a:xfrm>
          <a:prstGeom prst="ellipse">
            <a:avLst/>
          </a:prstGeom>
          <a:solidFill>
            <a:srgbClr val="97BC6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2240" y="18013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06640" y="18745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scan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06640" y="242316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real leaf photo with AI vision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38404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2960" y="4133088"/>
            <a:ext cx="731520" cy="731520"/>
          </a:xfrm>
          <a:prstGeom prst="ellipse">
            <a:avLst/>
          </a:prstGeom>
          <a:solidFill>
            <a:srgbClr val="D9941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22960" y="41330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737360" y="4206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+ AI report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737360" y="4754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region, generate this week's farm report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217920" y="38404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92240" y="4133088"/>
            <a:ext cx="731520" cy="731520"/>
          </a:xfrm>
          <a:prstGeom prst="ellipse">
            <a:avLst/>
          </a:prstGeom>
          <a:solidFill>
            <a:srgbClr val="35702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1E441F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492240" y="41330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7406640" y="42062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B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06640" y="4754880"/>
            <a:ext cx="3931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breadboard: readings + relay clicks on dry soil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6108192"/>
            <a:ext cx="11064240" cy="548640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" y="6108192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Live URL:  agrisense-269.pages.dev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920240"/>
            <a:ext cx="4937760" cy="4937760"/>
          </a:xfrm>
          <a:prstGeom prst="ellipse">
            <a:avLst/>
          </a:prstGeom>
          <a:solidFill>
            <a:srgbClr val="97BC62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011680" y="4480560"/>
            <a:ext cx="4572000" cy="4572000"/>
          </a:xfrm>
          <a:prstGeom prst="ellipse">
            <a:avLst/>
          </a:prstGeom>
          <a:solidFill>
            <a:srgbClr val="2C5F2D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120640"/>
            <a:ext cx="2377440" cy="237744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0" y="4892040"/>
            <a:ext cx="2148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DFE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-1051560" y="15544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19050">
            <a:solidFill>
              <a:srgbClr val="C9DDA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2280000">
            <a:off x="109728" y="105156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8" name="Shape 6"/>
          <p:cNvSpPr/>
          <p:nvPr/>
        </p:nvSpPr>
        <p:spPr>
          <a:xfrm rot="-1800000">
            <a:off x="274320" y="1207008"/>
            <a:ext cx="237744" cy="100584"/>
          </a:xfrm>
          <a:prstGeom prst="ellipse">
            <a:avLst/>
          </a:prstGeom>
          <a:solidFill>
            <a:srgbClr val="2C5F2D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-2400000">
            <a:off x="11750040" y="2331720"/>
            <a:ext cx="310896" cy="13716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0" name="Shape 8"/>
          <p:cNvSpPr/>
          <p:nvPr/>
        </p:nvSpPr>
        <p:spPr>
          <a:xfrm rot="1500000">
            <a:off x="11612880" y="2514600"/>
            <a:ext cx="219456" cy="91440"/>
          </a:xfrm>
          <a:prstGeom prst="ellipse">
            <a:avLst/>
          </a:prstGeom>
          <a:solidFill>
            <a:srgbClr val="D9941F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28016" y="5074920"/>
            <a:ext cx="274320" cy="274320"/>
          </a:xfrm>
          <a:prstGeom prst="ellipse">
            <a:avLst/>
          </a:prstGeom>
          <a:solidFill>
            <a:srgbClr val="FFFFFF">
              <a:alpha val="0"/>
            </a:srgbClr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5349240"/>
            <a:ext cx="128016" cy="128016"/>
          </a:xfrm>
          <a:prstGeom prst="ellipse">
            <a:avLst/>
          </a:prstGeom>
          <a:solidFill>
            <a:srgbClr val="97BC62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95760" y="365760"/>
            <a:ext cx="237744" cy="237744"/>
          </a:xfrm>
          <a:prstGeom prst="ellipse">
            <a:avLst/>
          </a:prstGeom>
          <a:solidFill>
            <a:srgbClr val="D9941F">
              <a:alpha val="6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539728" y="1417320"/>
            <a:ext cx="146304" cy="146304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11759184" y="1664208"/>
            <a:ext cx="100584" cy="100584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21440" y="1883664"/>
            <a:ext cx="82296" cy="8229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8016" y="2651760"/>
            <a:ext cx="118872" cy="118872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310896" y="2871216"/>
            <a:ext cx="82296" cy="82296"/>
          </a:xfrm>
          <a:prstGeom prst="ellipse">
            <a:avLst/>
          </a:prstGeom>
          <a:solidFill>
            <a:srgbClr val="D9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9260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B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— where this goes next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731520" y="1764792"/>
            <a:ext cx="914400" cy="914400"/>
          </a:xfrm>
          <a:prstGeom prst="ellipse">
            <a:avLst/>
          </a:prstGeom>
          <a:solidFill>
            <a:srgbClr val="2C5F2D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8100" dir="5400000">
              <a:srgbClr val="1E441F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1520" y="176479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🚀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1920240" y="1508760"/>
            <a:ext cx="9692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240280" y="167335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month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2240280" y="2167128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Firebase bridge so real readings appear live in the app; custom domain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31520" y="3410712"/>
            <a:ext cx="914400" cy="914400"/>
          </a:xfrm>
          <a:prstGeom prst="ellipse">
            <a:avLst/>
          </a:prstGeom>
          <a:solidFill>
            <a:srgbClr val="97BC62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8100" dir="5400000">
              <a:srgbClr val="1E441F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" y="341071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🌱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1920240" y="3154680"/>
            <a:ext cx="9692640" cy="1371600"/>
          </a:xfrm>
          <a:prstGeom prst="roundRect">
            <a:avLst>
              <a:gd name="adj" fmla="val 6667"/>
            </a:avLst>
          </a:prstGeom>
          <a:solidFill>
            <a:srgbClr val="EFF7EA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240280" y="331927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2240280" y="3813048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+ pH probes, scan-history storage, push notifications, offline mode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20" y="5056632"/>
            <a:ext cx="914400" cy="914400"/>
          </a:xfrm>
          <a:prstGeom prst="ellipse">
            <a:avLst/>
          </a:prstGeom>
          <a:solidFill>
            <a:srgbClr val="D9941F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8100" dir="5400000">
              <a:srgbClr val="1E441F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1520" y="5056632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🌾</a:t>
            </a:r>
            <a:endParaRPr lang="en-US" sz="2800" dirty="0"/>
          </a:p>
        </p:txBody>
      </p:sp>
      <p:sp>
        <p:nvSpPr>
          <p:cNvPr id="32" name="Shape 30"/>
          <p:cNvSpPr/>
          <p:nvPr/>
        </p:nvSpPr>
        <p:spPr>
          <a:xfrm>
            <a:off x="1920240" y="4800600"/>
            <a:ext cx="96926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8D6"/>
            </a:solidFill>
            <a:prstDash val="solid"/>
          </a:ln>
          <a:effectLst>
            <a:outerShdw sx="100000" sy="100000" kx="0" ky="0" algn="bl" rotWithShape="0" blurRad="114300" dist="38100" dir="5400000">
              <a:srgbClr val="1E441F">
                <a:alpha val="14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240280" y="4965192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2240280" y="5458968"/>
            <a:ext cx="8961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a real farm cluster; mandi-price integration; drone imagery trials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419088"/>
            <a:ext cx="10424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Each horizon has an owner on the team — ask us who is building what.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4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3108960"/>
            <a:ext cx="8046720" cy="8046720"/>
          </a:xfrm>
          <a:prstGeom prst="ellipse">
            <a:avLst/>
          </a:prstGeom>
          <a:solidFill>
            <a:srgbClr val="2C5F2D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5669280" cy="5669280"/>
          </a:xfrm>
          <a:prstGeom prst="ellipse">
            <a:avLst/>
          </a:prstGeom>
          <a:solidFill>
            <a:srgbClr val="35702F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731520"/>
            <a:ext cx="1280160" cy="1280160"/>
          </a:xfrm>
          <a:prstGeom prst="ellipse">
            <a:avLst/>
          </a:prstGeom>
          <a:solidFill>
            <a:srgbClr val="1E441F">
              <a:alpha val="0"/>
            </a:srgbClr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25328" y="841248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🌱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886968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We'd love to show you more.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15768" y="3429000"/>
            <a:ext cx="1097280" cy="109728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97BC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15768" y="3429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2103120" y="46634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Pranav Saxena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13248" y="3429000"/>
            <a:ext cx="1097280" cy="1097280"/>
          </a:xfrm>
          <a:prstGeom prst="ellipse">
            <a:avLst/>
          </a:prstGeom>
          <a:solidFill>
            <a:srgbClr val="35702F"/>
          </a:solidFill>
          <a:ln w="19050">
            <a:solidFill>
              <a:srgbClr val="97BC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13248" y="3429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800600" y="46634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Chaitanya Vashisht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10728" y="3429000"/>
            <a:ext cx="1097280" cy="1097280"/>
          </a:xfrm>
          <a:prstGeom prst="ellipse">
            <a:avLst/>
          </a:prstGeom>
          <a:solidFill>
            <a:srgbClr val="2C5F2D"/>
          </a:solidFill>
          <a:ln w="19050">
            <a:solidFill>
              <a:srgbClr val="97BC6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110728" y="3429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7498080" y="46634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Atharv Gupta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5440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44068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77440" y="54406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D9941F"/>
          </a:solidFill>
          <a:ln/>
        </p:spPr>
      </p:sp>
      <p:sp>
        <p:nvSpPr>
          <p:cNvPr id="20" name="Text 18"/>
          <p:cNvSpPr/>
          <p:nvPr/>
        </p:nvSpPr>
        <p:spPr>
          <a:xfrm>
            <a:off x="2377440" y="54406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SENSORS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97680" y="544068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D7E4CF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0" y="544068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1E4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INSIDE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9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AgriSense  ·  agrisense-269.pages.dev  · 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2026-07-19T03:02:40Z</dcterms:created>
  <dcterms:modified xsi:type="dcterms:W3CDTF">2026-07-19T03:02:40Z</dcterms:modified>
</cp:coreProperties>
</file>