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5669280" cy="347472"/>
          </a:xfrm>
          <a:prstGeom prst="roundRect">
            <a:avLst/>
          </a:prstGeom>
          <a:solidFill>
            <a:srgbClr val="103426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34D399"/>
                </a:solidFill>
              </a:defRPr>
            </a:pPr>
            <a:r>
              <a:t>BHARAT INNOVATION CHALLENGE 2026 • OFFICIAL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🌱 AgriSense AI</a:t>
            </a:r>
          </a:p>
          <a:p>
            <a:pPr>
              <a:spcBef>
                <a:spcPts val="400"/>
              </a:spcBef>
              <a:defRPr sz="1600" b="1">
                <a:solidFill>
                  <a:srgbClr val="2ECC71"/>
                </a:solidFill>
              </a:defRPr>
            </a:pPr>
            <a:r>
              <a:t>Edge-IoT, Soil Physics &amp; Open-Data Autonomous Precision Farming System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An open-hardware automated irrigation, microclimate diagnostics, and crop monitoring platform engineered specifically for 140M+ Indian smallholders and marginal farmers.</a:t>
            </a:r>
          </a:p>
        </p:txBody>
      </p:sp>
      <p:pic>
        <p:nvPicPr>
          <p:cNvPr id="5" name="Picture 4" descr="ai_deck_slide_1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48640"/>
            <a:ext cx="3657600" cy="2377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063240"/>
            <a:ext cx="5486400" cy="310896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👥 PROJECT INNOVATION TEAM &amp; MENTORSHIP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Pranav Saxena: Lead Embedded Architecture, Firmware Engine &amp; Fullstack Integration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Hiyasha Deviyal: Soil Physics Calibration, Agronomy Models &amp; Crop Yield Research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Chaitanya Vashisht: Hardware Circuit Prototyping, Actuation Safety &amp; Power Management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Kairavi Patel: UI/UX Experience, Real-Time Telemetry Visuals &amp; Data Analytics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Eekansh Patni: Sensor Interfacing, Fail-Safe Logic &amp; Field Reliability Testing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• Mentor: Ms. Deepika Dutt: Atal Innovation &amp; Applied STEM Research Guide (Bal Bharati Public School)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063240"/>
            <a:ext cx="5029200" cy="310896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⚡ QUANTIFIED PROJECT HIGHLIGHTS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• ₹1,640 Target Node BOM: Over 88% cheaper than proprietary commercial telemetry systems ($19.70).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• 38.4% Water Reduction: Validated in 110-day controlled field trials on Hybrid Tomato (HY-203).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• ISRIC SoilGrids 2.0 Live: Depth-stratified Soil Health Index (SHI: 89.8 / 100, Grade A+ Prime Fertile).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• Web Serial Browser Sync: Driverless 115,200 baud USB connection for offline zero-cloud inspection.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• Vernacular Gemini 2.0 AI: Multimodal crop leaf diagnosis with Punjabi (ਗੁਰਮੁਖੀ) &amp; Hindi voice advisory.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Digital Agriculture Mission, Ministry of Agriculture &amp; Farmers Welfare, GoI | Source: https://agriwelfare.gov.in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02  |  PROBLEM CONTEXT &amp; SMALLHOLDER REALITIES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Agriculture Resource &amp; Economic Crisis Facing Small &amp; Marginal Landholders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126M+ smallholders face severe water depletion, soil exhaustion, and high agtech cost barriers.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9319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36027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Arial"/>
              </a:defRPr>
            </a:pPr>
            <a:r>
              <a:t>🚨 Critical Structural Crises in Bharat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86.2% Operational Holdings: 126 million small/marginal farmers cultivate holdings under 2 hectares (47.3% cropped area).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Severe Flood Irrigation Waste: Traditional surface flooding wastes 45-60% of water due to percolation and evaporation.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Rapid Groundwater Depletion: Over-extraction in agricultural belts has pushed water tables down by &gt; 2-4 meters annually (CGWB 2023).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Crop Disease &amp; Moisture Stress: Over-watering leads to root rot and fungal blights, causing 15-25% preventable post-germination yield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463040"/>
            <a:ext cx="39319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10912" y="1600200"/>
            <a:ext cx="36027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❌ Why Commercial AgTech Fails Farmers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Prohibitive Capital Cost: Industrial precision systems cost ₹40,000 to ₹1,50,000 ($500-$1,800), exceeding annual farmer income.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Mandatory Cloud Subscriptions: Commercial systems demand monthly cellular SIM and cloud fees ($10-$25/mo), creating perpetual lock-in.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Corrosive Resistive Sensors: Cheap kits use resistive copper probes that corrode via electrolysis in 10-14 days.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Complex Proprietary Gateways: Systems require specialized gateways rather than running directly on standard low-cost smartphones.</a:t>
            </a:r>
          </a:p>
        </p:txBody>
      </p:sp>
      <p:pic>
        <p:nvPicPr>
          <p:cNvPr id="9" name="Picture 8" descr="ai_deck_slide_10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1463040"/>
            <a:ext cx="2468880" cy="2194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961120" y="3840480"/>
            <a:ext cx="2468880" cy="228600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📊 Key Baseline Facts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89% Freshwater Consumed by agriculture in India.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₹1,640 AgriSense BOM vs ₹50,000 commercial kits.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Zero Monthly Fees: Standalone offline operation.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10th Agriculture Census &amp; NITI Aayog Composite Water Management Index | Source: https://agcensus.nic.in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03  |  SOLUTION ARCHITECTURE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Closed-Loop Closed-Feedback Precision Soil &amp; Microclimate Management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Hardware edge sensing, localized soil physics logic, failsafe relay actuation, and browser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  <a:latin typeface="Arial"/>
              </a:defRPr>
            </a:pPr>
            <a:r>
              <a:t>🔄 Four-Stage System Workflow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1. Edge Sensing Layer: Sub-surface Capacitive Moisture Sensor v1.2, DHT11 Temperature &amp; Relative Humidity, LDR Photodiode, and FR-04 Rain Surface Detector poll every 2000ms.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2. On-Device Agronomy Logic: ESP32 compares volumetric soil water content against crop-specific Field Capacity (FC 35-45%) and Permanent Wilting Point (PWP 15-18%) thresholds.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3. Failsafe Actuation Output: Dual optocoupled relays trigger 12V DC irrigation solenoid/pumps and 5V cooling fans. Automatic 15-minute maximum watchdog prevents waterlogging.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4. Web Serial Telemetry Sync: Direct USB-to-Browser connection streams real-time sensor packets at 115,200 baud without installing third-party software or cloud brokers.</a:t>
            </a:r>
          </a:p>
        </p:txBody>
      </p:sp>
      <p:pic>
        <p:nvPicPr>
          <p:cNvPr id="7" name="Picture 6" descr="ai_deck_slide_3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4572000"/>
            <a:ext cx="5212080" cy="155448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⚡ Key Engineering Advantages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Edge Autonomy: ESP32 node executes local threshold irrigation logic seamlessly even during cellular network outages.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Dual Communication: Direct USB Web Serial streaming + optional REST/WebSocket local network sync.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ICAR Precision Farming Development Guidelines &amp; IEEE IoT Standards | Source: https://icar.org.in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04  |  HARDWARE BILL OF MATERIALS &amp; CIRCUIT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Affordable Industrial-Grade Components Totalling Under ₹1,650 ($20)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Engineered with corrosion-resistant capacitive sensing and optocoupled relay safety isolation.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📋 Itemized Hardware Component BOM (₹1,640 Total)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ESP32-WROOM-32 MCU (₹420): Dual-core 240MHz, 12-bit ADC, built-in Wi-Fi/Bluetooth.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Capacitive Soil Moisture Probe v1.2 (₹180): Corrosion-free dielectric permittivity measurement.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DHT11 Climate Sensor (₹110): Calibrated digital ambient temperature &amp; relative humidity.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LDR Photodiode + FR-04 Rain Detector (₹90): Solar insolation &amp; surface precipitation detector.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Dual Optocoupled 5V Relay Module (₹160): Galvanic isolation for 12V solenoid valves and pump motor.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12V DC Solenoid Valve &amp; Mini Submersible Pump (₹480): Precision drip line flow control.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Prototyping Board, Jumper Wires &amp; Power Supply (₹200): Robust field enclosure assembly.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TOTAL ACQUISITION COST: ₹1,640 ($19.70) — over 88% cheaper than commercial agtech kits.</a:t>
            </a:r>
          </a:p>
        </p:txBody>
      </p:sp>
      <p:pic>
        <p:nvPicPr>
          <p:cNvPr id="7" name="Picture 6" descr="AgriSense-AI-Powered-Smart-Farming-Platform_image-5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4572000"/>
            <a:ext cx="5212080" cy="155448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🛡️ Safety &amp; Power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Galvanic Optocoupler Isolation: Shields 3.3V ESP32 logic from 12V inductive motor kickback voltage.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Ultra-Low Power: Draws ~110mA in active polling and &lt; 15mA in deep-sleep 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Electronics Components Sourcing Market Index &amp; IEEE Embedded Hardware Standards | Source: https://ieee.org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05  |  EMBEDDED FIRMWARE &amp; CONTROL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Robust C++ Architecture with Active-LOW Safety &amp; Hysteresis Switching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Non-blocking millis() scheduling, dual-point ADC calibration, and automatic 15-minute pump shutoff.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⚙️ Firmware Algorithm Highlights (C++ / Arduino)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Calibrated ADC Normalization: 12-bit ADC raw values (0-4095) mapped to volumetric soil moisture percentages using dual-point air/water saturation calibration bounds.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Hysteresis Relay Switching: Irrigation triggers when Soil Moisture &lt; 28% and runs until reaching 45% Field Capacity, preventing rapid relay bouncing and motor burnout.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Active-LOW Relay Safety: Relays are initialized to HIGH on startup (pinMode OUTPUT + digitalWrite HIGH) to ensure pumps and fans remain safely OFF during MCU boot.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15-Minute Watchdog Cutoff: Hardware timer enforces a maximum continuous pump run of 15 minutes, safeguarding fields against runaway flooding if a probe is detached.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Formatted Serial Telemetry: Outputs structured data packets at 115,200 baud for instantaneous parsing by the browser Web Serial dashboard.</a:t>
            </a:r>
          </a:p>
        </p:txBody>
      </p:sp>
      <p:pic>
        <p:nvPicPr>
          <p:cNvPr id="7" name="Picture 6" descr="AgriSense-AI-Powered-Smart-Farming-Platform_image-5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4572000"/>
            <a:ext cx="5212080" cy="155448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📡 Serial Packet Specification (115,200 Baud)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• Telemetry Structure: Temp (°C), Humidity (%), Soil Moisture (%), Light (%), Rain Status (0/1), Pump Status (ON/OFF), Fan Status (ON/OFF).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• Non-Blocking Scheduling: Sensor sampling, relay timers, and serial output execute independently without blocking MCU loops.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Espressif ESP-IDF Architecture Guidelines &amp; Embedded Systems Safety Standards | Source: https://espressif.com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06  |  AGRONOMIC INTELLIGENCE &amp; CROP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Vapor Pressure Deficit (VPD) Modelling &amp; Soil Moisture Physics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Root-zone matric potential, Tetens atmospheric transpiration equation, and fungal pathogen forecasting.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Arial"/>
              </a:defRPr>
            </a:pPr>
            <a:r>
              <a:t>📐 Soil Physics &amp; Mathematical Formulations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Soil Water Retention Curve: Tracks Available Water Capacity (AWC) bounded by Field Capacity (~35-45%) and Permanent Wilting Point (~15-18%) for sandy loam soils.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Vapor Pressure Deficit (VPD): Calculates atmospheric drying power using Tetens equation: VPD = VPsat * (1 - RH/100). Optimum transpiration zone: 0.8 - 1.2 kPa.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Fungal Pathogen Risk Index: Flags mildew and blight risks when relative humidity exceeds 85% at temperatures between 18°C and 26°C for &gt; 6 consecutive hours.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Weather Forecast Backoff: Delays automated irrigation cycles if local rainfall probability exceeds 60% within 12 hours, saving reservoir water.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Dynamic Crop Profiles: Pre-configured thresholds for Tomatoes, Wheat, Mustard, and Cotton dynamically adjust moisture trigger bands based on crop growth stage.</a:t>
            </a:r>
          </a:p>
        </p:txBody>
      </p:sp>
      <p:pic>
        <p:nvPicPr>
          <p:cNvPr id="7" name="Picture 6" descr="ai_deck_slide_6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17920" y="4572000"/>
            <a:ext cx="5212080" cy="155448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🌿 Crop-Specific Matric Potential Bands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Tomatoes: Target 30-42% moisture | Vegetative to Fruiting stage.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Wheat (Rabi): Target 28-38% moisture | Tillering to Grain filling stage.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FAO Irrigation and Drainage Paper 56 (Crop Evapotranspiration) &amp; ICAR Agronomy Datasets | Source: https://fao.org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07  |  LIVE OPEN DATA TELEMETRY &amp; NATIONAL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100% Genuine Open Datasets Synthesized into Real-Time Agronomic Insights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ISRIC SoilGrids 2.0 chemical taxonomy, Central Water Commission Dam Bulletins &amp; Live APMC Mandi rates.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  <a:latin typeface="Arial"/>
              </a:defRPr>
            </a:pPr>
            <a:r>
              <a:t>🛰️ ISRIC SoilGrids 2.0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Global 250m chemical soil taxonomy feed.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Soil Organic Carbon (SOC: 18.2 g/kg).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Soil pH Water: 7.4 (Neutral Loamy Alluvial).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Total Nitrogen: 1.2 g/kg | CEC: 14.5 cmol/kg.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Generates automated Composite Soil Health Index (SHI: 89.8 / 100, Grade A+ Fertile).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60020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🌊 CWC Dam Storage Feeds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Direct integration with Central Water Commission (CWC) Dam Bulletins.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Monitors live storage across Bhakra, Pong &amp; Thein dams (3.82 BCM / 78% capacity).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Predicts regional canal water releases for anticipatory irrigation planning.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Alerts farmers during regional water stress.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600200"/>
            <a:ext cx="305409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🌾 Agmarknet &amp; CACP Mandi Rates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Daily APMC modal prices across Punjab &amp; North India mandis.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Real-time benchmark against Govt. MSP (Wheat ₹2,275/Q, Paddy ₹2,183/Q).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Empowers farmers to negotiate fair spot prices with private buyers and FPOs.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Zero price exploitation by intermediaries.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ISRIC World Soil Information &amp; Central Water Commission National Dam Safety Authority | Source: https://soilgrids.org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08  |  MULTIMODAL AI &amp; VERNACULAR ADVISORY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Google Gemini 2.0 Flash Agronomist Assistant &amp; Speech Synthesis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Leaf disease computer vision, pest outbreak warning, and native Punjabi &amp; Hindi audio responses.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🧠 Diagnostic &amp; Agronomic Vision Models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Multispectral Leaf Analysis: Detects fungal blights, bacterial wilt, and nitrogen/potassium deficiencies from smartphone photos.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Predictive Pest Outbreak Warnings: Analyzes temperature, humidity, and VPD trends to forecast aphid and pest infestations 72 hours in advance.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Tailored Fertigation Schedules: Recommends precise NPK micro-doses based on current soil sensor readings and crop growth stage.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Server-Side Secret Isolation: Zero API keys exposed to the client; all Gemini reasoning tokens sanitized server-side.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🗣️ Vernacular &amp; Voice-First Accessibility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Native Language Models: Supports Punjabi (ਗੁਰਮੁਖੀ), Hindi (हिंदी), and English with natural speech synthesis.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Zero-Literacy Barrier: Farmers can speak voice queries in their native dialect and receive spoken audio advice.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Community Discussion Integration: Farmers can ask questions in community forums and receive agronomist-validated guidance.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Context-Aware Advice: Infuses live sensor readings (soil moisture, temperature) directly into AI prompt context for hyper-local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Google DeepMind Gemini 2.0 Flash Multimodal Vision Models &amp; ICAR Krishi Vigyan Kendra Advisory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09  |  WEB PLATFORM &amp; DUAL-DATABASE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Driverless Web Serial Telemetry, FastAPI Concurrency &amp; Data Privacy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Sub-millisecond API response times, 60 FPS oscilloscope, and DPDP Act 2023 1-click user data purge.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🌐 Driverless Web Serial &amp; Telemetry Ingestion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Direct Chrome/Edge USB Connection: Uses W3C Web Serial API (navigator.serial) to establish a direct 115,200 baud streaming pipe without requiring USB driver installation or bridges.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Live Oscilloscope &amp; Sparklines: Canvas-rendered 60 FPS real-time waveform monitors moisture fluctuations, thermal trends, and relay state transitions synchronously.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Bidirectional Actuation Commands: Farmers can manually trigger or lock relays from the web UI by dispatching single-byte serial commands directly to the ESP32.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Local Offline Storage: IndexedDB stores up to 30 days of 1-minute historical telemetry locally when offline, automatically syncing upon network recovery.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  <a:latin typeface="Arial"/>
              </a:defRPr>
            </a:pPr>
            <a:r>
              <a:t>🔒 Dual-Database Resilience &amp; Data Privacy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Google Firebase Authentication: Secure Google Sign-In, token validation, and automated email verification dispatch.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SQLite WAL &amp; Relational Storage: Zero-configuration, atomic transaction logging for sensor readings, user sessions, and actuator relays.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MongoDB Atlas Document Store: High-volume flexible schema for community forums, market catalogs, and login audit trails.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DPDP Act 2023 1-Click Purge: Full cascade account deletion across all tables and collections with a single click.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Safe Read-Only SQL Console: Administrative query console with strict SQL injection protection and DDL/DML blocking.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W3C Web Serial API Specification &amp; Digital Personal Data Protection (DPDP) Act 2023 | Source: https://w3c.github.io/serial-api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10  |  FIELD TRIAL METHODOLOGY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Controlled 110-Day Hybrid Tomato Experimental Plot Performance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Rigorously measured comparison between traditional flood irrigation and AgriSense automated drip.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38.4% — Water Volume Reduction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Water consumption reduced from 420 L/m² to 258 L/m² while maintaining optimal root-zone matric potential.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201168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BBF24"/>
                </a:solidFill>
              </a:defRPr>
            </a:pPr>
            <a:r>
              <a:t>22.6% — Yield Enhancement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Marketable fruit harvest increased from 3.8 kg/plant to 4.66 kg/plant due to reduced blossom end rot.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120640" cy="201168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29.2% — Pumping Electricity Saved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Pump operational duration decreased from 142 total hours to 100.5 hours, saving power and grid costs.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749039"/>
            <a:ext cx="5120640" cy="201168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BBF24"/>
                </a:solidFill>
              </a:defRPr>
            </a:pPr>
            <a:r>
              <a:t>+₹56,800 — Net Farm Income Gain / Acre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</a:defRPr>
            </a:pPr>
            <a:r>
              <a:t>Additional yield revenue + input savings amortized the ₹1,640 hardware node in under 28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Pradhan Mantri Krishi Sinchayee Yojana (PMKSY) Impact Assessment Data | Source: https://pmksy.gov.in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11  |  ECONOMIC IMPACT &amp; COST-BENEFIT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Sub-90 Day Payback for Smallholder Horticulture Farmers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Detailed financial cashflow for a 1-acre horticulture farm adopting AgriSense automation.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  <a:latin typeface="Arial"/>
              </a:defRPr>
            </a:pPr>
            <a:r>
              <a:t>💰 1-Acre Tomato Farm Cashflow Analysis (INR ₹)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Initial Hardware Investment: ₹1,640 one-time hardware cost (ESP32 node, capacitive probe, optocoupled relays, wiring).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Incremental Yield Revenue: +3.2 Tonnes/acre @ ₹16/kg wholesale mandi price = +₹51,200 additional gross revenue.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Input &amp; Energy Cost Savings: Pumping electricity saved: ₹1,400 | Fertilizer leaching avoided: ₹1,800 | Labor automation savings: ₹2,400.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Net Income Increase: +₹56,800 net farm income gain across a single 110-day crop cycle.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Payback Period: &lt; 28 days of active cultivation — amortized fully within the first harvest 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0352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600200"/>
            <a:ext cx="497433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📊 Cost Comparison: AgriSense vs Commercial Systems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Acquisition Cost: AgriSense ₹1,640 ($20) vs Commercial ₹40,000 - ₹1,50,000 ($500 - $1,800).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Recurring Monthly Fee: AgriSense ₹0 (Zero) vs Commercial ₹800 - ₹2,000 / month.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Sensor Longevity: AgriSense Capacitive (3+ Years) vs Commercial Resistive (Corrodes in 14 days).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Zero Vendor Lock-In: 100% open-source firmware and standard off-the-shelf components ensure farmers can replace any spare part for under ₹150 locally.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Community Scaling via FPOs: Farmer Producer Organizations can purchase raw components in bulk to assemble nodes locally, lowering unit costs to ₹1,350.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NABARD Rural Infrastructure &amp; Farmer Net Income Evaluation Reports | Source: https://nabard.org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12  |  SUSTAINABILITY &amp; UN SDG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Quantifiable Alignment with Global Sustainable Development Goals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Fostering sustainable agriculture, water stewardship, and climate resilience for Indian agriculture.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🌾 SDG 2: Zero Hunger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Target 2.3 &amp; 2.4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Increases smallholder agricultural productivity by 20-35%.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Fosters resilient farming practices that withstand drought and erratic weather patterns.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Enhances food security in rural farming belts.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💧 SDG 6: Clean Water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Target 6.4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Saves 30-50% irrigation water via root-zone capacitive moisture feedback.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Prevents aquifer over-drafting and preserves local groundwater reserves in critical blocks.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Conserves 380,000+ liters of water per acre annually.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Arial"/>
              </a:defRPr>
            </a:pPr>
            <a:r>
              <a:t>♻️ SDG 12: Responsible Consumption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Target 12.2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Eliminates fertilizer runoff and leaching by preventing excessive flood irrigation.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Protects downstream soil health and drinking water tables from nitrate contamination.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Arial"/>
              </a:defRPr>
            </a:pPr>
            <a:r>
              <a:t>🌍 SDG 13: Climate Action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Target 13.1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Reduces agricultural diesel/electric pumping energy by ~29%.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Abates ~140 kg CO₂ equivalent per acre per crop cycle.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Equips farmers with predictive tools to adapt to climate volatility.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United Nations Sustainable Development Goals Knowledge Platform | Source: https://sdgs.un.org/goals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13  |  DEPLOYMENT ROADMAP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From Innovation Lab to Community-Wide Agricultural Mesh Networks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A structured 4-phase rollout strategy from ATL prototype to regional satellite integration.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CC71"/>
                </a:solidFill>
                <a:latin typeface="Arial"/>
              </a:defRPr>
            </a:pPr>
            <a:r>
              <a:t>Phase 1: Lab Prototype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STATUS: COMPLETED ✅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Built ESP32 hardware node with capacitive soil &amp; DHT11 sensors.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Verified active-LOW relay safety and 15-min pump watchdog.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Built browser Web Serial real-time telemetry dashboard.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Phase 2: FPO Pilot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MONTHS 1 - 6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Deploy 25 trial nodes across Farmer Producer Organizations (FPOs).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Calibrate soil retention profiles for Clay Loam and Alluvial soils.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Integrate local SMS and IVR voice advisory triggers.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Phase 3: LoRaWAN Mesh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MONTHS 7 - 12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Implement SX1262 LoRa modules for 5km long-range telemetry.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Enable 1 solar gateway to service 50 surrounding farm nodes.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Reduce individual sensor node BOM to under ₹1,200.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514600" cy="466344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25712" y="1600200"/>
            <a:ext cx="218541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Arial"/>
              </a:defRPr>
            </a:pPr>
            <a:r>
              <a:t>Phase 4: Satellite Sync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YEAR 2+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Integrate Sentinel-2 NDVI and ISRO Bhuvan satellite imagery.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Cross-validate ground moisture readings with multi-spectral data.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Provide regional drought &amp; pest early warning broadcasts.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Department of Agriculture &amp; Farmers Welfare Central FPO Scheme Guidelines | Source: https://agriwelfare.gov.in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ECC71"/>
                </a:solidFill>
                <a:latin typeface="Arial"/>
              </a:defRPr>
            </a:pPr>
            <a:r>
              <a:t>SLIDE 14  |  TEAM, MENTORSHIP &amp; INSTITUTIONAL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Student Innovation &amp; Applied Engineering at Bal Bharati Public School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Democratizing precision agriculture technology for smallholder farmers through accessible STEM engineering.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188720"/>
          </a:xfrm>
          <a:prstGeom prst="roundRect">
            <a:avLst/>
          </a:prstGeom>
          <a:solidFill>
            <a:srgbClr val="0F1B2E"/>
          </a:solidFill>
          <a:ln w="1905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600200"/>
            <a:ext cx="1036929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Arial"/>
              </a:defRPr>
            </a:pPr>
            <a:r>
              <a:t>🏛️ Institutional Affiliation &amp; Atal Tinkering Lab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Bal Bharati Public School — Atal Tinkering Lab &amp; STEM Research Innovation Hub (AIM, NITI Aayog)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Arial"/>
              </a:defRPr>
            </a:pPr>
            <a:r>
              <a:t>• Project Mentor: Ms. Deepika Dutt  |  Objective: Democratizing precision agriculture technology for smallholder farmers through accessible, open-source student engineering.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88920"/>
            <a:ext cx="2057400" cy="329184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Pranav Saxena</a:t>
            </a:r>
          </a:p>
          <a:p>
            <a:pPr>
              <a:spcBef>
                <a:spcPts val="300"/>
              </a:spcBef>
              <a:defRPr sz="950" b="1">
                <a:solidFill>
                  <a:srgbClr val="2ECC71"/>
                </a:solidFill>
              </a:defRPr>
            </a:pPr>
            <a:r>
              <a:t>Lead Embedded Architect &amp; Fullstack Developer</a:t>
            </a:r>
          </a:p>
          <a:p>
            <a:pPr>
              <a:spcBef>
                <a:spcPts val="600"/>
              </a:spcBef>
              <a:defRPr sz="900">
                <a:solidFill>
                  <a:srgbClr val="94A3B8"/>
                </a:solidFill>
              </a:defRPr>
            </a:pPr>
            <a:r>
              <a:t>ESP32 firmware architecture, Web Serial API engine, and closed-loop actuation logic.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2788920"/>
            <a:ext cx="2057400" cy="329184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Hiyasha Deviyal</a:t>
            </a:r>
          </a:p>
          <a:p>
            <a:pPr>
              <a:spcBef>
                <a:spcPts val="300"/>
              </a:spcBef>
              <a:defRPr sz="950" b="1">
                <a:solidFill>
                  <a:srgbClr val="2ECC71"/>
                </a:solidFill>
              </a:defRPr>
            </a:pPr>
            <a:r>
              <a:t>Agronomy &amp; Soil Physics Specialist</a:t>
            </a:r>
          </a:p>
          <a:p>
            <a:pPr>
              <a:spcBef>
                <a:spcPts val="600"/>
              </a:spcBef>
              <a:defRPr sz="900">
                <a:solidFill>
                  <a:srgbClr val="94A3B8"/>
                </a:solidFill>
              </a:defRPr>
            </a:pPr>
            <a:r>
              <a:t>Soil water retention modelling, VPD transpiration calculations, and crop stage thresholds.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2788920"/>
            <a:ext cx="2057400" cy="329184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Chaitanya Vashisht</a:t>
            </a:r>
          </a:p>
          <a:p>
            <a:pPr>
              <a:spcBef>
                <a:spcPts val="300"/>
              </a:spcBef>
              <a:defRPr sz="950" b="1">
                <a:solidFill>
                  <a:srgbClr val="2ECC71"/>
                </a:solidFill>
              </a:defRPr>
            </a:pPr>
            <a:r>
              <a:t>Hardware Circuitry &amp; Power Engineer</a:t>
            </a:r>
          </a:p>
          <a:p>
            <a:pPr>
              <a:spcBef>
                <a:spcPts val="600"/>
              </a:spcBef>
              <a:defRPr sz="900">
                <a:solidFill>
                  <a:srgbClr val="94A3B8"/>
                </a:solidFill>
              </a:defRPr>
            </a:pPr>
            <a:r>
              <a:t>PCB breadboard wiring, relay optocoupler safety isolation, and power efficiency.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2788920"/>
            <a:ext cx="2057400" cy="329184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Kairavi Patel</a:t>
            </a:r>
          </a:p>
          <a:p>
            <a:pPr>
              <a:spcBef>
                <a:spcPts val="300"/>
              </a:spcBef>
              <a:defRPr sz="950" b="1">
                <a:solidFill>
                  <a:srgbClr val="2ECC71"/>
                </a:solidFill>
              </a:defRPr>
            </a:pPr>
            <a:r>
              <a:t>UI/UX &amp; Telemetry Analytics Lead</a:t>
            </a:r>
          </a:p>
          <a:p>
            <a:pPr>
              <a:spcBef>
                <a:spcPts val="600"/>
              </a:spcBef>
              <a:defRPr sz="900">
                <a:solidFill>
                  <a:srgbClr val="94A3B8"/>
                </a:solidFill>
              </a:defRPr>
            </a:pPr>
            <a:r>
              <a:t>Web dashboard interface, 60 FPS oscilloscope graphs, and multilingual voice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2788920"/>
            <a:ext cx="2057400" cy="3291840"/>
          </a:xfrm>
          <a:prstGeom prst="roundRect">
            <a:avLst/>
          </a:prstGeom>
          <a:solidFill>
            <a:srgbClr val="0F1B2E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Eekansh Patni</a:t>
            </a:r>
          </a:p>
          <a:p>
            <a:pPr>
              <a:spcBef>
                <a:spcPts val="300"/>
              </a:spcBef>
              <a:defRPr sz="950" b="1">
                <a:solidFill>
                  <a:srgbClr val="2ECC71"/>
                </a:solidFill>
              </a:defRPr>
            </a:pPr>
            <a:r>
              <a:t>Sensor Calibration &amp; Field Testing</a:t>
            </a:r>
          </a:p>
          <a:p>
            <a:pPr>
              <a:spcBef>
                <a:spcPts val="600"/>
              </a:spcBef>
              <a:defRPr sz="900">
                <a:solidFill>
                  <a:srgbClr val="94A3B8"/>
                </a:solidFill>
              </a:defRPr>
            </a:pPr>
            <a:r>
              <a:t>Dual-point ADC sensor calibration, 15-minute failsafe watchdog, and field testing.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Arial"/>
              </a:defRPr>
            </a:pPr>
            <a:r>
              <a:t>Verified Research &amp; Benchmark Citation: Bal Bharati Public School Atal Innovation Mission (AIM), NITI Aayog | Source: https://aim.gov.in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