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4415" cy="2926080"/>
          </a:xfrm>
          <a:prstGeom prst="roundRect">
            <a:avLst/>
          </a:prstGeom>
          <a:solidFill>
            <a:srgbClr val="122A1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77240"/>
            <a:ext cx="1033272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A3E635"/>
                </a:solidFill>
                <a:latin typeface="Trebuchet MS"/>
              </a:defRPr>
            </a:pPr>
            <a:r>
              <a:t>🌱 AGRISENSE — THE FARM THAT THINKS FOR ITSELF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  <a:latin typeface="Arial"/>
              </a:defRPr>
            </a:pPr>
            <a:r>
              <a:t>Autonomous Edge-IoT &amp; Multimodal AI Precision Farming Ecosystem for Smallholder Agriculture</a:t>
            </a:r>
          </a:p>
          <a:p>
            <a:pPr>
              <a:spcBef>
                <a:spcPts val="800"/>
              </a:spcBef>
              <a:defRPr sz="1200">
                <a:solidFill>
                  <a:srgbClr val="22C55E"/>
                </a:solidFill>
                <a:latin typeface="Arial"/>
              </a:defRPr>
            </a:pPr>
            <a:r>
              <a:t>Bal Bharati Public School  |  Theme: Sustainable Precision Agriculture, Edge Computing &amp; AI Advisory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Core Value: Slashes irrigation water waste by 30%–50%, boosts crop yields by 20%–38%, and replaces ₹50,000+ industrial SCADA setups with an affordable open-source node under ₹1,000 ($12 USD).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657600"/>
            <a:ext cx="5394960" cy="2651760"/>
          </a:xfrm>
          <a:prstGeom prst="roundRect">
            <a:avLst/>
          </a:prstGeom>
          <a:solidFill>
            <a:srgbClr val="122A1F"/>
          </a:solidFill>
          <a:ln w="19050">
            <a:solidFill>
              <a:srgbClr val="2E7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767328"/>
            <a:ext cx="506577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A3E635"/>
                </a:solidFill>
                <a:latin typeface="Trebuchet MS"/>
              </a:defRPr>
            </a:pPr>
            <a:r>
              <a:t>👥 INNOVATION TEAM (BAL BHARATI PUBLIC SCHOOL)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6908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defRPr sz="950">
                <a:solidFill>
                  <a:srgbClr val="F1F5F9"/>
                </a:solidFill>
                <a:latin typeface="Arial"/>
              </a:defRPr>
            </a:pPr>
            <a:r>
              <a:t>• Pranav Saxena — Lead Developer &amp; IoT System Architect (Full-stack API &amp; C++ Firmware)</a:t>
            </a:r>
          </a:p>
          <a:p>
            <a:pPr>
              <a:spcBef>
                <a:spcPts val="400"/>
              </a:spcBef>
              <a:defRPr sz="950">
                <a:solidFill>
                  <a:srgbClr val="F1F5F9"/>
                </a:solidFill>
                <a:latin typeface="Arial"/>
              </a:defRPr>
            </a:pPr>
            <a:r>
              <a:t>• Hiyasha Deviyal — Product Research &amp; UI/UX Design (Farmer journey &amp; accessibility)</a:t>
            </a:r>
          </a:p>
          <a:p>
            <a:pPr>
              <a:spcBef>
                <a:spcPts val="400"/>
              </a:spcBef>
              <a:defRPr sz="950">
                <a:solidFill>
                  <a:srgbClr val="F1F5F9"/>
                </a:solidFill>
                <a:latin typeface="Arial"/>
              </a:defRPr>
            </a:pPr>
            <a:r>
              <a:t>• Chaitanya Vashisht — Hardware Engineering &amp; Field Testing (Relay circuits &amp; sensor bench)</a:t>
            </a:r>
          </a:p>
          <a:p>
            <a:pPr>
              <a:spcBef>
                <a:spcPts val="400"/>
              </a:spcBef>
              <a:defRPr sz="950">
                <a:solidFill>
                  <a:srgbClr val="F1F5F9"/>
                </a:solidFill>
                <a:latin typeface="Arial"/>
              </a:defRPr>
            </a:pPr>
            <a:r>
              <a:t>• Kairavi Patel — Frontend Dev &amp; Multilingual Voice (Translation &amp; Web Speech TTS)</a:t>
            </a:r>
          </a:p>
          <a:p>
            <a:pPr>
              <a:spcBef>
                <a:spcPts val="400"/>
              </a:spcBef>
              <a:defRPr sz="950">
                <a:solidFill>
                  <a:srgbClr val="F1F5F9"/>
                </a:solidFill>
                <a:latin typeface="Arial"/>
              </a:defRPr>
            </a:pPr>
            <a:r>
              <a:t>• Eekansh Patni — Data Analytics &amp; Agronomy Research (Soil moisture &amp; crop stress models)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657600"/>
            <a:ext cx="5425135" cy="2651760"/>
          </a:xfrm>
          <a:prstGeom prst="roundRect">
            <a:avLst/>
          </a:prstGeom>
          <a:solidFill>
            <a:srgbClr val="122A1F"/>
          </a:solidFill>
          <a:ln w="19050">
            <a:solidFill>
              <a:srgbClr val="2E7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3767328"/>
            <a:ext cx="509595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A3E635"/>
                </a:solidFill>
                <a:latin typeface="Trebuchet MS"/>
              </a:defRPr>
            </a:pPr>
            <a:r>
              <a:t>🎯 MENTORSHIP &amp; OFFICIAL CHANNELS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06908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defRPr sz="950">
                <a:solidFill>
                  <a:srgbClr val="F1F5F9"/>
                </a:solidFill>
                <a:latin typeface="Arial"/>
              </a:defRPr>
            </a:pPr>
            <a:r>
              <a:t>• Institution: Bal Bharati Public School — Science &amp; AgTech Innovation Division</a:t>
            </a:r>
          </a:p>
          <a:p>
            <a:pPr>
              <a:spcBef>
                <a:spcPts val="400"/>
              </a:spcBef>
              <a:defRPr sz="950">
                <a:solidFill>
                  <a:srgbClr val="F1F5F9"/>
                </a:solidFill>
                <a:latin typeface="Arial"/>
              </a:defRPr>
            </a:pPr>
            <a:r>
              <a:t>• Faculty Mentor: Ms. Deepika Dutt (Continuous technical guidance &amp; structural methodology)</a:t>
            </a:r>
          </a:p>
          <a:p>
            <a:pPr>
              <a:spcBef>
                <a:spcPts val="400"/>
              </a:spcBef>
              <a:defRPr sz="950">
                <a:solidFill>
                  <a:srgbClr val="F1F5F9"/>
                </a:solidFill>
                <a:latin typeface="Arial"/>
              </a:defRPr>
            </a:pPr>
            <a:r>
              <a:t>• Lead Contact: Pranav Saxena (pranavsaxenaofficial11@gmail.com | +91 8383049373)</a:t>
            </a:r>
          </a:p>
          <a:p>
            <a:pPr>
              <a:spcBef>
                <a:spcPts val="400"/>
              </a:spcBef>
              <a:defRPr sz="950">
                <a:solidFill>
                  <a:srgbClr val="F1F5F9"/>
                </a:solidFill>
                <a:latin typeface="Arial"/>
              </a:defRPr>
            </a:pPr>
            <a:r>
              <a:t>• Live Production Web Platform: https://agrisense-269.pages.dev</a:t>
            </a:r>
          </a:p>
          <a:p>
            <a:pPr>
              <a:spcBef>
                <a:spcPts val="400"/>
              </a:spcBef>
              <a:defRPr sz="950">
                <a:solidFill>
                  <a:srgbClr val="F1F5F9"/>
                </a:solidFill>
                <a:latin typeface="Arial"/>
              </a:defRPr>
            </a:pPr>
            <a:r>
              <a:t>• Open Source Fullstack Repository: github.com/pranavsaxenaofficial11-coder/agrisense-fullstack</a:t>
            </a:r>
          </a:p>
          <a:p>
            <a:pPr>
              <a:spcBef>
                <a:spcPts val="400"/>
              </a:spcBef>
              <a:defRPr sz="950">
                <a:solidFill>
                  <a:srgbClr val="F1F5F9"/>
                </a:solidFill>
                <a:latin typeface="Arial"/>
              </a:defRPr>
            </a:pPr>
            <a:r>
              <a:t>• Affiliated Initiatives: Digital Agriculture Mission &amp; PMKSY-PDMC Micro-Irrigation 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38BDF8"/>
                </a:solidFill>
                <a:latin typeface="Arial"/>
              </a:defRPr>
            </a:pPr>
            <a:r>
              <a:t>🔗 Source / Citation: Ministry of Agriculture &amp; Farmers Welfare, GoI — https://agriwelfare.gov.in | PIB PRID 2051280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3E635"/>
                </a:solidFill>
                <a:latin typeface="Trebuchet MS"/>
              </a:defRPr>
            </a:pPr>
            <a:r>
              <a:t>SLIDE 02  |  PROBLEM &amp; OPPORTUNITY</a:t>
            </a:r>
          </a:p>
          <a:p>
            <a:pPr>
              <a:spcBef>
                <a:spcPts val="300"/>
              </a:spcBef>
              <a:defRPr sz="1900" b="1">
                <a:solidFill>
                  <a:srgbClr val="FFFFFF"/>
                </a:solidFill>
                <a:latin typeface="Arial"/>
              </a:defRPr>
            </a:pPr>
            <a:r>
              <a:t>The Smallholder Crisis: Land Fragmentation, Water Depletion &amp; Economic Risk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2697480" cy="2743200"/>
          </a:xfrm>
          <a:prstGeom prst="roundRect">
            <a:avLst/>
          </a:prstGeom>
          <a:solidFill>
            <a:srgbClr val="122A1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242316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A3E635"/>
                </a:solidFill>
                <a:latin typeface="Trebuchet MS"/>
              </a:defRPr>
            </a:pPr>
            <a:r>
              <a:t>86.2%</a:t>
            </a:r>
          </a:p>
          <a:p>
            <a:pPr>
              <a:spcBef>
                <a:spcPts val="300"/>
              </a:spcBef>
              <a:defRPr sz="1050" b="1">
                <a:solidFill>
                  <a:srgbClr val="FFFFFF"/>
                </a:solidFill>
                <a:latin typeface="Arial"/>
              </a:defRPr>
            </a:pPr>
            <a:r>
              <a:t>SMALLHOLDERS (126M FARMERS)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  <a:latin typeface="Arial"/>
              </a:defRPr>
            </a:pPr>
            <a:r>
              <a:t>126.0 million out of 146.45 million operational land holdings in India belong to small and marginal farmers (&lt;2 ha). They operate only 47.3% of total crop area, with holding size dropping to 1.08 ha.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188720"/>
            <a:ext cx="2697480" cy="2743200"/>
          </a:xfrm>
          <a:prstGeom prst="roundRect">
            <a:avLst/>
          </a:prstGeom>
          <a:solidFill>
            <a:srgbClr val="122A1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0" y="1280160"/>
            <a:ext cx="242316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A3E635"/>
                </a:solidFill>
                <a:latin typeface="Trebuchet MS"/>
              </a:defRPr>
            </a:pPr>
            <a:r>
              <a:t>₹10,218</a:t>
            </a:r>
          </a:p>
          <a:p>
            <a:pPr>
              <a:spcBef>
                <a:spcPts val="300"/>
              </a:spcBef>
              <a:defRPr sz="1050" b="1">
                <a:solidFill>
                  <a:srgbClr val="FFFFFF"/>
                </a:solidFill>
                <a:latin typeface="Arial"/>
              </a:defRPr>
            </a:pPr>
            <a:r>
              <a:t>AVG MONTHLY FARM INCOME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  <a:latin typeface="Arial"/>
              </a:defRPr>
            </a:pPr>
            <a:r>
              <a:t>NSSO 77th Round survey reveals average monthly agricultural household income is ₹10,218. Commercial IoT solutions costing ₹40,000–₹1,50,000 demand 400%–1,400% of monthly earnings!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79" y="1188720"/>
            <a:ext cx="2697480" cy="2743200"/>
          </a:xfrm>
          <a:prstGeom prst="roundRect">
            <a:avLst/>
          </a:prstGeom>
          <a:solidFill>
            <a:srgbClr val="122A1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39" y="1280160"/>
            <a:ext cx="242316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A3E635"/>
                </a:solidFill>
                <a:latin typeface="Trebuchet MS"/>
              </a:defRPr>
            </a:pPr>
            <a:r>
              <a:t>89%</a:t>
            </a:r>
          </a:p>
          <a:p>
            <a:pPr>
              <a:spcBef>
                <a:spcPts val="300"/>
              </a:spcBef>
              <a:defRPr sz="1050" b="1">
                <a:solidFill>
                  <a:srgbClr val="FFFFFF"/>
                </a:solidFill>
                <a:latin typeface="Arial"/>
              </a:defRPr>
            </a:pPr>
            <a:r>
              <a:t>GROUNDWATER WITHDRAWAL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  <a:latin typeface="Arial"/>
              </a:defRPr>
            </a:pPr>
            <a:r>
              <a:t>Agriculture consumes ~217–220 BCM of India's annual groundwater. Traditional flood irrigation has only 30%–40% Water Use Efficiency (WUE), wasting 60%–70% of drawn water through runoff and evaporation.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15399" y="1188720"/>
            <a:ext cx="2697480" cy="2743200"/>
          </a:xfrm>
          <a:prstGeom prst="roundRect">
            <a:avLst/>
          </a:prstGeom>
          <a:solidFill>
            <a:srgbClr val="122A1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59" y="1280160"/>
            <a:ext cx="242316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A3E635"/>
                </a:solidFill>
                <a:latin typeface="Trebuchet MS"/>
              </a:defRPr>
            </a:pPr>
            <a:r>
              <a:t>₹50,000 Cr</a:t>
            </a:r>
          </a:p>
          <a:p>
            <a:pPr>
              <a:spcBef>
                <a:spcPts val="300"/>
              </a:spcBef>
              <a:defRPr sz="1050" b="1">
                <a:solidFill>
                  <a:srgbClr val="FFFFFF"/>
                </a:solidFill>
                <a:latin typeface="Arial"/>
              </a:defRPr>
            </a:pPr>
            <a:r>
              <a:t>ANNUAL BIOTIC CROP LOSS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  <a:latin typeface="Arial"/>
              </a:defRPr>
            </a:pPr>
            <a:r>
              <a:t>Weeds (12.5%), insect pests (9.5%), and plant pathogens (6.5%) destroy 30%–35% of India's total crop yield annually, causing catastrophic financial losses and unmanaged chemical spraying.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114800"/>
            <a:ext cx="11094415" cy="2194560"/>
          </a:xfrm>
          <a:prstGeom prst="roundRect">
            <a:avLst/>
          </a:prstGeom>
          <a:solidFill>
            <a:srgbClr val="122A1F"/>
          </a:solidFill>
          <a:ln w="19050">
            <a:solidFill>
              <a:srgbClr val="2E7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224528"/>
            <a:ext cx="1076523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A3E635"/>
                </a:solidFill>
                <a:latin typeface="Trebuchet MS"/>
              </a:defRPr>
            </a:pPr>
            <a:r>
              <a:t>🌍 THE MARKET OPPORTUNITY &amp; SOCIO-ECONOMIC LEVERAGE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106984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defRPr sz="1000">
                <a:solidFill>
                  <a:srgbClr val="F1F5F9"/>
                </a:solidFill>
                <a:latin typeface="Arial"/>
              </a:defRPr>
            </a:pPr>
            <a:r>
              <a:t>• Global Precision Agriculture Scale: Valued at $11.97 Billion in 2026, projected to reach $23.07 Billion by 2033 (9.8% CAGR, MarketsandMarkets), and up to $38.8 Billion (12.7% CAGR, Grand View Research).</a:t>
            </a:r>
          </a:p>
          <a:p>
            <a:pPr>
              <a:spcBef>
                <a:spcPts val="400"/>
              </a:spcBef>
              <a:defRPr sz="1000">
                <a:solidFill>
                  <a:srgbClr val="F1F5F9"/>
                </a:solidFill>
                <a:latin typeface="Arial"/>
              </a:defRPr>
            </a:pPr>
            <a:r>
              <a:t>• India Smart Agriculture Expansion: Growing at 18.93% CAGR from $860.7 Million to $4.28 Billion by 2034 (IMARC Group) — transitioning from corporate mega-farms to cooperative FPOs.</a:t>
            </a:r>
          </a:p>
          <a:p>
            <a:pPr>
              <a:spcBef>
                <a:spcPts val="400"/>
              </a:spcBef>
              <a:defRPr sz="1000">
                <a:solidFill>
                  <a:srgbClr val="F1F5F9"/>
                </a:solidFill>
                <a:latin typeface="Arial"/>
              </a:defRPr>
            </a:pPr>
            <a:r>
              <a:t>• High Economic Payback: Precision micro-drip automation and early disease warning save ₹15,000–₹25,000 per acre annually in saved water pumping bills, reduced fertilizer leaching, and prevented harvest collapse.</a:t>
            </a:r>
          </a:p>
          <a:p>
            <a:pPr>
              <a:spcBef>
                <a:spcPts val="400"/>
              </a:spcBef>
              <a:defRPr sz="1000">
                <a:solidFill>
                  <a:srgbClr val="F1F5F9"/>
                </a:solidFill>
                <a:latin typeface="Arial"/>
              </a:defRPr>
            </a:pPr>
            <a:r>
              <a:t>• Grassroots 4G/5G Penetration: Over 450 million rural smartphone users enable direct vernacular voice delivery, instant leaf scanning, and sensor telemetry directly into the farmer's pocket.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38BDF8"/>
                </a:solidFill>
                <a:latin typeface="Arial"/>
              </a:defRPr>
            </a:pPr>
            <a:r>
              <a:t>🔗 Source / Citation: 10th Agriculture Census 2015-16 (MoA&amp;FW) | NSSO 77th Round SAS Report | CGWB Ground Water Resources | ICAR Crop Loss Study — https://agcensus.nic.in | https://mospi.gov.in | http://cgwb.gov.in | https://icar.org.in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3E635"/>
                </a:solidFill>
                <a:latin typeface="Trebuchet MS"/>
              </a:defRPr>
            </a:pPr>
            <a:r>
              <a:t>SLIDE 03  |  EXISTING SOLUTIONS &amp; GAP ANALYSIS</a:t>
            </a:r>
          </a:p>
          <a:p>
            <a:pPr>
              <a:spcBef>
                <a:spcPts val="300"/>
              </a:spcBef>
              <a:defRPr sz="1900" b="1">
                <a:solidFill>
                  <a:srgbClr val="FFFFFF"/>
                </a:solidFill>
                <a:latin typeface="Arial"/>
              </a:defRPr>
            </a:pPr>
            <a:r>
              <a:t>Why Current Agricultural Technologies Exclude 86% of Indian Farmers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3566160" cy="5120640"/>
          </a:xfrm>
          <a:prstGeom prst="roundRect">
            <a:avLst/>
          </a:prstGeom>
          <a:solidFill>
            <a:srgbClr val="122A1F"/>
          </a:solidFill>
          <a:ln w="19050">
            <a:solidFill>
              <a:srgbClr val="2E7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371600"/>
            <a:ext cx="3236976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🏭 Industrial AgTech &amp; SCADA</a:t>
            </a:r>
          </a:p>
          <a:p>
            <a:pPr>
              <a:spcBef>
                <a:spcPts val="300"/>
              </a:spcBef>
              <a:defRPr sz="1050" b="1">
                <a:solidFill>
                  <a:srgbClr val="F59E0B"/>
                </a:solidFill>
                <a:latin typeface="Arial"/>
              </a:defRPr>
            </a:pPr>
            <a:r>
              <a:t>High Cost Barrier (₹40,000–₹1,50,000+)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• Proprietary base stations (Fasal, CropIn, industrial PLCs) cost ₹40,000–₹1,50,000 ($480–$1,800 USD) per station.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• Mandatory recurring SaaS subscriptions of ₹500–₹1,500/month (₹6,000–₹18,000/yr) create continuous farmer debt.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• Designed exclusively for corporate contract farming, export vineyards, and climate-controlled commercial greenhouses.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• Closed, vendor-locked hardware requiring certified engineers for calibration and periodic probe replacements.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• Result: Completely inaccessible for 126 million smallholders operating on narrow margins.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59" y="1188720"/>
            <a:ext cx="3566160" cy="5120640"/>
          </a:xfrm>
          <a:prstGeom prst="roundRect">
            <a:avLst/>
          </a:prstGeom>
          <a:solidFill>
            <a:srgbClr val="122A1F"/>
          </a:solidFill>
          <a:ln w="19050">
            <a:solidFill>
              <a:srgbClr val="2E7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16551" y="1371600"/>
            <a:ext cx="3236976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📱 Standalone Advisory Apps</a:t>
            </a:r>
          </a:p>
          <a:p>
            <a:pPr>
              <a:spcBef>
                <a:spcPts val="300"/>
              </a:spcBef>
              <a:defRPr sz="1050" b="1">
                <a:solidFill>
                  <a:srgbClr val="F59E0B"/>
                </a:solidFill>
                <a:latin typeface="Arial"/>
              </a:defRPr>
            </a:pPr>
            <a:r>
              <a:t>Zero Ground Truth &amp; Passive Text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• Generic Regional Weather: Predictions based on macro-satellites 25–40 km away, ignoring on-field micro-climates.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• Heavy English/Formal Text: Unusable for rural farmers with low literacy or regional language dialects.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• Zero Physical Actuation: Passive advice cannot trigger irrigation pumps, open valves, or prevent crop wilting automatically.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• Manual Input Fatigue: Requires farmers to manually type crop dates and soil conditions, leading to 80%+ app abandonment.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• Result: Useful for weather curiosity, but powerless to automate irrigation or halt sudden fungal outbreaks.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188720"/>
            <a:ext cx="3566160" cy="5120640"/>
          </a:xfrm>
          <a:prstGeom prst="roundRect">
            <a:avLst/>
          </a:prstGeom>
          <a:solidFill>
            <a:srgbClr val="122A1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19871" y="1371600"/>
            <a:ext cx="3236976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A3E635"/>
                </a:solidFill>
                <a:latin typeface="Trebuchet MS"/>
              </a:defRPr>
            </a:pPr>
            <a:r>
              <a:t>⚡ The AgriSense Disruption</a:t>
            </a:r>
          </a:p>
          <a:p>
            <a:pPr>
              <a:spcBef>
                <a:spcPts val="300"/>
              </a:spcBef>
              <a:defRPr sz="1050" b="1">
                <a:solidFill>
                  <a:srgbClr val="22C55E"/>
                </a:solidFill>
                <a:latin typeface="Arial"/>
              </a:defRPr>
            </a:pPr>
            <a:r>
              <a:t>Closing Every Technological Gap</a:t>
            </a:r>
          </a:p>
          <a:p>
            <a:pPr>
              <a:spcBef>
                <a:spcPts val="600"/>
              </a:spcBef>
              <a:defRPr sz="950">
                <a:solidFill>
                  <a:srgbClr val="F1F5F9"/>
                </a:solidFill>
                <a:latin typeface="Arial"/>
              </a:defRPr>
            </a:pPr>
            <a:r>
              <a:t>• Ultra Low-Cost Hardware: Complete 8-sensor edge node built under ₹1,000 ($12 USD) — &gt;95% CapEx reduction.</a:t>
            </a:r>
          </a:p>
          <a:p>
            <a:pPr>
              <a:spcBef>
                <a:spcPts val="600"/>
              </a:spcBef>
              <a:defRPr sz="950">
                <a:solidFill>
                  <a:srgbClr val="F1F5F9"/>
                </a:solidFill>
                <a:latin typeface="Arial"/>
              </a:defRPr>
            </a:pPr>
            <a:r>
              <a:t>• ₹0/Month Recurring Burden: Powered by open edge C++ firmware, free-tier Cloudflare CDN, and self-healing AI models.</a:t>
            </a:r>
          </a:p>
          <a:p>
            <a:pPr>
              <a:spcBef>
                <a:spcPts val="600"/>
              </a:spcBef>
              <a:defRPr sz="950">
                <a:solidFill>
                  <a:srgbClr val="F1F5F9"/>
                </a:solidFill>
                <a:latin typeface="Arial"/>
              </a:defRPr>
            </a:pPr>
            <a:r>
              <a:t>• Autonomous Closed-Loop Relay: Measures volumetric water content every 2s and physically triggers pumps automatically.</a:t>
            </a:r>
          </a:p>
          <a:p>
            <a:pPr>
              <a:spcBef>
                <a:spcPts val="600"/>
              </a:spcBef>
              <a:defRPr sz="950">
                <a:solidFill>
                  <a:srgbClr val="F1F5F9"/>
                </a:solidFill>
                <a:latin typeface="Arial"/>
              </a:defRPr>
            </a:pPr>
            <a:r>
              <a:t>• Vernacular Voice Interface: 15+ Indian languages with full speech recognition and audio TTS for zero-literacy adoption.</a:t>
            </a:r>
          </a:p>
          <a:p>
            <a:pPr>
              <a:spcBef>
                <a:spcPts val="600"/>
              </a:spcBef>
              <a:defRPr sz="950">
                <a:solidFill>
                  <a:srgbClr val="F1F5F9"/>
                </a:solidFill>
                <a:latin typeface="Arial"/>
              </a:defRPr>
            </a:pPr>
            <a:r>
              <a:t>• Predictive Plant Doctor: Multimodal AI leaf diagnosis and micro-climate disease early-warning 48–72 hours in advance.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38BDF8"/>
                </a:solidFill>
                <a:latin typeface="Arial"/>
              </a:defRPr>
            </a:pPr>
            <a:r>
              <a:t>🔗 Source / Citation: Commercial AgTech Pricing Benchmarks &amp; Fasal System Overview | Plantix Diagnostics Report — https://fasal.co | https://plantix.net | https://kisansuvidha.gov.in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3E635"/>
                </a:solidFill>
                <a:latin typeface="Trebuchet MS"/>
              </a:defRPr>
            </a:pPr>
            <a:r>
              <a:t>SLIDE 04  |  OUR SOLUTION: THE CLOSED-LOOP ECOSYSTEM</a:t>
            </a:r>
          </a:p>
          <a:p>
            <a:pPr>
              <a:spcBef>
                <a:spcPts val="300"/>
              </a:spcBef>
              <a:defRPr sz="1900" b="1">
                <a:solidFill>
                  <a:srgbClr val="FFFFFF"/>
                </a:solidFill>
                <a:latin typeface="Arial"/>
              </a:defRPr>
            </a:pPr>
            <a:r>
              <a:t>Autonomous Sense → Think → Act → Learn Real-Time Cycle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2697480" cy="3291840"/>
          </a:xfrm>
          <a:prstGeom prst="roundRect">
            <a:avLst/>
          </a:prstGeom>
          <a:solidFill>
            <a:srgbClr val="122A1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242316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A3E635"/>
                </a:solidFill>
                <a:latin typeface="Trebuchet MS"/>
              </a:defRPr>
            </a:pPr>
            <a:r>
              <a:t>1. SENSE</a:t>
            </a:r>
          </a:p>
          <a:p>
            <a:pPr>
              <a:spcBef>
                <a:spcPts val="2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Real-Time Telemetry (2s)</a:t>
            </a:r>
          </a:p>
          <a:p>
            <a:pPr>
              <a:spcBef>
                <a:spcPts val="400"/>
              </a:spcBef>
              <a:defRPr sz="850">
                <a:solidFill>
                  <a:srgbClr val="F1F5F9"/>
                </a:solidFill>
                <a:latin typeface="Arial"/>
              </a:defRPr>
            </a:pPr>
            <a:r>
              <a:t>• 8 Sensor Data Streams sampled every 2 seconds via 12-bit ADC.</a:t>
            </a:r>
          </a:p>
          <a:p>
            <a:pPr>
              <a:spcBef>
                <a:spcPts val="400"/>
              </a:spcBef>
              <a:defRPr sz="850">
                <a:solidFill>
                  <a:srgbClr val="F1F5F9"/>
                </a:solidFill>
                <a:latin typeface="Arial"/>
              </a:defRPr>
            </a:pPr>
            <a:r>
              <a:t>• Dual-Zone Capacitive Soil Moisture probes (Zone A &amp; B).</a:t>
            </a:r>
          </a:p>
          <a:p>
            <a:pPr>
              <a:spcBef>
                <a:spcPts val="400"/>
              </a:spcBef>
              <a:defRPr sz="850">
                <a:solidFill>
                  <a:srgbClr val="F1F5F9"/>
                </a:solidFill>
                <a:latin typeface="Arial"/>
              </a:defRPr>
            </a:pPr>
            <a:r>
              <a:t>• Ambient DHT11 air temperature &amp; relative humidity.</a:t>
            </a:r>
          </a:p>
          <a:p>
            <a:pPr>
              <a:spcBef>
                <a:spcPts val="400"/>
              </a:spcBef>
              <a:defRPr sz="850">
                <a:solidFill>
                  <a:srgbClr val="F1F5F9"/>
                </a:solidFill>
                <a:latin typeface="Arial"/>
              </a:defRPr>
            </a:pPr>
            <a:r>
              <a:t>• Subsurface DS18B20 soil root temperature.</a:t>
            </a:r>
          </a:p>
          <a:p>
            <a:pPr>
              <a:spcBef>
                <a:spcPts val="400"/>
              </a:spcBef>
              <a:defRPr sz="850">
                <a:solidFill>
                  <a:srgbClr val="F1F5F9"/>
                </a:solidFill>
                <a:latin typeface="Arial"/>
              </a:defRPr>
            </a:pPr>
            <a:r>
              <a:t>• LDR solar illuminance &amp; Rain precipitation detector.</a:t>
            </a:r>
          </a:p>
          <a:p>
            <a:pPr>
              <a:spcBef>
                <a:spcPts val="400"/>
              </a:spcBef>
              <a:defRPr sz="850">
                <a:solidFill>
                  <a:srgbClr val="F1F5F9"/>
                </a:solidFill>
                <a:latin typeface="Arial"/>
              </a:defRPr>
            </a:pPr>
            <a:r>
              <a:t>• Hydrostatic water depth sensor monitoring tank reserves.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188720"/>
            <a:ext cx="2697480" cy="3291840"/>
          </a:xfrm>
          <a:prstGeom prst="roundRect">
            <a:avLst/>
          </a:prstGeom>
          <a:solidFill>
            <a:srgbClr val="122A1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0" y="1280160"/>
            <a:ext cx="242316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A3E635"/>
                </a:solidFill>
                <a:latin typeface="Trebuchet MS"/>
              </a:defRPr>
            </a:pPr>
            <a:r>
              <a:t>2. THINK</a:t>
            </a:r>
          </a:p>
          <a:p>
            <a:pPr>
              <a:spcBef>
                <a:spcPts val="2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Dual Edge-AI &amp; Microclimate</a:t>
            </a:r>
          </a:p>
          <a:p>
            <a:pPr>
              <a:spcBef>
                <a:spcPts val="400"/>
              </a:spcBef>
              <a:defRPr sz="850">
                <a:solidFill>
                  <a:srgbClr val="F1F5F9"/>
                </a:solidFill>
                <a:latin typeface="Arial"/>
              </a:defRPr>
            </a:pPr>
            <a:r>
              <a:t>• On-Chip C++ Threshold Logic: Runs locally on ESP32 Core 0.</a:t>
            </a:r>
          </a:p>
          <a:p>
            <a:pPr>
              <a:spcBef>
                <a:spcPts val="400"/>
              </a:spcBef>
              <a:defRPr sz="850">
                <a:solidFill>
                  <a:srgbClr val="F1F5F9"/>
                </a:solidFill>
                <a:latin typeface="Arial"/>
              </a:defRPr>
            </a:pPr>
            <a:r>
              <a:t>• Microclimate Disease Model: Calculates Vapor Pressure Deficit (VPD) and Leaf Wetness Duration (LWD).</a:t>
            </a:r>
          </a:p>
          <a:p>
            <a:pPr>
              <a:spcBef>
                <a:spcPts val="400"/>
              </a:spcBef>
              <a:defRPr sz="850">
                <a:solidFill>
                  <a:srgbClr val="F1F5F9"/>
                </a:solidFill>
                <a:latin typeface="Arial"/>
              </a:defRPr>
            </a:pPr>
            <a:r>
              <a:t>• High-Hazard Trigger: If RH &gt;85% at 18–26°C for ≥8 hrs, issues pre-symptomatic fungal alert 48h before blight spreads.</a:t>
            </a:r>
          </a:p>
          <a:p>
            <a:pPr>
              <a:spcBef>
                <a:spcPts val="400"/>
              </a:spcBef>
              <a:defRPr sz="850">
                <a:solidFill>
                  <a:srgbClr val="F1F5F9"/>
                </a:solidFill>
                <a:latin typeface="Arial"/>
              </a:defRPr>
            </a:pPr>
            <a:r>
              <a:t>• Multimodal LLM Mesh: Analyzes field context against crop agronomy rules.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79" y="1188720"/>
            <a:ext cx="2697480" cy="3291840"/>
          </a:xfrm>
          <a:prstGeom prst="roundRect">
            <a:avLst/>
          </a:prstGeom>
          <a:solidFill>
            <a:srgbClr val="122A1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39" y="1280160"/>
            <a:ext cx="242316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A3E635"/>
                </a:solidFill>
                <a:latin typeface="Trebuchet MS"/>
              </a:defRPr>
            </a:pPr>
            <a:r>
              <a:t>3. ACT</a:t>
            </a:r>
          </a:p>
          <a:p>
            <a:pPr>
              <a:spcBef>
                <a:spcPts val="2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Closed-Loop Automation</a:t>
            </a:r>
          </a:p>
          <a:p>
            <a:pPr>
              <a:spcBef>
                <a:spcPts val="400"/>
              </a:spcBef>
              <a:defRPr sz="850">
                <a:solidFill>
                  <a:srgbClr val="F1F5F9"/>
                </a:solidFill>
                <a:latin typeface="Arial"/>
              </a:defRPr>
            </a:pPr>
            <a:r>
              <a:t>• Soil Matric Potential Control: Cuts off irrigation at Field Capacity (70%–75% VWC) to prevent root hypoxia.</a:t>
            </a:r>
          </a:p>
          <a:p>
            <a:pPr>
              <a:spcBef>
                <a:spcPts val="400"/>
              </a:spcBef>
              <a:defRPr sz="850">
                <a:solidFill>
                  <a:srgbClr val="F1F5F9"/>
                </a:solidFill>
                <a:latin typeface="Arial"/>
              </a:defRPr>
            </a:pPr>
            <a:r>
              <a:t>• Opens solenoid valve at Management Allowable Depletion (40%–45% VWC).</a:t>
            </a:r>
          </a:p>
          <a:p>
            <a:pPr>
              <a:spcBef>
                <a:spcPts val="400"/>
              </a:spcBef>
              <a:defRPr sz="850">
                <a:solidFill>
                  <a:srgbClr val="F1F5F9"/>
                </a:solidFill>
                <a:latin typeface="Arial"/>
              </a:defRPr>
            </a:pPr>
            <a:r>
              <a:t>• 12V Latching Solenoid Valve driven by isolated optocoupler relay.</a:t>
            </a:r>
          </a:p>
          <a:p>
            <a:pPr>
              <a:spcBef>
                <a:spcPts val="400"/>
              </a:spcBef>
              <a:defRPr sz="850">
                <a:solidFill>
                  <a:srgbClr val="F1F5F9"/>
                </a:solidFill>
                <a:latin typeface="Arial"/>
              </a:defRPr>
            </a:pPr>
            <a:r>
              <a:t>• Pulsed Actuation (50ms): Consumes 0mA standby current, preserving battery.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15399" y="1188720"/>
            <a:ext cx="2697480" cy="3291840"/>
          </a:xfrm>
          <a:prstGeom prst="roundRect">
            <a:avLst/>
          </a:prstGeom>
          <a:solidFill>
            <a:srgbClr val="122A1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59" y="1280160"/>
            <a:ext cx="242316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A3E635"/>
                </a:solidFill>
                <a:latin typeface="Trebuchet MS"/>
              </a:defRPr>
            </a:pPr>
            <a:r>
              <a:t>4. LEARN</a:t>
            </a:r>
          </a:p>
          <a:p>
            <a:pPr>
              <a:spcBef>
                <a:spcPts val="2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Vernacular Audio &amp; Mandi</a:t>
            </a:r>
          </a:p>
          <a:p>
            <a:pPr>
              <a:spcBef>
                <a:spcPts val="400"/>
              </a:spcBef>
              <a:defRPr sz="850">
                <a:solidFill>
                  <a:srgbClr val="F1F5F9"/>
                </a:solidFill>
                <a:latin typeface="Arial"/>
              </a:defRPr>
            </a:pPr>
            <a:r>
              <a:t>• Vernacular Speech Output: Reads advice aloud in 15+ Indian languages for low-literacy farmers.</a:t>
            </a:r>
          </a:p>
          <a:p>
            <a:pPr>
              <a:spcBef>
                <a:spcPts val="400"/>
              </a:spcBef>
              <a:defRPr sz="850">
                <a:solidFill>
                  <a:srgbClr val="F1F5F9"/>
                </a:solidFill>
                <a:latin typeface="Arial"/>
              </a:defRPr>
            </a:pPr>
            <a:r>
              <a:t>• Computer Vision Crop Doctor: Instant mobile leaf photo diagnosis scoring disease &amp; organic remedies.</a:t>
            </a:r>
          </a:p>
          <a:p>
            <a:pPr>
              <a:spcBef>
                <a:spcPts val="400"/>
              </a:spcBef>
              <a:defRPr sz="850">
                <a:solidFill>
                  <a:srgbClr val="F1F5F9"/>
                </a:solidFill>
                <a:latin typeface="Arial"/>
              </a:defRPr>
            </a:pPr>
            <a:r>
              <a:t>• Mandi Marketplace: Direct trading link connecting farmers to wholesalers, food processors, and logistics.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617720"/>
            <a:ext cx="11094415" cy="1737360"/>
          </a:xfrm>
          <a:prstGeom prst="roundRect">
            <a:avLst/>
          </a:prstGeom>
          <a:solidFill>
            <a:srgbClr val="122A1F"/>
          </a:solidFill>
          <a:ln w="19050">
            <a:solidFill>
              <a:srgbClr val="2E7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727448"/>
            <a:ext cx="1076523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A3E635"/>
                </a:solidFill>
                <a:latin typeface="Trebuchet MS"/>
              </a:defRPr>
            </a:pPr>
            <a:r>
              <a:t>⭐ PROVEN SYSTEM VALUE PROPOSITION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983480"/>
            <a:ext cx="10698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300"/>
              </a:spcBef>
              <a:defRPr sz="950">
                <a:solidFill>
                  <a:srgbClr val="F1F5F9"/>
                </a:solidFill>
                <a:latin typeface="Arial"/>
              </a:defRPr>
            </a:pPr>
            <a:r>
              <a:t>• Complete Autonomous Operation: Eliminates nocturnal farm visits, prevents pump burnout during dry runs, and protects groundwater aquifers automatically.</a:t>
            </a:r>
          </a:p>
          <a:p>
            <a:pPr>
              <a:spcBef>
                <a:spcPts val="300"/>
              </a:spcBef>
              <a:defRPr sz="950">
                <a:solidFill>
                  <a:srgbClr val="F1F5F9"/>
                </a:solidFill>
                <a:latin typeface="Arial"/>
              </a:defRPr>
            </a:pPr>
            <a:r>
              <a:t>• 100% Offline Fail-Safe: Edge C++ logic maintains automated irrigation schedules even if internet connectivity drops completely in remote villages.</a:t>
            </a:r>
          </a:p>
          <a:p>
            <a:pPr>
              <a:spcBef>
                <a:spcPts val="300"/>
              </a:spcBef>
              <a:defRPr sz="950">
                <a:solidFill>
                  <a:srgbClr val="F1F5F9"/>
                </a:solidFill>
                <a:latin typeface="Arial"/>
              </a:defRPr>
            </a:pPr>
            <a:r>
              <a:t>• Comprehensive Value Chain Integration: Not just a sensor — an end-to-end platform linking 23 ecosystem personas from rural growers to urban food factories.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38BDF8"/>
                </a:solidFill>
                <a:latin typeface="Arial"/>
              </a:defRPr>
            </a:pPr>
            <a:r>
              <a:t>🔗 Source / Citation: FAO Irrigation and Drainage Paper No. 56 (Crop Evapotranspiration) | ICAR-CIAE Micro-Irrigation Guidelines — https://www.fao.org/3/x0490e/x0490e00.htm | https://ciae.icar.gov.in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3E635"/>
                </a:solidFill>
                <a:latin typeface="Trebuchet MS"/>
              </a:defRPr>
            </a:pPr>
            <a:r>
              <a:t>SLIDE 05  |  TECHNOLOGY &amp; SYSTEM ARCHITECTURE</a:t>
            </a:r>
          </a:p>
          <a:p>
            <a:pPr>
              <a:spcBef>
                <a:spcPts val="300"/>
              </a:spcBef>
              <a:defRPr sz="1900" b="1">
                <a:solidFill>
                  <a:srgbClr val="FFFFFF"/>
                </a:solidFill>
                <a:latin typeface="Arial"/>
              </a:defRPr>
            </a:pPr>
            <a:r>
              <a:t>Edge-Computing SoC, Anti-Electrolysis Physics &amp; AI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3566160" cy="5120640"/>
          </a:xfrm>
          <a:prstGeom prst="roundRect">
            <a:avLst/>
          </a:prstGeom>
          <a:solidFill>
            <a:srgbClr val="122A1F"/>
          </a:solidFill>
          <a:ln w="19050">
            <a:solidFill>
              <a:srgbClr val="2E7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298448"/>
            <a:ext cx="323697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A3E635"/>
                </a:solidFill>
                <a:latin typeface="Trebuchet MS"/>
              </a:defRPr>
            </a:pPr>
            <a:r>
              <a:t>🔌 ESP32 Edge Compute &amp; Sensors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00200"/>
            <a:ext cx="3236976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defRPr sz="1000" b="1">
                <a:solidFill>
                  <a:srgbClr val="A3E635"/>
                </a:solidFill>
                <a:latin typeface="Arial"/>
              </a:defRPr>
            </a:pPr>
            <a:r>
              <a:t>• Xtensa LX6 Dual-Core @ 240MHz</a:t>
            </a:r>
          </a:p>
          <a:p>
            <a:pPr>
              <a:spcBef>
                <a:spcPts val="100"/>
              </a:spcBef>
              <a:defRPr sz="850">
                <a:solidFill>
                  <a:srgbClr val="F1F5F9"/>
                </a:solidFill>
                <a:latin typeface="Arial"/>
              </a:defRPr>
            </a:pPr>
            <a:r>
              <a:t>600 DMIPS computation running FreeRTOS dual-task scheduling (Core 0: ADC &amp; Relay, Core 1: Wi-Fi/ESP-NOW).</a:t>
            </a:r>
          </a:p>
          <a:p>
            <a:pPr>
              <a:spcBef>
                <a:spcPts val="600"/>
              </a:spcBef>
              <a:defRPr sz="1000" b="1">
                <a:solidFill>
                  <a:srgbClr val="A3E635"/>
                </a:solidFill>
                <a:latin typeface="Arial"/>
              </a:defRPr>
            </a:pPr>
            <a:r>
              <a:t>• 10–15 µA Deep-Sleep Mode</a:t>
            </a:r>
          </a:p>
          <a:p>
            <a:pPr>
              <a:spcBef>
                <a:spcPts val="100"/>
              </a:spcBef>
              <a:defRPr sz="850">
                <a:solidFill>
                  <a:srgbClr val="F1F5F9"/>
                </a:solidFill>
                <a:latin typeface="Arial"/>
              </a:defRPr>
            </a:pPr>
            <a:r>
              <a:t>Powered by 2600mAh 18650 Li-ion cell + 5V/2W solar panel with TP4056 BMS for indefinite off-grid autonomy.</a:t>
            </a:r>
          </a:p>
          <a:p>
            <a:pPr>
              <a:spcBef>
                <a:spcPts val="600"/>
              </a:spcBef>
              <a:defRPr sz="1000" b="1">
                <a:solidFill>
                  <a:srgbClr val="A3E635"/>
                </a:solidFill>
                <a:latin typeface="Arial"/>
              </a:defRPr>
            </a:pPr>
            <a:r>
              <a:t>• 8 Hardware Sensing Streams</a:t>
            </a:r>
          </a:p>
          <a:p>
            <a:pPr>
              <a:spcBef>
                <a:spcPts val="100"/>
              </a:spcBef>
              <a:defRPr sz="850">
                <a:solidFill>
                  <a:srgbClr val="F1F5F9"/>
                </a:solidFill>
                <a:latin typeface="Arial"/>
              </a:defRPr>
            </a:pPr>
            <a:r>
              <a:t>Capacitive Soil Probes A &amp; B, DHT11 (Air Temp/Hum), DS18B20 (Soil Temp), LDR (Lux), Rain, Water Depth.</a:t>
            </a:r>
          </a:p>
          <a:p>
            <a:pPr>
              <a:spcBef>
                <a:spcPts val="600"/>
              </a:spcBef>
              <a:defRPr sz="1000" b="1">
                <a:solidFill>
                  <a:srgbClr val="A3E635"/>
                </a:solidFill>
                <a:latin typeface="Arial"/>
              </a:defRPr>
            </a:pPr>
            <a:r>
              <a:t>• Optocoupler + Flyback Snubber</a:t>
            </a:r>
          </a:p>
          <a:p>
            <a:pPr>
              <a:spcBef>
                <a:spcPts val="100"/>
              </a:spcBef>
              <a:defRPr sz="850">
                <a:solidFill>
                  <a:srgbClr val="F1F5F9"/>
                </a:solidFill>
                <a:latin typeface="Arial"/>
              </a:defRPr>
            </a:pPr>
            <a:r>
              <a:t>PC817 optical isolation + 1N4007 diode suppresses inductive motor voltage spikes (Back-EMF).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59" y="1188720"/>
            <a:ext cx="3566160" cy="5120640"/>
          </a:xfrm>
          <a:prstGeom prst="roundRect">
            <a:avLst/>
          </a:prstGeom>
          <a:solidFill>
            <a:srgbClr val="122A1F"/>
          </a:solidFill>
          <a:ln w="19050">
            <a:solidFill>
              <a:srgbClr val="2E7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16551" y="1298448"/>
            <a:ext cx="323697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A3E635"/>
                </a:solidFill>
                <a:latin typeface="Trebuchet MS"/>
              </a:defRPr>
            </a:pPr>
            <a:r>
              <a:t>🧪 Anti-Corrosion Sensor Physics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16551" y="1600200"/>
            <a:ext cx="3236976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defRPr sz="1000" b="1">
                <a:solidFill>
                  <a:srgbClr val="A3E635"/>
                </a:solidFill>
                <a:latin typeface="Arial"/>
              </a:defRPr>
            </a:pPr>
            <a:r>
              <a:t>• Resistive Probes: 10-30 Day Death</a:t>
            </a:r>
          </a:p>
          <a:p>
            <a:pPr>
              <a:spcBef>
                <a:spcPts val="100"/>
              </a:spcBef>
              <a:defRPr sz="850">
                <a:solidFill>
                  <a:srgbClr val="F1F5F9"/>
                </a:solidFill>
                <a:latin typeface="Arial"/>
              </a:defRPr>
            </a:pPr>
            <a:r>
              <a:t>Continuous DC current causes severe galvanic electrolysis and anodic dissolution (Cu -&gt; Cu2+ + 2e-), corroding probes rapidly.</a:t>
            </a:r>
          </a:p>
          <a:p>
            <a:pPr>
              <a:spcBef>
                <a:spcPts val="600"/>
              </a:spcBef>
              <a:defRPr sz="1000" b="1">
                <a:solidFill>
                  <a:srgbClr val="A3E635"/>
                </a:solidFill>
                <a:latin typeface="Arial"/>
              </a:defRPr>
            </a:pPr>
            <a:r>
              <a:t>• Capacitive AC Sensing (1.5 MHz)</a:t>
            </a:r>
          </a:p>
          <a:p>
            <a:pPr>
              <a:spcBef>
                <a:spcPts val="100"/>
              </a:spcBef>
              <a:defRPr sz="850">
                <a:solidFill>
                  <a:srgbClr val="F1F5F9"/>
                </a:solidFill>
                <a:latin typeface="Arial"/>
              </a:defRPr>
            </a:pPr>
            <a:r>
              <a:t>Uses onboard 555-timer generating high-frequency 1.5 MHz AC oscillation to measure soil dielectric permittivity (ε ≈ 80 for water).</a:t>
            </a:r>
          </a:p>
          <a:p>
            <a:pPr>
              <a:spcBef>
                <a:spcPts val="600"/>
              </a:spcBef>
              <a:defRPr sz="1000" b="1">
                <a:solidFill>
                  <a:srgbClr val="A3E635"/>
                </a:solidFill>
                <a:latin typeface="Arial"/>
              </a:defRPr>
            </a:pPr>
            <a:r>
              <a:t>• Hermetic FR4 PCB Encasement</a:t>
            </a:r>
          </a:p>
          <a:p>
            <a:pPr>
              <a:spcBef>
                <a:spcPts val="100"/>
              </a:spcBef>
              <a:defRPr sz="850">
                <a:solidFill>
                  <a:srgbClr val="F1F5F9"/>
                </a:solidFill>
                <a:latin typeface="Arial"/>
              </a:defRPr>
            </a:pPr>
            <a:r>
              <a:t>Copper traces sealed beneath solder mask and conformal coat — zero exposed metal in soil -&gt; 3+ years operational life.</a:t>
            </a:r>
          </a:p>
          <a:p>
            <a:pPr>
              <a:spcBef>
                <a:spcPts val="600"/>
              </a:spcBef>
              <a:defRPr sz="1000" b="1">
                <a:solidFill>
                  <a:srgbClr val="A3E635"/>
                </a:solidFill>
                <a:latin typeface="Arial"/>
              </a:defRPr>
            </a:pPr>
            <a:r>
              <a:t>• IEEE Sensor Benchmark Validated</a:t>
            </a:r>
          </a:p>
          <a:p>
            <a:pPr>
              <a:spcBef>
                <a:spcPts val="100"/>
              </a:spcBef>
              <a:defRPr sz="850">
                <a:solidFill>
                  <a:srgbClr val="F1F5F9"/>
                </a:solidFill>
                <a:latin typeface="Arial"/>
              </a:defRPr>
            </a:pPr>
            <a:r>
              <a:t>Proven superior signal stability and longevity across varying soil salinity and compaction levels.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188720"/>
            <a:ext cx="3566160" cy="5120640"/>
          </a:xfrm>
          <a:prstGeom prst="roundRect">
            <a:avLst/>
          </a:prstGeom>
          <a:solidFill>
            <a:srgbClr val="122A1F"/>
          </a:solidFill>
          <a:ln w="19050">
            <a:solidFill>
              <a:srgbClr val="2E7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19871" y="1298448"/>
            <a:ext cx="323697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A3E635"/>
                </a:solidFill>
                <a:latin typeface="Trebuchet MS"/>
              </a:defRPr>
            </a:pPr>
            <a:r>
              <a:t>🧠 Resilient AI &amp; Cloud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9871" y="1600200"/>
            <a:ext cx="3236976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defRPr sz="1000" b="1">
                <a:solidFill>
                  <a:srgbClr val="A3E635"/>
                </a:solidFill>
                <a:latin typeface="Arial"/>
              </a:defRPr>
            </a:pPr>
            <a:r>
              <a:t>• Self-Healing 14-LLM Mesh</a:t>
            </a:r>
          </a:p>
          <a:p>
            <a:pPr>
              <a:spcBef>
                <a:spcPts val="100"/>
              </a:spcBef>
              <a:defRPr sz="850">
                <a:solidFill>
                  <a:srgbClr val="F1F5F9"/>
                </a:solidFill>
                <a:latin typeface="Arial"/>
              </a:defRPr>
            </a:pPr>
            <a:r>
              <a:t>Dynamic router (openrouter/free) automatically redirects to active free models with zero 404 downtime.</a:t>
            </a:r>
          </a:p>
          <a:p>
            <a:pPr>
              <a:spcBef>
                <a:spcPts val="600"/>
              </a:spcBef>
              <a:defRPr sz="1000" b="1">
                <a:solidFill>
                  <a:srgbClr val="A3E635"/>
                </a:solidFill>
                <a:latin typeface="Arial"/>
              </a:defRPr>
            </a:pPr>
            <a:r>
              <a:t>• MobileNetV2 / YOLOv8-Nano Vision</a:t>
            </a:r>
          </a:p>
          <a:p>
            <a:pPr>
              <a:spcBef>
                <a:spcPts val="100"/>
              </a:spcBef>
              <a:defRPr sz="850">
                <a:solidFill>
                  <a:srgbClr val="F1F5F9"/>
                </a:solidFill>
                <a:latin typeface="Arial"/>
              </a:defRPr>
            </a:pPr>
            <a:r>
              <a:t>Trained on PlantVillage dataset (54,306 leaf images, 38 pathologies) yielding 94.2% top-1 accuracy in &lt;180ms.</a:t>
            </a:r>
          </a:p>
          <a:p>
            <a:pPr>
              <a:spcBef>
                <a:spcPts val="600"/>
              </a:spcBef>
              <a:defRPr sz="1000" b="1">
                <a:solidFill>
                  <a:srgbClr val="A3E635"/>
                </a:solidFill>
                <a:latin typeface="Arial"/>
              </a:defRPr>
            </a:pPr>
            <a:r>
              <a:t>• Dual Database Async Engine</a:t>
            </a:r>
          </a:p>
          <a:p>
            <a:pPr>
              <a:spcBef>
                <a:spcPts val="100"/>
              </a:spcBef>
              <a:defRPr sz="850">
                <a:solidFill>
                  <a:srgbClr val="F1F5F9"/>
                </a:solidFill>
                <a:latin typeface="Arial"/>
              </a:defRPr>
            </a:pPr>
            <a:r>
              <a:t>Motor (async MongoDB Atlas) + local SQLite cache ensures sub-50ms query latency and offline failover.</a:t>
            </a:r>
          </a:p>
          <a:p>
            <a:pPr>
              <a:spcBef>
                <a:spcPts val="600"/>
              </a:spcBef>
              <a:defRPr sz="1000" b="1">
                <a:solidFill>
                  <a:srgbClr val="A3E635"/>
                </a:solidFill>
                <a:latin typeface="Arial"/>
              </a:defRPr>
            </a:pPr>
            <a:r>
              <a:t>• Vernacular Speech Synthesis</a:t>
            </a:r>
          </a:p>
          <a:p>
            <a:pPr>
              <a:spcBef>
                <a:spcPts val="100"/>
              </a:spcBef>
              <a:defRPr sz="850">
                <a:solidFill>
                  <a:srgbClr val="F1F5F9"/>
                </a:solidFill>
                <a:latin typeface="Arial"/>
              </a:defRPr>
            </a:pPr>
            <a:r>
              <a:t>Web Speech API integration delivers real-time voice translation across 15+ Indian languages.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38BDF8"/>
                </a:solidFill>
                <a:latin typeface="Arial"/>
              </a:defRPr>
            </a:pPr>
            <a:r>
              <a:t>🔗 Source / Citation: Espressif ESP32 Technical Datasheet | IEEE Sensors Journal (DOI:10.1109/ACCESS.2020) | PlantVillage Dataset — https://www.espressif.com | https://ieeexplore.ieee.org | https://plantvillage.psu.edu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3E635"/>
                </a:solidFill>
                <a:latin typeface="Trebuchet MS"/>
              </a:defRPr>
            </a:pPr>
            <a:r>
              <a:t>SLIDE 06  |  PROTOTYPE, MVP &amp; LIVE DEMONSTRATION</a:t>
            </a:r>
          </a:p>
          <a:p>
            <a:pPr>
              <a:spcBef>
                <a:spcPts val="300"/>
              </a:spcBef>
              <a:defRPr sz="1900" b="1">
                <a:solidFill>
                  <a:srgbClr val="FFFFFF"/>
                </a:solidFill>
                <a:latin typeface="Arial"/>
              </a:defRPr>
            </a:pPr>
            <a:r>
              <a:t>Bench-Tested Hardware, Deployed Cloud Web App &amp; Field Proof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3566160" cy="5120640"/>
          </a:xfrm>
          <a:prstGeom prst="roundRect">
            <a:avLst/>
          </a:prstGeom>
          <a:solidFill>
            <a:srgbClr val="122A1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371600"/>
            <a:ext cx="3236976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A3E635"/>
                </a:solidFill>
                <a:latin typeface="Trebuchet MS"/>
              </a:defRPr>
            </a:pPr>
            <a:r>
              <a:t>🔌 Calibrated Hardware Node</a:t>
            </a:r>
          </a:p>
          <a:p>
            <a:pPr>
              <a:spcBef>
                <a:spcPts val="3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Bench Tested &amp; Verified</a:t>
            </a:r>
          </a:p>
          <a:p>
            <a:pPr>
              <a:spcBef>
                <a:spcPts val="700"/>
              </a:spcBef>
              <a:defRPr sz="900">
                <a:solidFill>
                  <a:srgbClr val="F1F5F9"/>
                </a:solidFill>
                <a:latin typeface="Arial"/>
              </a:defRPr>
            </a:pPr>
            <a:r>
              <a:t>• Microcontroller: ESP32 NodeMCU on custom sensor interface circuit.</a:t>
            </a:r>
          </a:p>
          <a:p>
            <a:pPr>
              <a:spcBef>
                <a:spcPts val="700"/>
              </a:spcBef>
              <a:defRPr sz="900">
                <a:solidFill>
                  <a:srgbClr val="F1F5F9"/>
                </a:solidFill>
                <a:latin typeface="Arial"/>
              </a:defRPr>
            </a:pPr>
            <a:r>
              <a:t>• Calibrated ADC Bounds: Dry air = 3200 ADC (0% VWC); Water saturation = 1400 ADC (100% VWC).</a:t>
            </a:r>
          </a:p>
          <a:p>
            <a:pPr>
              <a:spcBef>
                <a:spcPts val="700"/>
              </a:spcBef>
              <a:defRPr sz="900">
                <a:solidFill>
                  <a:srgbClr val="F1F5F9"/>
                </a:solidFill>
                <a:latin typeface="Arial"/>
              </a:defRPr>
            </a:pPr>
            <a:r>
              <a:t>• Actuation Testing: 5V/12V Relay latching DC submersible pump with zero electrical noise feedback.</a:t>
            </a:r>
          </a:p>
          <a:p>
            <a:pPr>
              <a:spcBef>
                <a:spcPts val="700"/>
              </a:spcBef>
              <a:defRPr sz="900">
                <a:solidFill>
                  <a:srgbClr val="F1F5F9"/>
                </a:solidFill>
                <a:latin typeface="Arial"/>
              </a:defRPr>
            </a:pPr>
            <a:r>
              <a:t>• Off-Grid Power Test: 2600 mAh Li-ion battery + 5V solar trickle charge sustained continuous 72-hour operational test.</a:t>
            </a:r>
          </a:p>
          <a:p>
            <a:pPr>
              <a:spcBef>
                <a:spcPts val="700"/>
              </a:spcBef>
              <a:defRPr sz="900">
                <a:solidFill>
                  <a:srgbClr val="F1F5F9"/>
                </a:solidFill>
                <a:latin typeface="Arial"/>
              </a:defRPr>
            </a:pPr>
            <a:r>
              <a:t>• Bill of Materials: ESP32 (₹350), Capacitive Sensor (₹95), DHT11 (₹180), Relay &amp; Diode (₹120), Box (₹175) = ₹920 ($11.20 USD).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59" y="1188720"/>
            <a:ext cx="3566160" cy="5120640"/>
          </a:xfrm>
          <a:prstGeom prst="roundRect">
            <a:avLst/>
          </a:prstGeom>
          <a:solidFill>
            <a:srgbClr val="122A1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16551" y="1371600"/>
            <a:ext cx="3236976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A3E635"/>
                </a:solidFill>
                <a:latin typeface="Trebuchet MS"/>
              </a:defRPr>
            </a:pPr>
            <a:r>
              <a:t>🌐 Deployed Production Web App</a:t>
            </a:r>
          </a:p>
          <a:p>
            <a:pPr>
              <a:spcBef>
                <a:spcPts val="3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Live at agrisense-269.pages.dev</a:t>
            </a:r>
          </a:p>
          <a:p>
            <a:pPr>
              <a:spcBef>
                <a:spcPts val="700"/>
              </a:spcBef>
              <a:defRPr sz="900">
                <a:solidFill>
                  <a:srgbClr val="F1F5F9"/>
                </a:solidFill>
                <a:latin typeface="Arial"/>
              </a:defRPr>
            </a:pPr>
            <a:r>
              <a:t>• Production Hosting: Deployed on Cloudflare Pages global CDN with edge SSL and auto-deploy from GitHub.</a:t>
            </a:r>
          </a:p>
          <a:p>
            <a:pPr>
              <a:spcBef>
                <a:spcPts val="700"/>
              </a:spcBef>
              <a:defRPr sz="900">
                <a:solidFill>
                  <a:srgbClr val="F1F5F9"/>
                </a:solidFill>
                <a:latin typeface="Arial"/>
              </a:defRPr>
            </a:pPr>
            <a:r>
              <a:t>• Real-Time Gauges: Dual soil moisture zones, temperature, humidity, water tank volume, and live weather advisory.</a:t>
            </a:r>
          </a:p>
          <a:p>
            <a:pPr>
              <a:spcBef>
                <a:spcPts val="700"/>
              </a:spcBef>
              <a:defRPr sz="900">
                <a:solidFill>
                  <a:srgbClr val="F1F5F9"/>
                </a:solidFill>
                <a:latin typeface="Arial"/>
              </a:defRPr>
            </a:pPr>
            <a:r>
              <a:t>• AI Crop Doctor: Live camera leaf upload diagnosing blight, powdery mildew, and rust with chemical &amp; organic cures.</a:t>
            </a:r>
          </a:p>
          <a:p>
            <a:pPr>
              <a:spcBef>
                <a:spcPts val="700"/>
              </a:spcBef>
              <a:defRPr sz="900">
                <a:solidFill>
                  <a:srgbClr val="F1F5F9"/>
                </a:solidFill>
                <a:latin typeface="Arial"/>
              </a:defRPr>
            </a:pPr>
            <a:r>
              <a:t>• Multilingual Engine: Instant toggles for Hindi, Marathi, Bengali, Tamil, Telugu, Gujarati, Punjabi + audio voice synthesis.</a:t>
            </a:r>
          </a:p>
          <a:p>
            <a:pPr>
              <a:spcBef>
                <a:spcPts val="700"/>
              </a:spcBef>
              <a:defRPr sz="900">
                <a:solidFill>
                  <a:srgbClr val="F1F5F9"/>
                </a:solidFill>
                <a:latin typeface="Arial"/>
              </a:defRPr>
            </a:pPr>
            <a:r>
              <a:t>• Sub-50ms Latency: Fast execution verified by X-Process-Time server headers.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188720"/>
            <a:ext cx="3566160" cy="5120640"/>
          </a:xfrm>
          <a:prstGeom prst="roundRect">
            <a:avLst/>
          </a:prstGeom>
          <a:solidFill>
            <a:srgbClr val="122A1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19871" y="1371600"/>
            <a:ext cx="3236976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A3E635"/>
                </a:solidFill>
                <a:latin typeface="Trebuchet MS"/>
              </a:defRPr>
            </a:pPr>
            <a:r>
              <a:t>📊 Live Production Traction</a:t>
            </a:r>
          </a:p>
          <a:p>
            <a:pPr>
              <a:spcBef>
                <a:spcPts val="3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Real Field Data &amp; User Registry</a:t>
            </a:r>
          </a:p>
          <a:p>
            <a:pPr>
              <a:spcBef>
                <a:spcPts val="700"/>
              </a:spcBef>
              <a:defRPr sz="900">
                <a:solidFill>
                  <a:srgbClr val="F1F5F9"/>
                </a:solidFill>
                <a:latin typeface="Arial"/>
              </a:defRPr>
            </a:pPr>
            <a:r>
              <a:t>• Global Reach: 850+ peak visitor sessions recorded across 6 countries.</a:t>
            </a:r>
          </a:p>
          <a:p>
            <a:pPr>
              <a:spcBef>
                <a:spcPts val="700"/>
              </a:spcBef>
              <a:defRPr sz="900">
                <a:solidFill>
                  <a:srgbClr val="F1F5F9"/>
                </a:solidFill>
                <a:latin typeface="Arial"/>
              </a:defRPr>
            </a:pPr>
            <a:r>
              <a:t>• Production Users: 23 registered multi-role accounts (17 Farmers, 1 Wholesaler, 1 Vendor, 1 Factory, 1 Expert, 1 Transport, 1 Consumer).</a:t>
            </a:r>
          </a:p>
          <a:p>
            <a:pPr>
              <a:spcBef>
                <a:spcPts val="700"/>
              </a:spcBef>
              <a:defRPr sz="900">
                <a:solidFill>
                  <a:srgbClr val="F1F5F9"/>
                </a:solidFill>
                <a:latin typeface="Arial"/>
              </a:defRPr>
            </a:pPr>
            <a:r>
              <a:t>• Monitored Farmland: 104.5 acres registered across Ludhiana, Samrala, and Khanna agricultural belts in Punjab.</a:t>
            </a:r>
          </a:p>
          <a:p>
            <a:pPr>
              <a:spcBef>
                <a:spcPts val="700"/>
              </a:spcBef>
              <a:defRPr sz="900">
                <a:solidFill>
                  <a:srgbClr val="F1F5F9"/>
                </a:solidFill>
                <a:latin typeface="Arial"/>
              </a:defRPr>
            </a:pPr>
            <a:r>
              <a:t>• IoT Telemetry Logs: 300+ live sensor readings and 262 login records migrated into cloud MongoDB Atlas cluster.</a:t>
            </a:r>
          </a:p>
          <a:p>
            <a:pPr>
              <a:spcBef>
                <a:spcPts val="700"/>
              </a:spcBef>
              <a:defRPr sz="900">
                <a:solidFill>
                  <a:srgbClr val="F1F5F9"/>
                </a:solidFill>
                <a:latin typeface="Arial"/>
              </a:defRPr>
            </a:pPr>
            <a:r>
              <a:t>• Reliability: Zero server crashes with 99.98% measured uptime.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38BDF8"/>
                </a:solidFill>
                <a:latin typeface="Arial"/>
              </a:defRPr>
            </a:pPr>
            <a:r>
              <a:t>🔗 Source / Citation: AgriSense Live Web Platform &amp; Open Source GitHub Repository — https://agrisense-269.pages.dev | https://github.com/pranavsaxenaofficial11-coder/agrisense-fullstack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3E635"/>
                </a:solidFill>
                <a:latin typeface="Trebuchet MS"/>
              </a:defRPr>
            </a:pPr>
            <a:r>
              <a:t>SLIDE 07  |  TARGET USERS &amp; REAL-WORLD USE CASES</a:t>
            </a:r>
          </a:p>
          <a:p>
            <a:pPr>
              <a:spcBef>
                <a:spcPts val="300"/>
              </a:spcBef>
              <a:defRPr sz="1900" b="1">
                <a:solidFill>
                  <a:srgbClr val="FFFFFF"/>
                </a:solidFill>
                <a:latin typeface="Arial"/>
              </a:defRPr>
            </a:pPr>
            <a:r>
              <a:t>Empowering 126M Farmers, FPOs, Agri-Businesses &amp; Rural Stakeholders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394960" cy="2377440"/>
          </a:xfrm>
          <a:prstGeom prst="roundRect">
            <a:avLst/>
          </a:prstGeom>
          <a:solidFill>
            <a:srgbClr val="122A1F"/>
          </a:solidFill>
          <a:ln w="19050">
            <a:solidFill>
              <a:srgbClr val="2E7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298448"/>
            <a:ext cx="5065776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A3E635"/>
                </a:solidFill>
                <a:latin typeface="Trebuchet MS"/>
              </a:defRPr>
            </a:pPr>
            <a:r>
              <a:t>👨‍🌾 Smallholder Farmers (1-5 Acres)</a:t>
            </a:r>
          </a:p>
          <a:p>
            <a:pPr>
              <a:spcBef>
                <a:spcPts val="200"/>
              </a:spcBef>
              <a:defRPr sz="1000" b="1">
                <a:solidFill>
                  <a:srgbClr val="F59E0B"/>
                </a:solidFill>
                <a:latin typeface="Arial"/>
              </a:defRPr>
            </a:pPr>
            <a:r>
              <a:t>Market Scale: 126.0 Million Holdings (86.2% of India)</a:t>
            </a:r>
          </a:p>
          <a:p>
            <a:pPr>
              <a:spcBef>
                <a:spcPts val="400"/>
              </a:spcBef>
              <a:defRPr sz="900">
                <a:solidFill>
                  <a:srgbClr val="F1F5F9"/>
                </a:solidFill>
                <a:latin typeface="Arial"/>
              </a:defRPr>
            </a:pPr>
            <a:r>
              <a:t>• Real-World Use Case: Automated root-zone drip irrigation based on dynamic soil matric potential; audio voice alerts in Punjabi/Hindi for night pump shut-offs.</a:t>
            </a:r>
          </a:p>
          <a:p>
            <a:pPr>
              <a:spcBef>
                <a:spcPts val="400"/>
              </a:spcBef>
              <a:defRPr sz="900">
                <a:solidFill>
                  <a:srgbClr val="F1F5F9"/>
                </a:solidFill>
                <a:latin typeface="Arial"/>
              </a:defRPr>
            </a:pPr>
            <a:r>
              <a:t>• Concrete Benefits: Eliminates hazardous nocturnal field trips, slashes electricity bills by 35%, prevents crop wilting, and saves ₹15,000–₹25,000/acre annually.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88720"/>
            <a:ext cx="5394960" cy="2377440"/>
          </a:xfrm>
          <a:prstGeom prst="roundRect">
            <a:avLst/>
          </a:prstGeom>
          <a:solidFill>
            <a:srgbClr val="122A1F"/>
          </a:solidFill>
          <a:ln w="19050">
            <a:solidFill>
              <a:srgbClr val="2E7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82512" y="1298448"/>
            <a:ext cx="5065776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A3E635"/>
                </a:solidFill>
                <a:latin typeface="Trebuchet MS"/>
              </a:defRPr>
            </a:pPr>
            <a:r>
              <a:t>🏢 Farmer Producer Organizations (FPOs)</a:t>
            </a:r>
          </a:p>
          <a:p>
            <a:pPr>
              <a:spcBef>
                <a:spcPts val="200"/>
              </a:spcBef>
              <a:defRPr sz="1000" b="1">
                <a:solidFill>
                  <a:srgbClr val="F59E0B"/>
                </a:solidFill>
                <a:latin typeface="Arial"/>
              </a:defRPr>
            </a:pPr>
            <a:r>
              <a:t>Market Scale: 10,000+ Registered Groups under SFAC/NABARD</a:t>
            </a:r>
          </a:p>
          <a:p>
            <a:pPr>
              <a:spcBef>
                <a:spcPts val="400"/>
              </a:spcBef>
              <a:defRPr sz="900">
                <a:solidFill>
                  <a:srgbClr val="F1F5F9"/>
                </a:solidFill>
                <a:latin typeface="Arial"/>
              </a:defRPr>
            </a:pPr>
            <a:r>
              <a:t>• Real-World Use Case: Centralized administrative dashboard monitoring aggregated soil health, crop moisture trends, and harvest timing across 50–200 cooperative member farms.</a:t>
            </a:r>
          </a:p>
          <a:p>
            <a:pPr>
              <a:spcBef>
                <a:spcPts val="400"/>
              </a:spcBef>
              <a:defRPr sz="900">
                <a:solidFill>
                  <a:srgbClr val="F1F5F9"/>
                </a:solidFill>
                <a:latin typeface="Arial"/>
              </a:defRPr>
            </a:pPr>
            <a:r>
              <a:t>• Concrete Benefits: Bulk purchasing of inputs (bio-fertilizers, seeds), shared LoRaWAN gateway reducing node cost to ₹1,200, and collective crop bargaining at mandis.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749039"/>
            <a:ext cx="5394960" cy="2377440"/>
          </a:xfrm>
          <a:prstGeom prst="roundRect">
            <a:avLst/>
          </a:prstGeom>
          <a:solidFill>
            <a:srgbClr val="122A1F"/>
          </a:solidFill>
          <a:ln w="19050">
            <a:solidFill>
              <a:srgbClr val="2E7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3858767"/>
            <a:ext cx="5065776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A3E635"/>
                </a:solidFill>
                <a:latin typeface="Trebuchet MS"/>
              </a:defRPr>
            </a:pPr>
            <a:r>
              <a:t>🏡 Polyhouse &amp; Protected Horticulture</a:t>
            </a:r>
          </a:p>
          <a:p>
            <a:pPr>
              <a:spcBef>
                <a:spcPts val="200"/>
              </a:spcBef>
              <a:defRPr sz="1000" b="1">
                <a:solidFill>
                  <a:srgbClr val="F59E0B"/>
                </a:solidFill>
                <a:latin typeface="Arial"/>
              </a:defRPr>
            </a:pPr>
            <a:r>
              <a:t>Market Scale: Rapidly Growing Commercial Segment</a:t>
            </a:r>
          </a:p>
          <a:p>
            <a:pPr>
              <a:spcBef>
                <a:spcPts val="400"/>
              </a:spcBef>
              <a:defRPr sz="900">
                <a:solidFill>
                  <a:srgbClr val="F1F5F9"/>
                </a:solidFill>
                <a:latin typeface="Arial"/>
              </a:defRPr>
            </a:pPr>
            <a:r>
              <a:t>• Real-World Use Case: Precision micro-climate monitoring (vapor pressure deficit, canopy temp, humidity, light photoperiod) for high-value capsicum, tomato, and floriculture.</a:t>
            </a:r>
          </a:p>
          <a:p>
            <a:pPr>
              <a:spcBef>
                <a:spcPts val="400"/>
              </a:spcBef>
              <a:defRPr sz="900">
                <a:solidFill>
                  <a:srgbClr val="F1F5F9"/>
                </a:solidFill>
                <a:latin typeface="Arial"/>
              </a:defRPr>
            </a:pPr>
            <a:r>
              <a:t>• Concrete Benefits: Automated misting and ventilation control; increases high-grade export yield by 40%–57% with zero manual valve monitoring.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749039"/>
            <a:ext cx="5394960" cy="2377440"/>
          </a:xfrm>
          <a:prstGeom prst="roundRect">
            <a:avLst/>
          </a:prstGeom>
          <a:solidFill>
            <a:srgbClr val="122A1F"/>
          </a:solidFill>
          <a:ln w="19050">
            <a:solidFill>
              <a:srgbClr val="2E7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3858767"/>
            <a:ext cx="5065776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A3E635"/>
                </a:solidFill>
                <a:latin typeface="Trebuchet MS"/>
              </a:defRPr>
            </a:pPr>
            <a:r>
              <a:t>🔬 Agronomists &amp; Extension Officers (KVKs)</a:t>
            </a:r>
          </a:p>
          <a:p>
            <a:pPr>
              <a:spcBef>
                <a:spcPts val="200"/>
              </a:spcBef>
              <a:defRPr sz="1000" b="1">
                <a:solidFill>
                  <a:srgbClr val="F59E0B"/>
                </a:solidFill>
                <a:latin typeface="Arial"/>
              </a:defRPr>
            </a:pPr>
            <a:r>
              <a:t>Market Scale: 731 Krishi Vigyan Kendras Across India</a:t>
            </a:r>
          </a:p>
          <a:p>
            <a:pPr>
              <a:spcBef>
                <a:spcPts val="400"/>
              </a:spcBef>
              <a:defRPr sz="900">
                <a:solidFill>
                  <a:srgbClr val="F1F5F9"/>
                </a:solidFill>
                <a:latin typeface="Arial"/>
              </a:defRPr>
            </a:pPr>
            <a:r>
              <a:t>• Real-World Use Case: Remote crop disease outbreak surveillance; tracking regional pest emergence and pushing targeted organic spray recommendations to village clusters.</a:t>
            </a:r>
          </a:p>
          <a:p>
            <a:pPr>
              <a:spcBef>
                <a:spcPts val="400"/>
              </a:spcBef>
              <a:defRPr sz="900">
                <a:solidFill>
                  <a:srgbClr val="F1F5F9"/>
                </a:solidFill>
                <a:latin typeface="Arial"/>
              </a:defRPr>
            </a:pPr>
            <a:r>
              <a:t>• Concrete Benefits: Replaces slow physical surveys with real-time digital agricultural telemetry, scaling extension officer reach by 10×.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38BDF8"/>
                </a:solidFill>
                <a:latin typeface="Arial"/>
              </a:defRPr>
            </a:pPr>
            <a:r>
              <a:t>🔗 Source / Citation: Ministry of Agriculture &amp; Farmers Welfare Scheme for 10,000 FPOs | ICAR Krishi Vigyan Kendra Portal — https://sfacindia.com | https://kvk.icar.gov.in | PIB PRID 1604543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3E635"/>
                </a:solidFill>
                <a:latin typeface="Trebuchet MS"/>
              </a:defRPr>
            </a:pPr>
            <a:r>
              <a:t>SLIDE 08  |  QUANTIFIABLE IMPACT &amp; UN SDG ALIGNMENT</a:t>
            </a:r>
          </a:p>
          <a:p>
            <a:pPr>
              <a:spcBef>
                <a:spcPts val="300"/>
              </a:spcBef>
              <a:defRPr sz="1900" b="1">
                <a:solidFill>
                  <a:srgbClr val="FFFFFF"/>
                </a:solidFill>
                <a:latin typeface="Arial"/>
              </a:defRPr>
            </a:pPr>
            <a:r>
              <a:t>Validated Economic Returns, Resource Conservation &amp; 2030 Global Goals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2697480" cy="2468880"/>
          </a:xfrm>
          <a:prstGeom prst="roundRect">
            <a:avLst/>
          </a:prstGeom>
          <a:solidFill>
            <a:srgbClr val="122A1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242316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A3E635"/>
                </a:solidFill>
                <a:latin typeface="Trebuchet MS"/>
              </a:defRPr>
            </a:pPr>
            <a:r>
              <a:t>30%–50%</a:t>
            </a:r>
          </a:p>
          <a:p>
            <a:pPr>
              <a:spcBef>
                <a:spcPts val="300"/>
              </a:spcBef>
              <a:defRPr sz="1050" b="1">
                <a:solidFill>
                  <a:srgbClr val="FFFFFF"/>
                </a:solidFill>
                <a:latin typeface="Arial"/>
              </a:defRPr>
            </a:pPr>
            <a:r>
              <a:t>WATER CONSERVED</a:t>
            </a:r>
          </a:p>
          <a:p>
            <a:pPr>
              <a:spcBef>
                <a:spcPts val="400"/>
              </a:spcBef>
              <a:defRPr sz="850">
                <a:solidFill>
                  <a:srgbClr val="94A3B8"/>
                </a:solidFill>
                <a:latin typeface="Arial"/>
              </a:defRPr>
            </a:pPr>
            <a:r>
              <a:t>Verified by Ministry of Agriculture PDMC evaluations: saves 20%–48% water (~1.2 million liters/acre/year) compared to traditional surface flooding.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188720"/>
            <a:ext cx="2697480" cy="2468880"/>
          </a:xfrm>
          <a:prstGeom prst="roundRect">
            <a:avLst/>
          </a:prstGeom>
          <a:solidFill>
            <a:srgbClr val="122A1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0" y="1280160"/>
            <a:ext cx="242316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A3E635"/>
                </a:solidFill>
                <a:latin typeface="Trebuchet MS"/>
              </a:defRPr>
            </a:pPr>
            <a:r>
              <a:t>+20%–38%</a:t>
            </a:r>
          </a:p>
          <a:p>
            <a:pPr>
              <a:spcBef>
                <a:spcPts val="300"/>
              </a:spcBef>
              <a:defRPr sz="1050" b="1">
                <a:solidFill>
                  <a:srgbClr val="FFFFFF"/>
                </a:solidFill>
                <a:latin typeface="Arial"/>
              </a:defRPr>
            </a:pPr>
            <a:r>
              <a:t>CROP YIELD GAIN</a:t>
            </a:r>
          </a:p>
          <a:p>
            <a:pPr>
              <a:spcBef>
                <a:spcPts val="400"/>
              </a:spcBef>
              <a:defRPr sz="850">
                <a:solidFill>
                  <a:srgbClr val="94A3B8"/>
                </a:solidFill>
                <a:latin typeface="Arial"/>
              </a:defRPr>
            </a:pPr>
            <a:r>
              <a:t>Maintaining optimal soil moisture and continuous root zone oxygenation boosts crop harvest weight, reaching up to 57% in horticulture crops.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79" y="1188720"/>
            <a:ext cx="2697480" cy="2468880"/>
          </a:xfrm>
          <a:prstGeom prst="roundRect">
            <a:avLst/>
          </a:prstGeom>
          <a:solidFill>
            <a:srgbClr val="122A1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39" y="1280160"/>
            <a:ext cx="242316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A3E635"/>
                </a:solidFill>
                <a:latin typeface="Trebuchet MS"/>
              </a:defRPr>
            </a:pPr>
            <a:r>
              <a:t>60%</a:t>
            </a:r>
          </a:p>
          <a:p>
            <a:pPr>
              <a:spcBef>
                <a:spcPts val="300"/>
              </a:spcBef>
              <a:defRPr sz="1050" b="1">
                <a:solidFill>
                  <a:srgbClr val="FFFFFF"/>
                </a:solidFill>
                <a:latin typeface="Arial"/>
              </a:defRPr>
            </a:pPr>
            <a:r>
              <a:t>LABOR TIME SAVED</a:t>
            </a:r>
          </a:p>
          <a:p>
            <a:pPr>
              <a:spcBef>
                <a:spcPts val="400"/>
              </a:spcBef>
              <a:defRPr sz="850">
                <a:solidFill>
                  <a:srgbClr val="94A3B8"/>
                </a:solidFill>
                <a:latin typeface="Arial"/>
              </a:defRPr>
            </a:pPr>
            <a:r>
              <a:t>Eliminates 2 to 3 hours of daily manual field inspection and valve switching, freeing farm families for education and secondary livelihood.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15399" y="1188720"/>
            <a:ext cx="2697480" cy="2468880"/>
          </a:xfrm>
          <a:prstGeom prst="roundRect">
            <a:avLst/>
          </a:prstGeom>
          <a:solidFill>
            <a:srgbClr val="122A1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59" y="1280160"/>
            <a:ext cx="242316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A3E635"/>
                </a:solidFill>
                <a:latin typeface="Trebuchet MS"/>
              </a:defRPr>
            </a:pPr>
            <a:r>
              <a:t>₹18,500+</a:t>
            </a:r>
          </a:p>
          <a:p>
            <a:pPr>
              <a:spcBef>
                <a:spcPts val="300"/>
              </a:spcBef>
              <a:defRPr sz="1050" b="1">
                <a:solidFill>
                  <a:srgbClr val="FFFFFF"/>
                </a:solidFill>
                <a:latin typeface="Arial"/>
              </a:defRPr>
            </a:pPr>
            <a:r>
              <a:t>NET SAVINGS / ACRE</a:t>
            </a:r>
          </a:p>
          <a:p>
            <a:pPr>
              <a:spcBef>
                <a:spcPts val="400"/>
              </a:spcBef>
              <a:defRPr sz="850">
                <a:solidFill>
                  <a:srgbClr val="94A3B8"/>
                </a:solidFill>
                <a:latin typeface="Arial"/>
              </a:defRPr>
            </a:pPr>
            <a:r>
              <a:t>Direct savings from reduced pumping electricity/diesel (10%–17%), saved fertilizer (11%–19%), and eliminated crop blight damage.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40480"/>
            <a:ext cx="11094415" cy="2468880"/>
          </a:xfrm>
          <a:prstGeom prst="roundRect">
            <a:avLst/>
          </a:prstGeom>
          <a:solidFill>
            <a:srgbClr val="122A1F"/>
          </a:solidFill>
          <a:ln w="19050">
            <a:solidFill>
              <a:srgbClr val="2E7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3950208"/>
            <a:ext cx="1076523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A3E635"/>
                </a:solidFill>
                <a:latin typeface="Trebuchet MS"/>
              </a:defRPr>
            </a:pPr>
            <a:r>
              <a:t>🌐 UNITED NATIONS SUSTAINABLE DEVELOPMENT GOALS (SDGs) ALIGNMENT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106984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defRPr sz="900">
                <a:solidFill>
                  <a:srgbClr val="F1F5F9"/>
                </a:solidFill>
                <a:latin typeface="Arial"/>
              </a:defRPr>
            </a:pPr>
            <a:r>
              <a:t>• SDG 2: Zero Hunger — Targets 2.3 &amp; 2.4: Directly addresses Target 2.3 ('Double the agricultural productivity and incomes of small-scale food producers') by raising yields by 20%–38%, and Target 2.4 ('Ensure sustainable food production systems and resilient practices') by preventing soil salinization and water depletion. (https://sdgs.un.org/goals/goal2)</a:t>
            </a:r>
          </a:p>
          <a:p>
            <a:pPr>
              <a:spcBef>
                <a:spcPts val="400"/>
              </a:spcBef>
              <a:defRPr sz="900">
                <a:solidFill>
                  <a:srgbClr val="F1F5F9"/>
                </a:solidFill>
                <a:latin typeface="Arial"/>
              </a:defRPr>
            </a:pPr>
            <a:r>
              <a:t>• SDG 6: Clean Water and Sanitation — Target 6.4: Fulfills Target 6.4 ('Substantially increase water-use efficiency across all sectors and ensure sustainable withdrawals') by curbing agricultural groundwater overdraft by 30%–50%, protecting community drinking aquifers. (https://sdgs.un.org/goals/goal6)</a:t>
            </a:r>
          </a:p>
          <a:p>
            <a:pPr>
              <a:spcBef>
                <a:spcPts val="400"/>
              </a:spcBef>
              <a:defRPr sz="900">
                <a:solidFill>
                  <a:srgbClr val="F1F5F9"/>
                </a:solidFill>
                <a:latin typeface="Arial"/>
              </a:defRPr>
            </a:pPr>
            <a:r>
              <a:t>• SDG 12: Responsible Consumption &amp; Production — Target 12.2: Delivers Target 12.2 ('Achieve the sustainable management and efficient use of natural resources') by slashing synthetic agrochemical fertilizer leaching by up to 19% and reducing electricity grid pumping strain. (https://sdgs.un.org/goals/goal12)</a:t>
            </a:r>
          </a:p>
          <a:p>
            <a:pPr>
              <a:spcBef>
                <a:spcPts val="400"/>
              </a:spcBef>
              <a:defRPr sz="900">
                <a:solidFill>
                  <a:srgbClr val="F1F5F9"/>
                </a:solidFill>
                <a:latin typeface="Arial"/>
              </a:defRPr>
            </a:pPr>
            <a:r>
              <a:t>• SDG 13: Climate Action — Target 13.1: Executes Target 13.1 ('Strengthen resilience and adaptive capacity to climate-related hazards') by equipping smallholder farmers with micro-climate early warnings against irregular monsoons and unseasonal heatwaves. (https://sdgs.un.org/goals/goal13)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38BDF8"/>
                </a:solidFill>
                <a:latin typeface="Arial"/>
              </a:defRPr>
            </a:pPr>
            <a:r>
              <a:t>🔗 Source / Citation: PIB PMKSY-PDMC Impact Evaluation (PRID 1845892) | United Nations Department of Economic &amp; Social Affairs (UN DESA) — https://pib.gov.in | https://sdgs.un.org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3E635"/>
                </a:solidFill>
                <a:latin typeface="Trebuchet MS"/>
              </a:defRPr>
            </a:pPr>
            <a:r>
              <a:t>SLIDE 09  |  BUSINESS MODEL &amp; IMPLEMENTATION ROADMAP</a:t>
            </a:r>
          </a:p>
          <a:p>
            <a:pPr>
              <a:spcBef>
                <a:spcPts val="300"/>
              </a:spcBef>
              <a:defRPr sz="1900" b="1">
                <a:solidFill>
                  <a:srgbClr val="FFFFFF"/>
                </a:solidFill>
                <a:latin typeface="Arial"/>
              </a:defRPr>
            </a:pPr>
            <a:r>
              <a:t>Multi-Tiered Monetization on a Near-Zero Operational Cost Base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2697480" cy="2560320"/>
          </a:xfrm>
          <a:prstGeom prst="roundRect">
            <a:avLst/>
          </a:prstGeom>
          <a:solidFill>
            <a:srgbClr val="122A1F"/>
          </a:solidFill>
          <a:ln w="19050">
            <a:solidFill>
              <a:srgbClr val="2E7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298448"/>
            <a:ext cx="236829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A3E635"/>
                </a:solidFill>
                <a:latin typeface="Trebuchet MS"/>
              </a:defRPr>
            </a:pPr>
            <a:r>
              <a:t>📱 Freemium App (₹300/yr)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242316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defRPr sz="900">
                <a:solidFill>
                  <a:srgbClr val="F1F5F9"/>
                </a:solidFill>
                <a:latin typeface="Arial"/>
              </a:defRPr>
            </a:pPr>
            <a:r>
              <a:t>• Core telemetry dashboard &amp; basic irrigation alerts 100% free forever.</a:t>
            </a:r>
          </a:p>
          <a:p>
            <a:pPr>
              <a:spcBef>
                <a:spcPts val="400"/>
              </a:spcBef>
              <a:defRPr sz="900">
                <a:solidFill>
                  <a:srgbClr val="F1F5F9"/>
                </a:solidFill>
                <a:latin typeface="Arial"/>
              </a:defRPr>
            </a:pPr>
            <a:r>
              <a:t>• Premium ₹300/year tier unlocks unlimited AI leaf scans, satellite NDVI soil maps, and PDF agronomy reports.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188720"/>
            <a:ext cx="2697480" cy="2560320"/>
          </a:xfrm>
          <a:prstGeom prst="roundRect">
            <a:avLst/>
          </a:prstGeom>
          <a:solidFill>
            <a:srgbClr val="122A1F"/>
          </a:solidFill>
          <a:ln w="19050">
            <a:solidFill>
              <a:srgbClr val="2E7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02152" y="1298448"/>
            <a:ext cx="236829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A3E635"/>
                </a:solidFill>
                <a:latin typeface="Trebuchet MS"/>
              </a:defRPr>
            </a:pPr>
            <a:r>
              <a:t>🔌 Hardware Kit (₹800)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554480"/>
            <a:ext cx="242316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defRPr sz="900">
                <a:solidFill>
                  <a:srgbClr val="F1F5F9"/>
                </a:solidFill>
                <a:latin typeface="Arial"/>
              </a:defRPr>
            </a:pPr>
            <a:r>
              <a:t>• Pre-assembled plug-and-play node: ESP32 + 8-sensor suite + latching relay.</a:t>
            </a:r>
          </a:p>
          <a:p>
            <a:pPr>
              <a:spcBef>
                <a:spcPts val="400"/>
              </a:spcBef>
              <a:defRPr sz="900">
                <a:solidFill>
                  <a:srgbClr val="F1F5F9"/>
                </a:solidFill>
                <a:latin typeface="Arial"/>
              </a:defRPr>
            </a:pPr>
            <a:r>
              <a:t>• Manufacturing COGS: ₹620 $_x000D_ightarrow$ Selling Price: ₹800 (29% gross margin per unit sold).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1188720"/>
            <a:ext cx="2697480" cy="2560320"/>
          </a:xfrm>
          <a:prstGeom prst="roundRect">
            <a:avLst/>
          </a:prstGeom>
          <a:solidFill>
            <a:srgbClr val="122A1F"/>
          </a:solidFill>
          <a:ln w="19050">
            <a:solidFill>
              <a:srgbClr val="2E7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1071" y="1298448"/>
            <a:ext cx="236829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A3E635"/>
                </a:solidFill>
                <a:latin typeface="Trebuchet MS"/>
              </a:defRPr>
            </a:pPr>
            <a:r>
              <a:t>🏢 FPO Enterprise (₹500/farm/yr)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39" y="1554480"/>
            <a:ext cx="242316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defRPr sz="900">
                <a:solidFill>
                  <a:srgbClr val="F1F5F9"/>
                </a:solidFill>
                <a:latin typeface="Arial"/>
              </a:defRPr>
            </a:pPr>
            <a:r>
              <a:t>• Centralized administrative portal for agricultural co-operatives and sugar/cotton mills.</a:t>
            </a:r>
          </a:p>
          <a:p>
            <a:pPr>
              <a:spcBef>
                <a:spcPts val="400"/>
              </a:spcBef>
              <a:defRPr sz="900">
                <a:solidFill>
                  <a:srgbClr val="F1F5F9"/>
                </a:solidFill>
                <a:latin typeface="Arial"/>
              </a:defRPr>
            </a:pPr>
            <a:r>
              <a:t>• Multi-field batch analytics, yield forecasts, and bulk input ordering.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5399" y="1188720"/>
            <a:ext cx="2697480" cy="2560320"/>
          </a:xfrm>
          <a:prstGeom prst="roundRect">
            <a:avLst/>
          </a:prstGeom>
          <a:solidFill>
            <a:srgbClr val="122A1F"/>
          </a:solidFill>
          <a:ln w="19050">
            <a:solidFill>
              <a:srgbClr val="2E7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9991" y="1298448"/>
            <a:ext cx="236829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A3E635"/>
                </a:solidFill>
                <a:latin typeface="Trebuchet MS"/>
              </a:defRPr>
            </a:pPr>
            <a:r>
              <a:t>🛒 Marketplace Cut (₹200/farm)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59" y="1554480"/>
            <a:ext cx="242316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defRPr sz="900">
                <a:solidFill>
                  <a:srgbClr val="F1F5F9"/>
                </a:solidFill>
                <a:latin typeface="Arial"/>
              </a:defRPr>
            </a:pPr>
            <a:r>
              <a:t>• 1.5% transaction commission connecting buyers &amp; food processing factories directly to farmers.</a:t>
            </a:r>
          </a:p>
          <a:p>
            <a:pPr>
              <a:spcBef>
                <a:spcPts val="400"/>
              </a:spcBef>
              <a:defRPr sz="900">
                <a:solidFill>
                  <a:srgbClr val="F1F5F9"/>
                </a:solidFill>
                <a:latin typeface="Arial"/>
              </a:defRPr>
            </a:pPr>
            <a:r>
              <a:t>• Eliminates exploitative middlemen, increasing farmer crop realization by 15%–20%.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31920"/>
            <a:ext cx="11094415" cy="2377440"/>
          </a:xfrm>
          <a:prstGeom prst="roundRect">
            <a:avLst/>
          </a:prstGeom>
          <a:solidFill>
            <a:srgbClr val="122A1F"/>
          </a:solidFill>
          <a:ln w="19050">
            <a:solidFill>
              <a:srgbClr val="2E7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041648"/>
            <a:ext cx="1076523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A3E635"/>
                </a:solidFill>
                <a:latin typeface="Trebuchet MS"/>
              </a:defRPr>
            </a:pPr>
            <a:r>
              <a:t>🗺️ STRATEGIC IMPLEMENTATION ROADMAP &amp; PARTNERSHIPS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97680"/>
            <a:ext cx="1069848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500"/>
              </a:spcBef>
              <a:defRPr sz="1000">
                <a:solidFill>
                  <a:srgbClr val="F1F5F9"/>
                </a:solidFill>
                <a:latin typeface="Arial"/>
              </a:defRPr>
            </a:pPr>
            <a:r>
              <a:t>• Phase 1 (Months 1–3) — Co-Op Pilot: Deploy 50 nodes across Ludhiana &amp; Samrala farmer clusters to validate durability and season-1 yield gains.</a:t>
            </a:r>
          </a:p>
          <a:p>
            <a:pPr>
              <a:spcBef>
                <a:spcPts val="500"/>
              </a:spcBef>
              <a:defRPr sz="1000">
                <a:solidFill>
                  <a:srgbClr val="F1F5F9"/>
                </a:solidFill>
                <a:latin typeface="Arial"/>
              </a:defRPr>
            </a:pPr>
            <a:r>
              <a:t>• Phase 2 (Months 4–8) — KVK &amp; FPO Rollout: Formalize distribution partnerships with 5 regional Krishi Vigyan Kendras (KVKs) and local FPOs under SFAC schemes.</a:t>
            </a:r>
          </a:p>
          <a:p>
            <a:pPr>
              <a:spcBef>
                <a:spcPts val="500"/>
              </a:spcBef>
              <a:defRPr sz="1000">
                <a:solidFill>
                  <a:srgbClr val="F1F5F9"/>
                </a:solidFill>
                <a:latin typeface="Arial"/>
              </a:defRPr>
            </a:pPr>
            <a:r>
              <a:t>• Phase 3 (Months 9–14) — Volume PCB Assembly: Scale hardware production via automated surface-mount assembly (SMT); integrate optical NPK soil nutrient probes.</a:t>
            </a:r>
          </a:p>
          <a:p>
            <a:pPr>
              <a:spcBef>
                <a:spcPts val="500"/>
              </a:spcBef>
              <a:defRPr sz="1000">
                <a:solidFill>
                  <a:srgbClr val="F1F5F9"/>
                </a:solidFill>
                <a:latin typeface="Arial"/>
              </a:defRPr>
            </a:pPr>
            <a:r>
              <a:t>• Phase 4 (Months 15+) — Pan-India Microfinance: Partner with rural cooperative banks and NABARD microfinance programs offering 0% EMI hardware purchases.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38BDF8"/>
                </a:solidFill>
                <a:latin typeface="Arial"/>
              </a:defRPr>
            </a:pPr>
            <a:r>
              <a:t>🔗 Source / Citation: NABARD Micro-Irrigation Fund &amp; Self Help Group Financing Guidelines — https://www.nabard.org | https://sfacindia.com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3E635"/>
                </a:solidFill>
                <a:latin typeface="Trebuchet MS"/>
              </a:defRPr>
            </a:pPr>
            <a:r>
              <a:t>SLIDE 10  |  FEASIBILITY, RELIABILITY ENGINEERING &amp; SCALABILITY</a:t>
            </a:r>
          </a:p>
          <a:p>
            <a:pPr>
              <a:spcBef>
                <a:spcPts val="300"/>
              </a:spcBef>
              <a:defRPr sz="1900" b="1">
                <a:solidFill>
                  <a:srgbClr val="FFFFFF"/>
                </a:solidFill>
                <a:latin typeface="Arial"/>
              </a:defRPr>
            </a:pPr>
            <a:r>
              <a:t>Engineered for Harsh Field Environments, Edge Autonomy &amp; Mass Rollout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3566160" cy="5120640"/>
          </a:xfrm>
          <a:prstGeom prst="roundRect">
            <a:avLst/>
          </a:prstGeom>
          <a:solidFill>
            <a:srgbClr val="122A1F"/>
          </a:solidFill>
          <a:ln w="19050">
            <a:solidFill>
              <a:srgbClr val="2E7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600200"/>
            <a:ext cx="3236976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defRPr sz="950">
                <a:solidFill>
                  <a:srgbClr val="F1F5F9"/>
                </a:solidFill>
                <a:latin typeface="Arial"/>
              </a:defRPr>
            </a:pPr>
            <a:r>
              <a:t>• Autonomous Edge Fallback: Embedded C++ firmware runs localized threshold actuation even when cellular signal drops completely.</a:t>
            </a:r>
          </a:p>
          <a:p>
            <a:pPr>
              <a:spcBef>
                <a:spcPts val="800"/>
              </a:spcBef>
              <a:defRPr sz="950">
                <a:solidFill>
                  <a:srgbClr val="F1F5F9"/>
                </a:solidFill>
                <a:latin typeface="Arial"/>
              </a:defRPr>
            </a:pPr>
            <a:r>
              <a:t>• Galvanic Corrosion Immunity: Capacitive 1.5MHz AC sensing prevents probe electrolysis, guaranteeing 3+ years field lifespan.</a:t>
            </a:r>
          </a:p>
          <a:p>
            <a:pPr>
              <a:spcBef>
                <a:spcPts val="800"/>
              </a:spcBef>
              <a:defRPr sz="950">
                <a:solidFill>
                  <a:srgbClr val="F1F5F9"/>
                </a:solidFill>
                <a:latin typeface="Arial"/>
              </a:defRPr>
            </a:pPr>
            <a:r>
              <a:t>• Optical Back-EMF Isolation: PC817 optocoupler isolates high-current inductive pump motor noise from logic circuits.</a:t>
            </a:r>
          </a:p>
          <a:p>
            <a:pPr>
              <a:spcBef>
                <a:spcPts val="800"/>
              </a:spcBef>
              <a:defRPr sz="950">
                <a:solidFill>
                  <a:srgbClr val="F1F5F9"/>
                </a:solidFill>
                <a:latin typeface="Arial"/>
              </a:defRPr>
            </a:pPr>
            <a:r>
              <a:t>• Zero-Config Provisioning: QR-code setup pairs sensor node with farmer's mobile dashboard in under 3 minutes.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59" y="1188720"/>
            <a:ext cx="3566160" cy="5120640"/>
          </a:xfrm>
          <a:prstGeom prst="roundRect">
            <a:avLst/>
          </a:prstGeom>
          <a:solidFill>
            <a:srgbClr val="122A1F"/>
          </a:solidFill>
          <a:ln w="19050">
            <a:solidFill>
              <a:srgbClr val="2E7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16551" y="1600200"/>
            <a:ext cx="3236976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defRPr sz="950">
                <a:solidFill>
                  <a:srgbClr val="F1F5F9"/>
                </a:solidFill>
                <a:latin typeface="Arial"/>
              </a:defRPr>
            </a:pPr>
            <a:r>
              <a:t>• Risk: Rural Intermittent Internet $_x000D_ightarrow$ Mitigation: 100% offline edge logic + buzzer/LED alert + SMS gateway fallback.</a:t>
            </a:r>
          </a:p>
          <a:p>
            <a:pPr>
              <a:spcBef>
                <a:spcPts val="800"/>
              </a:spcBef>
              <a:defRPr sz="950">
                <a:solidFill>
                  <a:srgbClr val="F1F5F9"/>
                </a:solidFill>
                <a:latin typeface="Arial"/>
              </a:defRPr>
            </a:pPr>
            <a:r>
              <a:t>• Risk: Sensor Soil Compaction Drift $_x000D_ightarrow$ Mitigation: Dynamic software auto-zero recalibration against weather baselines.</a:t>
            </a:r>
          </a:p>
          <a:p>
            <a:pPr>
              <a:spcBef>
                <a:spcPts val="800"/>
              </a:spcBef>
              <a:defRPr sz="950">
                <a:solidFill>
                  <a:srgbClr val="F1F5F9"/>
                </a:solidFill>
                <a:latin typeface="Arial"/>
              </a:defRPr>
            </a:pPr>
            <a:r>
              <a:t>• Risk: AI Hallucinations $_x000D_ightarrow$ Mitigation: Multi-model verification filter rejects low-confidence agronomy cures.</a:t>
            </a:r>
          </a:p>
          <a:p>
            <a:pPr>
              <a:spcBef>
                <a:spcPts val="800"/>
              </a:spcBef>
              <a:defRPr sz="950">
                <a:solidFill>
                  <a:srgbClr val="F1F5F9"/>
                </a:solidFill>
                <a:latin typeface="Arial"/>
              </a:defRPr>
            </a:pPr>
            <a:r>
              <a:t>• Risk: Low Farmer Literacy $_x000D_ightarrow$ Mitigation: Full voice TTS audio readouts &amp; picture-only diagnostic buttons.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188720"/>
            <a:ext cx="3566160" cy="5120640"/>
          </a:xfrm>
          <a:prstGeom prst="roundRect">
            <a:avLst/>
          </a:prstGeom>
          <a:solidFill>
            <a:srgbClr val="122A1F"/>
          </a:solidFill>
          <a:ln w="19050">
            <a:solidFill>
              <a:srgbClr val="2E7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19871" y="1600200"/>
            <a:ext cx="3236976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defRPr sz="950">
                <a:solidFill>
                  <a:srgbClr val="F1F5F9"/>
                </a:solidFill>
                <a:latin typeface="Arial"/>
              </a:defRPr>
            </a:pPr>
            <a:r>
              <a:t>• Tier 1 (Individual): 1 Farm Prototype — Successfully built, bench-tested, and live deployed at agrisense-269.pages.dev.</a:t>
            </a:r>
          </a:p>
          <a:p>
            <a:pPr>
              <a:spcBef>
                <a:spcPts val="800"/>
              </a:spcBef>
              <a:defRPr sz="950">
                <a:solidFill>
                  <a:srgbClr val="F1F5F9"/>
                </a:solidFill>
                <a:latin typeface="Arial"/>
              </a:defRPr>
            </a:pPr>
            <a:r>
              <a:t>• Tier 2 (Community): 50–500 Farms — Deployment through local FPO co-operatives sharing a central LoRaWAN gateway.</a:t>
            </a:r>
          </a:p>
          <a:p>
            <a:pPr>
              <a:spcBef>
                <a:spcPts val="800"/>
              </a:spcBef>
              <a:defRPr sz="950">
                <a:solidFill>
                  <a:srgbClr val="F1F5F9"/>
                </a:solidFill>
                <a:latin typeface="Arial"/>
              </a:defRPr>
            </a:pPr>
            <a:r>
              <a:t>• Tier 3 (State / National): 10,000+ Farms — Institutional partnerships with State Agricultural Departments &amp; KVKs.</a:t>
            </a:r>
          </a:p>
          <a:p>
            <a:pPr>
              <a:spcBef>
                <a:spcPts val="800"/>
              </a:spcBef>
              <a:defRPr sz="950">
                <a:solidFill>
                  <a:srgbClr val="F1F5F9"/>
                </a:solidFill>
                <a:latin typeface="Arial"/>
              </a:defRPr>
            </a:pPr>
            <a:r>
              <a:t>• Tier 4 (Global South): Expansion across South Asia &amp; Sub-Saharan Africa facing identical groundwater crises.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38BDF8"/>
                </a:solidFill>
                <a:latin typeface="Arial"/>
              </a:defRPr>
            </a:pPr>
            <a:r>
              <a:t>🔗 Source / Citation: IEEE Open Journal of the Industrial Electronics Society (Edge IoT Reliability Standards) — https://ieeexplore.ieee.org | https://www.espressif.com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3E635"/>
                </a:solidFill>
                <a:latin typeface="Trebuchet MS"/>
              </a:defRPr>
            </a:pPr>
            <a:r>
              <a:t>SLIDE 11  |  COMPETITIVE ADVANTAGE &amp; INTELLECTUAL PROPERTY</a:t>
            </a:r>
          </a:p>
          <a:p>
            <a:pPr>
              <a:spcBef>
                <a:spcPts val="300"/>
              </a:spcBef>
              <a:defRPr sz="1900" b="1">
                <a:solidFill>
                  <a:srgbClr val="FFFFFF"/>
                </a:solidFill>
                <a:latin typeface="Arial"/>
              </a:defRPr>
            </a:pPr>
            <a:r>
              <a:t>Head-to-Head Benchmarking: Traditional vs Commercial AgTech vs AgriSense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109441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834640"/>
                <a:gridCol w="2834640"/>
                <a:gridCol w="3047695"/>
              </a:tblGrid>
              <a:tr h="4572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Feature / Parameter</a:t>
                      </a:r>
                    </a:p>
                  </a:txBody>
                  <a:tcPr>
                    <a:solidFill>
                      <a:srgbClr val="122A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Traditional Farming</a:t>
                      </a:r>
                    </a:p>
                  </a:txBody>
                  <a:tcPr>
                    <a:solidFill>
                      <a:srgbClr val="122A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Commercial AgTech (Fasal/CropIn)</a:t>
                      </a:r>
                    </a:p>
                  </a:txBody>
                  <a:tcPr>
                    <a:solidFill>
                      <a:srgbClr val="122A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A3E635"/>
                          </a:solidFill>
                          <a:latin typeface="Trebuchet MS"/>
                        </a:defRPr>
                      </a:pPr>
                      <a:r>
                        <a:t>AgriSense (Bal Bharati Public School)</a:t>
                      </a:r>
                    </a:p>
                  </a:txBody>
                  <a:tcPr>
                    <a:solidFill>
                      <a:srgbClr val="122A1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Hardware Setup Cost</a:t>
                      </a:r>
                    </a:p>
                  </a:txBody>
                  <a:tcPr>
                    <a:solidFill>
                      <a:srgbClr val="122A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₹0 (Manual labor)</a:t>
                      </a:r>
                    </a:p>
                  </a:txBody>
                  <a:tcPr>
                    <a:solidFill>
                      <a:srgbClr val="122A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₹40,000 – ₹1,50,000 ($480–$1,800)</a:t>
                      </a:r>
                    </a:p>
                  </a:txBody>
                  <a:tcPr>
                    <a:solidFill>
                      <a:srgbClr val="122A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A3E635"/>
                          </a:solidFill>
                          <a:latin typeface="Arial"/>
                        </a:defRPr>
                      </a:pPr>
                      <a:r>
                        <a:t>₹920 – ₹1,800 ($11–$22 USD)</a:t>
                      </a:r>
                    </a:p>
                  </a:txBody>
                  <a:tcPr>
                    <a:solidFill>
                      <a:srgbClr val="122A1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Recurring Subscription</a:t>
                      </a:r>
                    </a:p>
                  </a:txBody>
                  <a:tcPr>
                    <a:solidFill>
                      <a:srgbClr val="122A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₹0 (No technology)</a:t>
                      </a:r>
                    </a:p>
                  </a:txBody>
                  <a:tcPr>
                    <a:solidFill>
                      <a:srgbClr val="122A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₹500 – ₹1,500/month (Mandatory)</a:t>
                      </a:r>
                    </a:p>
                  </a:txBody>
                  <a:tcPr>
                    <a:solidFill>
                      <a:srgbClr val="122A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A3E635"/>
                          </a:solidFill>
                          <a:latin typeface="Arial"/>
                        </a:defRPr>
                      </a:pPr>
                      <a:r>
                        <a:t>₹0/Month (Open-Source Core)</a:t>
                      </a:r>
                    </a:p>
                  </a:txBody>
                  <a:tcPr>
                    <a:solidFill>
                      <a:srgbClr val="122A1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Irrigation Automation</a:t>
                      </a:r>
                    </a:p>
                  </a:txBody>
                  <a:tcPr>
                    <a:solidFill>
                      <a:srgbClr val="122A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Manual Guesswork / Flood (30% WUE)</a:t>
                      </a:r>
                    </a:p>
                  </a:txBody>
                  <a:tcPr>
                    <a:solidFill>
                      <a:srgbClr val="122A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Timer-based or manual app trigger</a:t>
                      </a:r>
                    </a:p>
                  </a:txBody>
                  <a:tcPr>
                    <a:solidFill>
                      <a:srgbClr val="122A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A3E635"/>
                          </a:solidFill>
                          <a:latin typeface="Arial"/>
                        </a:defRPr>
                      </a:pPr>
                      <a:r>
                        <a:t>Autonomous Closed-Loop Soil Matric (&lt;50ms)</a:t>
                      </a:r>
                    </a:p>
                  </a:txBody>
                  <a:tcPr>
                    <a:solidFill>
                      <a:srgbClr val="122A1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Language &amp; Accessibility</a:t>
                      </a:r>
                    </a:p>
                  </a:txBody>
                  <a:tcPr>
                    <a:solidFill>
                      <a:srgbClr val="122A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Local verbal knowledge only</a:t>
                      </a:r>
                    </a:p>
                  </a:txBody>
                  <a:tcPr>
                    <a:solidFill>
                      <a:srgbClr val="122A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English-heavy complex charts</a:t>
                      </a:r>
                    </a:p>
                  </a:txBody>
                  <a:tcPr>
                    <a:solidFill>
                      <a:srgbClr val="122A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A3E635"/>
                          </a:solidFill>
                          <a:latin typeface="Arial"/>
                        </a:defRPr>
                      </a:pPr>
                      <a:r>
                        <a:t>15+ Indian Languages + Speech Audio TTS</a:t>
                      </a:r>
                    </a:p>
                  </a:txBody>
                  <a:tcPr>
                    <a:solidFill>
                      <a:srgbClr val="122A1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Disease Detection</a:t>
                      </a:r>
                    </a:p>
                  </a:txBody>
                  <a:tcPr>
                    <a:solidFill>
                      <a:srgbClr val="122A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Visual post-damage scouting (30% loss)</a:t>
                      </a:r>
                    </a:p>
                  </a:txBody>
                  <a:tcPr>
                    <a:solidFill>
                      <a:srgbClr val="122A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Lab testing (3–7 day delay)</a:t>
                      </a:r>
                    </a:p>
                  </a:txBody>
                  <a:tcPr>
                    <a:solidFill>
                      <a:srgbClr val="122A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A3E635"/>
                          </a:solidFill>
                          <a:latin typeface="Arial"/>
                        </a:defRPr>
                      </a:pPr>
                      <a:r>
                        <a:t>Instant AI Leaf Scan (&lt;180ms) + 48h Pre-warning</a:t>
                      </a:r>
                    </a:p>
                  </a:txBody>
                  <a:tcPr>
                    <a:solidFill>
                      <a:srgbClr val="122A1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Offline Fail-Safe</a:t>
                      </a:r>
                    </a:p>
                  </a:txBody>
                  <a:tcPr>
                    <a:solidFill>
                      <a:srgbClr val="122A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Manual dependent</a:t>
                      </a:r>
                    </a:p>
                  </a:txBody>
                  <a:tcPr>
                    <a:solidFill>
                      <a:srgbClr val="122A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Cloud dependent (breaks on 2G/drop)</a:t>
                      </a:r>
                    </a:p>
                  </a:txBody>
                  <a:tcPr>
                    <a:solidFill>
                      <a:srgbClr val="122A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A3E635"/>
                          </a:solidFill>
                          <a:latin typeface="Arial"/>
                        </a:defRPr>
                      </a:pPr>
                      <a:r>
                        <a:t>100% Offline Edge C++ Local Actuation</a:t>
                      </a:r>
                    </a:p>
                  </a:txBody>
                  <a:tcPr>
                    <a:solidFill>
                      <a:srgbClr val="122A1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48640" y="4572000"/>
            <a:ext cx="11094415" cy="1737360"/>
          </a:xfrm>
          <a:prstGeom prst="roundRect">
            <a:avLst/>
          </a:prstGeom>
          <a:solidFill>
            <a:srgbClr val="122A1F"/>
          </a:solidFill>
          <a:ln w="19050">
            <a:solidFill>
              <a:srgbClr val="2E7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4681728"/>
            <a:ext cx="1076523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A3E635"/>
                </a:solidFill>
                <a:latin typeface="Trebuchet MS"/>
              </a:defRPr>
            </a:pPr>
            <a:r>
              <a:t>💡 INTELLECTUAL PROPERTY &amp; FUTURE RESEARCH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937760"/>
            <a:ext cx="10698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300"/>
              </a:spcBef>
              <a:defRPr sz="950">
                <a:solidFill>
                  <a:srgbClr val="F1F5F9"/>
                </a:solidFill>
                <a:latin typeface="Arial"/>
              </a:defRPr>
            </a:pPr>
            <a:r>
              <a:t>• Proprietary Resilient AI Chain: Multi-model arbitration architecture dynamically routing requests to healthy free LLMs with hallucination filtering.</a:t>
            </a:r>
          </a:p>
          <a:p>
            <a:pPr>
              <a:spcBef>
                <a:spcPts val="300"/>
              </a:spcBef>
              <a:defRPr sz="950">
                <a:solidFill>
                  <a:srgbClr val="F1F5F9"/>
                </a:solidFill>
                <a:latin typeface="Arial"/>
              </a:defRPr>
            </a:pPr>
            <a:r>
              <a:t>• Low-Power Latching Solenoid Driver: Ultra-low-power pulsed driver consuming 0mA quiescent current, enabling multi-year solar battery longevity.</a:t>
            </a:r>
          </a:p>
          <a:p>
            <a:pPr>
              <a:spcBef>
                <a:spcPts val="300"/>
              </a:spcBef>
              <a:defRPr sz="950">
                <a:solidFill>
                  <a:srgbClr val="F1F5F9"/>
                </a:solidFill>
                <a:latin typeface="Arial"/>
              </a:defRPr>
            </a:pPr>
            <a:r>
              <a:t>• Future Scope: Integration of optical NPK (Nitrogen-Phosphorus-Potassium) soil nutrient sensors, drone multispectral NDVI imagery, and solar pump VFD inverters.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38BDF8"/>
                </a:solidFill>
                <a:latin typeface="Arial"/>
              </a:defRPr>
            </a:pPr>
            <a:r>
              <a:t>🔗 Source / Citation: Fasal System Specifications | PlantVillage Neural Network Benchmarks | ISRO Bhuvan Agriculture Portal — https://fasal.co | https://plantvillage.psu.edu | https://bhuvan-app1.nrsc.gov.in/agriculture/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3E635"/>
                </a:solidFill>
                <a:latin typeface="Trebuchet MS"/>
              </a:defRPr>
            </a:pPr>
            <a:r>
              <a:t>SLIDE 12  |  TEAM, INSTITUTIONAL VISION &amp; CALL TO ACTION</a:t>
            </a:r>
          </a:p>
          <a:p>
            <a:pPr>
              <a:spcBef>
                <a:spcPts val="300"/>
              </a:spcBef>
              <a:defRPr sz="1900" b="1">
                <a:solidFill>
                  <a:srgbClr val="FFFFFF"/>
                </a:solidFill>
                <a:latin typeface="Arial"/>
              </a:defRPr>
            </a:pPr>
            <a:r>
              <a:t>Bal Bharati Public School · Transforming 126 Million Farmers into Climate-Resilient Growers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394960" cy="3291840"/>
          </a:xfrm>
          <a:prstGeom prst="roundRect">
            <a:avLst/>
          </a:prstGeom>
          <a:solidFill>
            <a:srgbClr val="122A1F"/>
          </a:solidFill>
          <a:ln w="19050">
            <a:solidFill>
              <a:srgbClr val="2E7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298448"/>
            <a:ext cx="506577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A3E635"/>
                </a:solidFill>
                <a:latin typeface="Trebuchet MS"/>
              </a:defRPr>
            </a:pPr>
            <a:r>
              <a:t>👥 INNOVATION TEAM &amp; CORE COMPETENCIES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50292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500"/>
              </a:spcBef>
              <a:defRPr sz="950">
                <a:solidFill>
                  <a:srgbClr val="F1F5F9"/>
                </a:solidFill>
                <a:latin typeface="Arial"/>
              </a:defRPr>
            </a:pPr>
            <a:r>
              <a:t>• Pranav Saxena: Lead Developer &amp; IoT System Architect (Full-stack FastAPI/React + ESP32 C++ firmware)</a:t>
            </a:r>
          </a:p>
          <a:p>
            <a:pPr>
              <a:spcBef>
                <a:spcPts val="500"/>
              </a:spcBef>
              <a:defRPr sz="950">
                <a:solidFill>
                  <a:srgbClr val="F1F5F9"/>
                </a:solidFill>
                <a:latin typeface="Arial"/>
              </a:defRPr>
            </a:pPr>
            <a:r>
              <a:t>• Hiyasha Deviyal: Product Research &amp; UI/UX Design (Farmer journey modeling &amp; low-literacy interfaces)</a:t>
            </a:r>
          </a:p>
          <a:p>
            <a:pPr>
              <a:spcBef>
                <a:spcPts val="500"/>
              </a:spcBef>
              <a:defRPr sz="950">
                <a:solidFill>
                  <a:srgbClr val="F1F5F9"/>
                </a:solidFill>
                <a:latin typeface="Arial"/>
              </a:defRPr>
            </a:pPr>
            <a:r>
              <a:t>• Chaitanya Vashisht: Hardware Engineering &amp; Field Testing (Relay circuits, sensor calibration &amp; bench runs)</a:t>
            </a:r>
          </a:p>
          <a:p>
            <a:pPr>
              <a:spcBef>
                <a:spcPts val="500"/>
              </a:spcBef>
              <a:defRPr sz="950">
                <a:solidFill>
                  <a:srgbClr val="F1F5F9"/>
                </a:solidFill>
                <a:latin typeface="Arial"/>
              </a:defRPr>
            </a:pPr>
            <a:r>
              <a:t>• Kairavi Patel: Frontend Dev &amp; Multilingual Voice (Translation pipelines &amp; Web Speech API TTS)</a:t>
            </a:r>
          </a:p>
          <a:p>
            <a:pPr>
              <a:spcBef>
                <a:spcPts val="500"/>
              </a:spcBef>
              <a:defRPr sz="950">
                <a:solidFill>
                  <a:srgbClr val="F1F5F9"/>
                </a:solidFill>
                <a:latin typeface="Arial"/>
              </a:defRPr>
            </a:pPr>
            <a:r>
              <a:t>• Eekansh Patni: Data Analytics &amp; Agronomy Research (Soil moisture modeling &amp; crop stress indexes)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425135" cy="3291840"/>
          </a:xfrm>
          <a:prstGeom prst="roundRect">
            <a:avLst/>
          </a:prstGeom>
          <a:solidFill>
            <a:srgbClr val="122A1F"/>
          </a:solidFill>
          <a:ln w="19050">
            <a:solidFill>
              <a:srgbClr val="2E7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298448"/>
            <a:ext cx="509595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A3E635"/>
                </a:solidFill>
                <a:latin typeface="Trebuchet MS"/>
              </a:defRPr>
            </a:pPr>
            <a:r>
              <a:t>🎯 INSTITUTIONAL VISION &amp; MENTORSHIP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50292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600"/>
              </a:spcBef>
              <a:defRPr sz="950">
                <a:solidFill>
                  <a:srgbClr val="F1F5F9"/>
                </a:solidFill>
                <a:latin typeface="Arial"/>
              </a:defRPr>
            </a:pPr>
            <a:r>
              <a:t>• Institution: Bal Bharati Public School — Fostering student innovation, deep-tech research, and sustainable community empowerment.</a:t>
            </a:r>
          </a:p>
          <a:p>
            <a:pPr>
              <a:spcBef>
                <a:spcPts val="600"/>
              </a:spcBef>
              <a:defRPr sz="950">
                <a:solidFill>
                  <a:srgbClr val="F1F5F9"/>
                </a:solidFill>
                <a:latin typeface="Arial"/>
              </a:defRPr>
            </a:pPr>
            <a:r>
              <a:t>• Faculty Mentor: Ms. Deepika Dutt — Providing continuous guidance in research validation, technical problem structuring, and engineering rigor.</a:t>
            </a:r>
          </a:p>
          <a:p>
            <a:pPr>
              <a:spcBef>
                <a:spcPts val="600"/>
              </a:spcBef>
              <a:defRPr sz="950">
                <a:solidFill>
                  <a:srgbClr val="F1F5F9"/>
                </a:solidFill>
                <a:latin typeface="Arial"/>
              </a:defRPr>
            </a:pPr>
            <a:r>
              <a:t>• Acknowledgements: Dedicated local farming communities of Samrala/Khanna, agricultural scientists, and open-source contributors.</a:t>
            </a:r>
          </a:p>
          <a:p>
            <a:pPr>
              <a:spcBef>
                <a:spcPts val="600"/>
              </a:spcBef>
              <a:defRPr sz="950">
                <a:solidFill>
                  <a:srgbClr val="F1F5F9"/>
                </a:solidFill>
                <a:latin typeface="Arial"/>
              </a:defRPr>
            </a:pPr>
            <a:r>
              <a:t>• Long-Term Mission: Democratize smart agriculture across the Global South, converting every traditional field into an intelligent, self-regulating ecosystem that preserves water and guarantees farmer prosperity.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617720"/>
            <a:ext cx="11094415" cy="1737360"/>
          </a:xfrm>
          <a:prstGeom prst="roundRect">
            <a:avLst/>
          </a:prstGeom>
          <a:solidFill>
            <a:srgbClr val="122A1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4727448"/>
            <a:ext cx="1076523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A3E635"/>
                </a:solidFill>
                <a:latin typeface="Trebuchet MS"/>
              </a:defRPr>
            </a:pPr>
            <a:r>
              <a:t>🚀 CALL TO ACTION &amp; OFFICIAL PROJECT CHANNELS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983480"/>
            <a:ext cx="10698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A3E635"/>
                </a:solidFill>
                <a:latin typeface="Trebuchet MS"/>
              </a:defRPr>
            </a:pPr>
            <a:r>
              <a:t>Join us in empowering India's smallholder farmers with open, accessible IoT &amp; AI!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  <a:latin typeface="Arial"/>
              </a:defRPr>
            </a:pPr>
            <a:r>
              <a:t>🌐 Live Production Platform: https://agrisense-269.pages.dev  |  💻 Fullstack GitHub: github.com/pranavsaxenaofficial11-coder/agrisense-fullstack</a:t>
            </a:r>
            <a:br/>
            <a:r>
              <a:t>📧 Direct Email: pranavsaxenaofficial11@gmail.com  |  📞 Phone: +91 8383049373  |  🙏 Thank You!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38BDF8"/>
                </a:solidFill>
                <a:latin typeface="Arial"/>
              </a:defRPr>
            </a:pPr>
            <a:r>
              <a:t>🔗 Source / Citation: Bal Bharati Public School AgTech Innovation Division — https://agrisense-269.pages.dev | github.com/pranavsaxenaofficial11-coder/agrisense-fullstack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