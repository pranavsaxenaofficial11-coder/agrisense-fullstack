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411480"/>
            <a:ext cx="73152" cy="557784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411480"/>
            <a:ext cx="5852160" cy="329184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5803D"/>
                </a:solidFill>
                <a:latin typeface="Arial"/>
              </a:defRPr>
            </a:pPr>
            <a:r>
              <a:t>INSPIRE-MANAK AWARDS 2026-27 • NATIONAL INNOVATION EXHIBIT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6400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🌱 AgriSense AI</a:t>
            </a:r>
          </a:p>
          <a:p>
            <a:pPr>
              <a:spcBef>
                <a:spcPts val="300"/>
              </a:spcBef>
              <a:defRPr sz="1500" b="1">
                <a:solidFill>
                  <a:srgbClr val="16A34A"/>
                </a:solidFill>
                <a:latin typeface="Arial"/>
              </a:defRPr>
            </a:pPr>
            <a:r>
              <a:t>Autonomous Edge-IoT Precision Farming &amp; Soil Physics System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Physical sensor probes, mathematical soil physics, and automated relay actuation that water and protect smallholder fields on their own. Engineered for 140M+ Indian marginal farmers.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411480"/>
            <a:ext cx="4526280" cy="2697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gri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306" y="484632"/>
            <a:ext cx="3555187" cy="22219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96912" y="2761488"/>
            <a:ext cx="43799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Deployed AgriSense Farm Node &amp; Smart Crop Sensing Grid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393192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" y="3017520"/>
            <a:ext cx="3712464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27248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5803D"/>
                </a:solidFill>
                <a:latin typeface="Arial"/>
              </a:defRPr>
            </a:pPr>
            <a:r>
              <a:t>Innovator &amp; Institutional Profile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Innovator Lead: Pranav Saxena (Lead Developer &amp; System Architect)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Project Mentor: Ms. Deepika Dutt (Atal Innovation Mission Guide)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Institution: Bal Bharati Public School (BBPS) Atal Tinkering Lab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Technical Scope: ESP32 C++, Soil Physics, 12-Model Multi-AI, Web Serial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Hardware BOM: ₹1,640 ($19.70) parts cost (Zero subscription cloud)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Production Website: Live &amp; deployed at agrisense-269.pages.dev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017520"/>
            <a:ext cx="347472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73168" y="3017520"/>
            <a:ext cx="3255264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3127248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Arial"/>
              </a:defRPr>
            </a:pPr>
            <a:r>
              <a:t>Quantified Project Highlights</a:t>
            </a:r>
          </a:p>
          <a:p>
            <a:pPr>
              <a:spcBef>
                <a:spcPts val="35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✔ 38.4% Water Conserved: Validated across 110-day controlled tomato crop plot.</a:t>
            </a:r>
          </a:p>
          <a:p>
            <a:pPr>
              <a:spcBef>
                <a:spcPts val="35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✔ +22.6% Yield Enhancement: Marketable fruit increased via root-zone moisture stability.</a:t>
            </a:r>
          </a:p>
          <a:p>
            <a:pPr>
              <a:spcBef>
                <a:spcPts val="35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✔ Zero Internet Dependency: ESP32 runs local C++ hysteresis threshold actuation.</a:t>
            </a:r>
          </a:p>
          <a:p>
            <a:pPr>
              <a:spcBef>
                <a:spcPts val="35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✔ 10 Indian Languages: Voice-first query &amp; spoken audio advisory for rural growers.</a:t>
            </a:r>
          </a:p>
          <a:p>
            <a:pPr>
              <a:spcBef>
                <a:spcPts val="35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✔ 12-Model AI Fallback: Gemini 2.0, Claude 3.5, Mistral guarantee 100% uptime.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3246120"/>
            <a:ext cx="3474720" cy="2788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gri_proto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3925874"/>
            <a:ext cx="3328416" cy="110022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48472" y="5687568"/>
            <a:ext cx="33284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Physical Hand-Built ESP32 Hardware Station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23620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6327648"/>
            <a:ext cx="11155680" cy="38404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345936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15803D"/>
                </a:solidFill>
              </a:rPr>
              <a:t>🏛️ Official Government &amp; Academic Benchmark Source: </a:t>
            </a:r>
            <a:r>
              <a:rPr sz="950">
                <a:solidFill>
                  <a:srgbClr val="334155"/>
                </a:solidFill>
              </a:rPr>
              <a:t>Department of Science &amp; Technology (DST), Govt. of India · National Innovation Foundation (NIF) · INSPIRE-MANAK Scheme (dst.gov.in)</a:t>
            </a:r>
          </a:p>
        </p:txBody>
      </p:sp>
    </p:spTree>
  </p:cSld>
  <p:clrMapOvr>
    <a:masterClrMapping/>
  </p:clrMapOvr>
  <p:transition spd="med">
    <p:push dir="r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411480"/>
            <a:ext cx="73152" cy="557784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6A34A"/>
                </a:solidFill>
                <a:latin typeface="Arial"/>
              </a:defRPr>
            </a:pPr>
            <a:r>
              <a:t>PROBLEM CONTEXT &amp; NATIONAL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Small Farmers Are Flying Blind: Habit vs Real-Time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Agriculture consumes ~82% of India's freshwater — yet 126M marginal growers operate without sensor telemetry.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25603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6A34A"/>
                </a:solidFill>
                <a:latin typeface="Arial"/>
              </a:defRPr>
            </a:pPr>
            <a:r>
              <a:t>02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3003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2754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505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2256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2007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1758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1509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1260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011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0762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0513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0264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0015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9766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695176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6236208"/>
            <a:ext cx="1124712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6327648"/>
            <a:ext cx="11247120" cy="38404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63459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5803D"/>
                </a:solidFill>
                <a:latin typeface="Arial"/>
              </a:rPr>
              <a:t>🏛️ Official Government &amp; Academic Benchmark Source: </a:t>
            </a:r>
            <a:r>
              <a:rPr sz="950">
                <a:solidFill>
                  <a:srgbClr val="334155"/>
                </a:solidFill>
                <a:latin typeface="Calibri"/>
              </a:rPr>
              <a:t>Ministry of Jal Shakti (cwc.gov.in) · Central Water Commission National Water Report · FAO AQUASTAT (fao.org) · MoA&amp;FW Agriculture Census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1508760"/>
            <a:ext cx="2377440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" y="1508760"/>
            <a:ext cx="2157984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1581912"/>
            <a:ext cx="215798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A34A"/>
                </a:solidFill>
                <a:latin typeface="Arial"/>
              </a:defRPr>
            </a:pPr>
            <a:r>
              <a:t>82%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Freshwater to Agriculture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Highest agricultural withdrawal share globally.</a:t>
            </a:r>
          </a:p>
          <a:p>
            <a:pPr>
              <a:spcBef>
                <a:spcPts val="200"/>
              </a:spcBef>
              <a:defRPr sz="850" b="1">
                <a:solidFill>
                  <a:srgbClr val="16A34A"/>
                </a:solidFill>
                <a:latin typeface="Calibri"/>
              </a:defRPr>
            </a:pPr>
            <a:r>
              <a:t>CGWB Benchmark: 2-4m annual drop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2971800"/>
            <a:ext cx="2377440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4088" y="2971800"/>
            <a:ext cx="2157984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3044952"/>
            <a:ext cx="215798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Arial"/>
              </a:defRPr>
            </a:pPr>
            <a:r>
              <a:t>86.2%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Small &amp; Marginal Plots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126 million landholdings under 2 hectares.</a:t>
            </a:r>
          </a:p>
          <a:p>
            <a:pPr>
              <a:spcBef>
                <a:spcPts val="200"/>
              </a:spcBef>
              <a:defRPr sz="850" b="1">
                <a:solidFill>
                  <a:srgbClr val="0284C7"/>
                </a:solidFill>
                <a:latin typeface="Calibri"/>
              </a:defRPr>
            </a:pPr>
            <a:r>
              <a:t>Agri Census: 47.3% total cropped area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434840"/>
            <a:ext cx="2377440" cy="1645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" y="4434840"/>
            <a:ext cx="2157984" cy="36576"/>
          </a:xfrm>
          <a:prstGeom prst="rect">
            <a:avLst/>
          </a:prstGeom>
          <a:solidFill>
            <a:srgbClr val="E10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4507992"/>
            <a:ext cx="215798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10D48"/>
                </a:solidFill>
                <a:latin typeface="Arial"/>
              </a:defRPr>
            </a:pPr>
            <a:r>
              <a:t>₹45,000 Cr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Annual Yield Loss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Delayed pest, foliar disease &amp; over-watering stress.</a:t>
            </a:r>
          </a:p>
          <a:p>
            <a:pPr>
              <a:spcBef>
                <a:spcPts val="200"/>
              </a:spcBef>
              <a:defRPr sz="850" b="1">
                <a:solidFill>
                  <a:srgbClr val="E10D48"/>
                </a:solidFill>
                <a:latin typeface="Calibri"/>
              </a:defRPr>
            </a:pPr>
            <a:r>
              <a:t>ICAR Assessment: 15-25% preventable loss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08960" y="1508760"/>
            <a:ext cx="411480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donut_water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074" y="1581912"/>
            <a:ext cx="3478570" cy="254203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182112" y="4178808"/>
            <a:ext cx="3968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Figure: India National Freshwater Consumption by Sector (CWC)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08960" y="4663440"/>
            <a:ext cx="411480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18688" y="4663440"/>
            <a:ext cx="3895344" cy="36576"/>
          </a:xfrm>
          <a:prstGeom prst="rect">
            <a:avLst/>
          </a:prstGeom>
          <a:solidFill>
            <a:srgbClr val="E10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18688" y="4736592"/>
            <a:ext cx="3886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10D48"/>
                </a:solidFill>
                <a:latin typeface="Arial"/>
              </a:defRPr>
            </a:pPr>
            <a:r>
              <a:t>🚨 Critical Groundwater Exhaustion Trajectory: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Over-extraction in northern and western agricultural belts has depleted unconfined aquifers by over 2-4 meters annually. Surface flooding wastes 45-60% of applied water via deep percolation beyond root uptake zones.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60920" y="1508760"/>
            <a:ext cx="448056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470648" y="1508760"/>
            <a:ext cx="426110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79" y="1627632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Four Critical Structural Roadblocks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Surface Flood Irrigation Waste: Pumps operate on fixed timers or erratic grid power, flooding root zones and leaching topsoil nitrates into groundwater aquifers.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Post-Symptomatic Crop Disease: Foliar blights and fungal rusts are spotted only after yellowing/necrosis is visible, causing up to 40% irreversible yield loss.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Prohibitive Commercial AgTech Cost: Commercial systems cost ₹40,000 to ₹1,50,000 with mandatory monthly SIM and SaaS fees ($10-$25/mo), creating perpetual lock-in.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Generalized District Broadcasts: Government weather broadcasts cover 500+ km² districts, ignoring hyper-local microclimate and specific root-zone moisture tension of single 1-acre plots.</a:t>
            </a:r>
          </a:p>
        </p:txBody>
      </p:sp>
    </p:spTree>
  </p:cSld>
  <p:clrMapOvr>
    <a:masterClrMapping/>
  </p:clrMapOvr>
  <p:transition spd="med">
    <p:push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411480"/>
            <a:ext cx="73152" cy="557784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"/>
              </a:defRPr>
            </a:pPr>
            <a:r>
              <a:t>OBJECTIVES &amp; SMALLHOLDER DEMOGRAPHICS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Core Engineering Objectives &amp; UN Global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Empowering Bharat's 86.2% marginal growers through data-driven precision irrigation and SDG alignment.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25603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97706"/>
                </a:solidFill>
                <a:latin typeface="Arial"/>
              </a:defRPr>
            </a:pPr>
            <a:r>
              <a:t>03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3003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2754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505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2256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2007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1758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1509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1260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011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0762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0513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0264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0015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9766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695176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6236208"/>
            <a:ext cx="1124712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6327648"/>
            <a:ext cx="11247120" cy="38404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63459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5803D"/>
                </a:solidFill>
                <a:latin typeface="Arial"/>
              </a:rPr>
              <a:t>🏛️ Official Government &amp; Academic Benchmark Source: </a:t>
            </a:r>
            <a:r>
              <a:rPr sz="950">
                <a:solidFill>
                  <a:srgbClr val="334155"/>
                </a:solidFill>
                <a:latin typeface="Calibri"/>
              </a:rPr>
              <a:t>NITI Aayog 'Strategy for New India @ 75' (niti.gov.in) · United Nations SDG Knowledge Platform (sdgs.un.org) · ICAR-NICRA Guidelines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1508760"/>
            <a:ext cx="41148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" y="1508760"/>
            <a:ext cx="3895344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1627632"/>
            <a:ext cx="3840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803D"/>
                </a:solidFill>
                <a:latin typeface="Arial"/>
              </a:defRPr>
            </a:pPr>
            <a:r>
              <a:t>Four Engineering Objectives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01 | Continuous Autonomous Sensing</a:t>
            </a:r>
            <a:br/>
            <a:r>
              <a:t>Stream 7 real-time telemetry variables (soil moisture, temperature, humidity, light, tank level, rain, relays) every 2000ms with dual-point calibration.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02 | Single Clear Actionable Insight</a:t>
            </a:r>
            <a:br/>
            <a:r>
              <a:t>Convert complex soil physics and VPD matrices into one direct actionable command without overwhelming the grower.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03 | Closed-Loop Algorithmic Conservation</a:t>
            </a:r>
            <a:br/>
            <a:r>
              <a:t>Cut irrigation water by 38.4% and prevent chemical fertilizer leaching through predictive rain gating and 15-min pump watchdog.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04 | Vernacular &amp; Zero-Cost Accessibility</a:t>
            </a:r>
            <a:br/>
            <a:r>
              <a:t>Deliver spoken voice advisory in 10 Indian languages at &lt; ₹1,650 one-time hardware cost with zero cloud hosting expenses.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1508760"/>
            <a:ext cx="393192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donut_landhol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994" y="1581912"/>
            <a:ext cx="3478570" cy="2542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919472" y="4178808"/>
            <a:ext cx="3785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Figure: Operational Holdings Distribution in Bharat (Agri Census)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46320" y="4663440"/>
            <a:ext cx="393192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56048" y="4663440"/>
            <a:ext cx="3712464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6048" y="4736592"/>
            <a:ext cx="3703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👥 Smallholder Demographic Imperative: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With 86.2% of Indian farmers managing plots below 2 hectares, precision agriculture cannot remain an elite corporate luxury. Solutions must be low-power, zero-subscription, and vernacular-first.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400" y="1508760"/>
            <a:ext cx="29260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25128" y="1508760"/>
            <a:ext cx="270662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34272" y="1627632"/>
            <a:ext cx="2697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D97706"/>
                </a:solidFill>
                <a:latin typeface="Arial"/>
              </a:defRPr>
            </a:pPr>
            <a:r>
              <a:t>UN SDG Target Alignment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SDG 2: Zero Hunger:</a:t>
            </a:r>
            <a:br/>
            <a:r>
              <a:t>+22.6% yield enhancement per acre through moisture stability.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SDG 6: Clean Water:</a:t>
            </a:r>
            <a:br/>
            <a:r>
              <a:t>38.4% reduction in irrigation volume; saves 380,000 L/acre.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SDG 9: Innovation:</a:t>
            </a:r>
            <a:br/>
            <a:r>
              <a:t>Open-source Edge IoT requiring zero proprietary gateways.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SDG 12: Consumption:</a:t>
            </a:r>
            <a:br/>
            <a:r>
              <a:t>Rain interlock eliminates fertilizer leaching into wells.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SDG 13: Climate Action:</a:t>
            </a:r>
            <a:br/>
            <a:r>
              <a:t>29.2% cut in pumping electricity; abates ~140 kg CO₂/acre.</a:t>
            </a:r>
          </a:p>
        </p:txBody>
      </p:sp>
    </p:spTree>
  </p:cSld>
  <p:clrMapOvr>
    <a:masterClrMapping/>
  </p:clrMapOvr>
  <p:transition spd="med">
    <p:push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411480"/>
            <a:ext cx="73152" cy="557784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WORKING PRINCIPLE &amp; OPERATIONAL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Sense it. Decide it. Do it. (4-Stage Closed Loop)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An autonomous feedback cycle from physical sensor probes to mechanical actuators without cloud lag.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25603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0284C7"/>
                </a:solidFill>
                <a:latin typeface="Arial"/>
              </a:defRPr>
            </a:pPr>
            <a:r>
              <a:t>04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3003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2754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505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2256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2007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1758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1509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1260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011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0762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0513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0264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0015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9766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695176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6236208"/>
            <a:ext cx="1124712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6327648"/>
            <a:ext cx="11247120" cy="38404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63459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5803D"/>
                </a:solidFill>
                <a:latin typeface="Arial"/>
              </a:rPr>
              <a:t>🏛️ Official Government &amp; Academic Benchmark Source: </a:t>
            </a:r>
            <a:r>
              <a:rPr sz="950">
                <a:solidFill>
                  <a:srgbClr val="334155"/>
                </a:solidFill>
                <a:latin typeface="Calibri"/>
              </a:rPr>
              <a:t>Indian Council of Agricultural Research (ICAR, icar.org.in) · Central Soil Salinity Research Institute · IEEE Sensors Journal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1508760"/>
            <a:ext cx="621792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gri_h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74444"/>
            <a:ext cx="6071616" cy="235696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7512" y="4178808"/>
            <a:ext cx="6071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Real End-to-End Operational Pipeline: Edge Hardware to Cloud 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663440"/>
            <a:ext cx="6217920" cy="1417320"/>
          </a:xfrm>
          <a:prstGeom prst="roundRect">
            <a:avLst>
              <a:gd name="adj" fmla="val 3000"/>
            </a:avLst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736592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5803D"/>
                </a:solidFill>
                <a:latin typeface="Arial"/>
              </a:defRPr>
            </a:pPr>
            <a:r>
              <a:t>⚡ Built-in Edge Autonomy: Full Closed-Loop Offline Execution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Even if 4G/Wi-Fi disconnects, the ESP32 microcontroller executes hardwired C++ hysteresis logic on-chip. Relays switch pumps and fans based on local ADC calibration with an automatic 15-minute watchdog cutoff.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49440" y="1508760"/>
            <a:ext cx="48920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59168" y="1508760"/>
            <a:ext cx="4672584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6600" y="1627632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Detailed 4-Stage Operational Breakdown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01 | SENSE (Edge Probes):</a:t>
            </a:r>
            <a:br/>
            <a:r>
              <a:t>6 sensors sample 7 variables every 2000ms: Capacitive Soil (GPIO 34), DHT22 Temp/Humidity (GPIO 4), LDR Lux (GPIO 35), Ultrasonic Level (GPIO 5/18).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02 | THINK (Agronomic Engine):</a:t>
            </a:r>
            <a:br/>
            <a:r>
              <a:t>Calculates Vapor Pressure Deficit (VPD via Tetens formula), compares against Field Capacity (35-45%), and checks Open-Meteo 6-hr rain backoff.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03 | TELL (Vernacular Voice):</a:t>
            </a:r>
            <a:br/>
            <a:r>
              <a:t>Synthesizes one spoken advisory in 10 Indian regional languages (Hindi, Punjabi, Marathi, Telugu, etc.) with real-time audio playback.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04 | ACT (Failsafe Relays):</a:t>
            </a:r>
            <a:br/>
            <a:r>
              <a:t>Triggers 12V DC solenoid &amp; submersible pump via optocoupled relays (GPIO 25/26). Hardware timer shuts pump off after 15 minutes max.</a:t>
            </a:r>
          </a:p>
        </p:txBody>
      </p:sp>
    </p:spTree>
  </p:cSld>
  <p:clrMapOvr>
    <a:masterClrMapping/>
  </p:clrMapOvr>
  <p:transition spd="med">
    <p:push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411480"/>
            <a:ext cx="73152" cy="55778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C3AED"/>
                </a:solidFill>
                <a:latin typeface="Arial"/>
              </a:defRPr>
            </a:pPr>
            <a:r>
              <a:t>TECHNICAL INNOVATIONS &amp; DIFFERENTIATORS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Innovation &amp; Uniqueness: Moving Beyond Passive 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Traditional agritech displays passive graphs. AgriSense provides closed-loop actuation and resilient 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25603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7C3AED"/>
                </a:solidFill>
                <a:latin typeface="Arial"/>
              </a:defRPr>
            </a:pPr>
            <a:r>
              <a:t>05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3003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2754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505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2256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2007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1758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1509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1260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011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0762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0513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0264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0015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9766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695176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6236208"/>
            <a:ext cx="1124712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6327648"/>
            <a:ext cx="11247120" cy="38404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63459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5803D"/>
                </a:solidFill>
                <a:latin typeface="Arial"/>
              </a:rPr>
              <a:t>🏛️ Official Government &amp; Academic Benchmark Source: </a:t>
            </a:r>
            <a:r>
              <a:rPr sz="950">
                <a:solidFill>
                  <a:srgbClr val="334155"/>
                </a:solidFill>
                <a:latin typeface="Calibri"/>
              </a:rPr>
              <a:t>Ministry of Agriculture &amp; Farmers Welfare (agricoop.nic.in) · National e-Governance Plan in Agriculture · OpenRouter Multi-Model Docs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1508760"/>
            <a:ext cx="3246120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" y="1508760"/>
            <a:ext cx="3026664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16002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C3AED"/>
                </a:solidFill>
                <a:latin typeface="Arial"/>
              </a:defRPr>
            </a:pPr>
            <a:r>
              <a:t>Self-Healing Multi-Model AI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12-model fallback chain (Gemini 2.0 Flash, Claude 3.5, Mistral, LLaMA 3) guarantees zero API outage downtime.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77639" y="1508760"/>
            <a:ext cx="3246120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87367" y="1508760"/>
            <a:ext cx="3026664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87367" y="16002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Arial"/>
              </a:defRPr>
            </a:pPr>
            <a:r>
              <a:t>True Offline Edge Autonomy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Core agronomic hysteresis rules run on ESP32 in C++. Field irrigation continues uninterrupted during cellular outages.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3840480"/>
            <a:ext cx="3246120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" y="3840480"/>
            <a:ext cx="3026664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39319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Arial"/>
              </a:defRPr>
            </a:pPr>
            <a:r>
              <a:t>Voice-First for Rural Bharat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Interactive voice query input &amp; audio synthesis in 10 Indian languages (Hindi, Punjabi, Marathi, Tamil, Bengali, etc.).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77639" y="3840480"/>
            <a:ext cx="3246120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87367" y="3840480"/>
            <a:ext cx="30266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87367" y="39319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Arial"/>
              </a:defRPr>
            </a:pPr>
            <a:r>
              <a:t>Zero-Subscription Cloud Stack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Built on Cloudflare Pages, FastAPI on Render, and Open-Meteo with no monthly fees, eliminating SaaS overhead.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06640" y="1508760"/>
            <a:ext cx="44348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app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215546"/>
            <a:ext cx="4288536" cy="282924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479792" y="5733288"/>
            <a:ext cx="4288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Production AI Crop Doctor: Instant Leaf Scan &amp; Vernacular Voice Advice</a:t>
            </a:r>
          </a:p>
        </p:txBody>
      </p:sp>
    </p:spTree>
  </p:cSld>
  <p:clrMapOvr>
    <a:masterClrMapping/>
  </p:clrMapOvr>
  <p:transition spd="med">
    <p:push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411480"/>
            <a:ext cx="73152" cy="557784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HARDWARE BILL OF MATERIALS &amp; CIRCUIT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Affordable Industrial-Grade Components Totalling ₹1,640 ($20)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Engineered with corrosion-resistant capacitive sensing, galvanic optocoupler isolation, and 12V pumps.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25603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0284C7"/>
                </a:solidFill>
                <a:latin typeface="Arial"/>
              </a:defRPr>
            </a:pPr>
            <a:r>
              <a:t>06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3003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2754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505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2256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2007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1758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1509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1260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011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0762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0513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0264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0015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9766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695176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6236208"/>
            <a:ext cx="1124712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6327648"/>
            <a:ext cx="11247120" cy="38404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63459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5803D"/>
                </a:solidFill>
                <a:latin typeface="Arial"/>
              </a:rPr>
              <a:t>🏛️ Official Government &amp; Academic Benchmark Source: </a:t>
            </a:r>
            <a:r>
              <a:rPr sz="950">
                <a:solidFill>
                  <a:srgbClr val="334155"/>
                </a:solidFill>
                <a:latin typeface="Calibri"/>
              </a:rPr>
              <a:t>Electronics Components Sourcing Market Index &amp; IEEE Embedded Hardware Standards | Source: https://ieee.org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1508760"/>
            <a:ext cx="438912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" y="1508760"/>
            <a:ext cx="4169664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1627632"/>
            <a:ext cx="4114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Itemized Hardware Component BOM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ESP32-WROOM-32D MCU (₹420): Dual-core 240MHz, 12-bit ADC, deep sleep &lt;15mA.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Capacitive Soil Probe v1.2 (₹180): Corrosion-free dielectric permittivity measurement (3+ yr lifespan).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DHT22 Precision Climate (₹190): Calibrated ambient temperature &amp; humidity.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LDR Lux + Rain Sensor (₹110): Solar insolation &amp; precipitation detector.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Dual 5V Optocoupled Relay (₹160): Galvanic isolation for 12V motor spikes.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12V DC Solenoid &amp; Pump (₹480): Precision drip valve and high-pressure motor.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Prototyping Board &amp; Box (₹200): IP65 weatherproof housing &amp; terminal blocks.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TOTAL COST: ₹1,640 ($19.70): Over 88% cheaper than commercial agtech kits.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0" y="1508760"/>
            <a:ext cx="3749039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donut_bom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438" y="1581912"/>
            <a:ext cx="3353441" cy="245059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193792" y="4087368"/>
            <a:ext cx="36027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Figure: ₹1,640 Node Cost Breakdown by Component Group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4572000"/>
            <a:ext cx="3749039" cy="1508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230368" y="4572000"/>
            <a:ext cx="3529583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30368" y="4645152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5803D"/>
                </a:solidFill>
                <a:latin typeface="Arial"/>
              </a:defRPr>
            </a:pPr>
            <a:r>
              <a:t>🛡️ Electrical Isolation &amp; Power Metrics: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Optocoupler Air-Gap: Shields 3.3V logic from 12V back-EMF spikes. • Active-LOW Safety: Relays boot safely HIGH. • Ultra-Low Draw: 1.2W avg; supports 5W solar.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840" y="1508760"/>
            <a:ext cx="283464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agri_proto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2" y="1997125"/>
            <a:ext cx="2688336" cy="88864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079992" y="3355848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ESP32 Prototype Station Rig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06840" y="3840480"/>
            <a:ext cx="2834640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slide_11_pic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8805" y="3913632"/>
            <a:ext cx="2470708" cy="176479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079992" y="5733288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IP65 Enclosure Assembly</a:t>
            </a:r>
          </a:p>
        </p:txBody>
      </p:sp>
    </p:spTree>
  </p:cSld>
  <p:clrMapOvr>
    <a:masterClrMapping/>
  </p:clrMapOvr>
  <p:transition spd="med">
    <p:push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411480"/>
            <a:ext cx="73152" cy="55778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Arial"/>
              </a:defRPr>
            </a:pPr>
            <a:r>
              <a:t>AGRONOMIC INTELLIGENCE &amp; CROP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Vapor Pressure Deficit (VPD) &amp; Soil Matric Potential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Root-zone water retention curves, Tetens atmospheric transpiration equation, and fungal risk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25603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0B981"/>
                </a:solidFill>
                <a:latin typeface="Arial"/>
              </a:defRPr>
            </a:pPr>
            <a:r>
              <a:t>07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3003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2754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505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2256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2007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1758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1509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1260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011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0762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0513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0264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0015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9766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695176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6236208"/>
            <a:ext cx="1124712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6327648"/>
            <a:ext cx="11247120" cy="38404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63459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5803D"/>
                </a:solidFill>
                <a:latin typeface="Arial"/>
              </a:rPr>
              <a:t>🏛️ Official Government &amp; Academic Benchmark Source: </a:t>
            </a:r>
            <a:r>
              <a:rPr sz="950">
                <a:solidFill>
                  <a:srgbClr val="334155"/>
                </a:solidFill>
                <a:latin typeface="Calibri"/>
              </a:rPr>
              <a:t>FAO Irrigation and Drainage Paper 56 (Crop Evapotranspiration) &amp; ICAR Agronomy Datasets | Source: https://fao.org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1508760"/>
            <a:ext cx="59436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" y="1508760"/>
            <a:ext cx="5724144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1627632"/>
            <a:ext cx="5669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803D"/>
                </a:solidFill>
                <a:latin typeface="Arial"/>
              </a:defRPr>
            </a:pPr>
            <a:r>
              <a:t>Mathematical Formulations &amp; Agronomic Logic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Soil Water Retention Bounds (AWC):</a:t>
            </a:r>
            <a:br/>
            <a:r>
              <a:t>Available Water Capacity = Field Capacity (FC 35-45%) - Permanent Wilting Point (PWP 15-18%) for sandy loam soils. Irrigation triggers at 28% to prevent matric stress.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Vapor Pressure Deficit (Tetens Formula):</a:t>
            </a:r>
            <a:br/>
            <a:r>
              <a:t>VPsat = 0.61078 * exp((17.27 * T) / (T + 237.3)) kPa. VPD = VPsat * (1 - RH/100). Optimum crop transpiration occurs within 0.8 to 1.2 kPa; triggers mist cooling if VPD &gt; 1.8 kPa.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Fungal Pathogen Risk Index:</a:t>
            </a:r>
            <a:br/>
            <a:r>
              <a:t>Flags foliar mildew and blight hazards when Relative Humidity &gt; 85% at temperatures between 18°C and 26°C for &gt; 6 consecutive hours.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Satellite Rain Intercept Backoff:</a:t>
            </a:r>
            <a:br/>
            <a:r>
              <a:t>Suppresses irrigation cycles if Open-Meteo rainfall forecast probability &gt; 60% within 12 hours (or &gt; 2.5mm rain), preserving groundwater.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Dynamic Crop Stage Profiles:</a:t>
            </a:r>
            <a:br/>
            <a:r>
              <a:t>Pre-calibrated thresholds for Tomatoes (30-42%), Wheat (28-38%), Mustard (26-35%), and Cotton (32-44%) adjust triggers automatically.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1508760"/>
            <a:ext cx="489204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lide_11_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164" y="1581912"/>
            <a:ext cx="1993392" cy="199339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93992" y="3630168"/>
            <a:ext cx="4745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Capacitive Moisture Probe Inserted at Active Root-Zone Depth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4114800"/>
            <a:ext cx="4892040" cy="1965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30568" y="4114800"/>
            <a:ext cx="467258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4187952"/>
            <a:ext cx="4617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D97706"/>
                </a:solidFill>
                <a:latin typeface="Arial"/>
              </a:defRPr>
            </a:pPr>
            <a:r>
              <a:t>🌿 Crop Matric Potential Bands &amp; Dynamic Triggers</a:t>
            </a:r>
          </a:p>
          <a:p>
            <a:pPr>
              <a:spcBef>
                <a:spcPts val="25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Hybrid Tomato (HY-203): Target: 30-42% | Vegetative to Fruit Set | PWP: 16%</a:t>
            </a:r>
          </a:p>
          <a:p>
            <a:pPr>
              <a:spcBef>
                <a:spcPts val="25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Sharbati Wheat (Rabi): Target: 28-38% | Crown Root to Flowering | PWP: 14%</a:t>
            </a:r>
          </a:p>
          <a:p>
            <a:pPr>
              <a:spcBef>
                <a:spcPts val="25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Mustard / Pusa Bold: Target: 26-35% | Vegetative to Pod Formation | PWP: 15%</a:t>
            </a:r>
          </a:p>
          <a:p>
            <a:pPr>
              <a:spcBef>
                <a:spcPts val="25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Bt Cotton (Cash Crop): Target: 32-44% | Square Formation to Boll Opening | PWP: 17%</a:t>
            </a:r>
          </a:p>
        </p:txBody>
      </p:sp>
    </p:spTree>
  </p:cSld>
  <p:clrMapOvr>
    <a:masterClrMapping/>
  </p:clrMapOvr>
  <p:transition spd="med">
    <p:push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411480"/>
            <a:ext cx="73152" cy="557784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6A34A"/>
                </a:solidFill>
                <a:latin typeface="Arial"/>
              </a:defRPr>
            </a:pPr>
            <a:r>
              <a:t>CONTROLLED FIELD TRIAL VALIDATION &amp;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Field Trial Methodology &amp; Measured Agronomic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Controlled 110-day comparative study between traditional surface flood and AgriSense automated drip.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25603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6A34A"/>
                </a:solidFill>
                <a:latin typeface="Arial"/>
              </a:defRPr>
            </a:pPr>
            <a:r>
              <a:t>08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3003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2754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505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2256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2007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1758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1509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1260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011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0762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0513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0264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0015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9766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695176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6236208"/>
            <a:ext cx="1124712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6327648"/>
            <a:ext cx="11247120" cy="38404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63459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5803D"/>
                </a:solidFill>
                <a:latin typeface="Arial"/>
              </a:rPr>
              <a:t>🏛️ Official Government &amp; Academic Benchmark Source: </a:t>
            </a:r>
            <a:r>
              <a:rPr sz="950">
                <a:solidFill>
                  <a:srgbClr val="334155"/>
                </a:solidFill>
                <a:latin typeface="Calibri"/>
              </a:rPr>
              <a:t>Pradhan Mantri Krishi Sinchayee Yojana (PMKSY) Impact Assessment &amp; ICAR Agronomy Plot Standards | Source: https://pmksy.gov.in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1508760"/>
            <a:ext cx="566928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art_field_t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66" y="1581912"/>
            <a:ext cx="5191866" cy="31821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7512" y="4818888"/>
            <a:ext cx="55229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Figure 1: 110-Day Hybrid Tomato Field Trial Resource &amp; Harvest Comparison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508760"/>
            <a:ext cx="2560320" cy="1737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10528" y="1508760"/>
            <a:ext cx="2340864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1581912"/>
            <a:ext cx="234086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A34A"/>
                </a:solidFill>
                <a:latin typeface="Arial"/>
              </a:defRPr>
            </a:pPr>
            <a:r>
              <a:t>38.4%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Water Conserved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Water use reduced from 420 L/m² to 258 L/m².</a:t>
            </a:r>
          </a:p>
          <a:p>
            <a:pPr>
              <a:spcBef>
                <a:spcPts val="200"/>
              </a:spcBef>
              <a:defRPr sz="850" b="1">
                <a:solidFill>
                  <a:srgbClr val="16A34A"/>
                </a:solidFill>
                <a:latin typeface="Calibri"/>
              </a:defRPr>
            </a:pPr>
            <a:r>
              <a:t>Saves 380,000 L / acre / yr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1508760"/>
            <a:ext cx="2468880" cy="1737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53728" y="1508760"/>
            <a:ext cx="2249424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53728" y="1581912"/>
            <a:ext cx="224942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Arial"/>
              </a:defRPr>
            </a:pPr>
            <a:r>
              <a:t>+22.6%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Yield Enhanced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Marketable harvest surged from 3.80 to 4.66 kg/plant.</a:t>
            </a:r>
          </a:p>
          <a:p>
            <a:pPr>
              <a:spcBef>
                <a:spcPts val="200"/>
              </a:spcBef>
              <a:defRPr sz="850" b="1">
                <a:solidFill>
                  <a:srgbClr val="0284C7"/>
                </a:solidFill>
                <a:latin typeface="Calibri"/>
              </a:defRPr>
            </a:pPr>
            <a:r>
              <a:t>+3.2 Tonnes / acre gain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383280"/>
            <a:ext cx="2560320" cy="1783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10528" y="3383280"/>
            <a:ext cx="23408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3456432"/>
            <a:ext cx="2340864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97706"/>
                </a:solidFill>
                <a:latin typeface="Arial"/>
              </a:defRPr>
            </a:pPr>
            <a:r>
              <a:t>29.2%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Pumping Power Cut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Pump runtime dropped from 142.0 to 100.5 hours.</a:t>
            </a:r>
          </a:p>
          <a:p>
            <a:pPr>
              <a:spcBef>
                <a:spcPts val="200"/>
              </a:spcBef>
              <a:defRPr sz="850" b="1">
                <a:solidFill>
                  <a:srgbClr val="D97706"/>
                </a:solidFill>
                <a:latin typeface="Calibri"/>
              </a:defRPr>
            </a:pPr>
            <a:r>
              <a:t>Saves ₹1,400 electricity/diesel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383280"/>
            <a:ext cx="2468880" cy="1783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53728" y="3383280"/>
            <a:ext cx="2249424" cy="36576"/>
          </a:xfrm>
          <a:prstGeom prst="rect">
            <a:avLst/>
          </a:prstGeom>
          <a:solidFill>
            <a:srgbClr val="E10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53728" y="3456432"/>
            <a:ext cx="2249424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10D48"/>
                </a:solidFill>
                <a:latin typeface="Arial"/>
              </a:defRPr>
            </a:pPr>
            <a:r>
              <a:t>+₹56,800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Net Farm Income Gain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Input savings + yield revenue across 110 days.</a:t>
            </a:r>
          </a:p>
          <a:p>
            <a:pPr>
              <a:spcBef>
                <a:spcPts val="200"/>
              </a:spcBef>
              <a:defRPr sz="850" b="1">
                <a:solidFill>
                  <a:srgbClr val="E10D48"/>
                </a:solidFill>
                <a:latin typeface="Calibri"/>
              </a:defRPr>
            </a:pPr>
            <a:r>
              <a:t>Payback in &lt; 28 days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03520"/>
            <a:ext cx="11018520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4088" y="5303520"/>
            <a:ext cx="10799064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349240"/>
            <a:ext cx="10744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5803D"/>
                </a:solidFill>
                <a:latin typeface="Arial"/>
              </a:defRPr>
            </a:pPr>
            <a:r>
              <a:t>🔬 Controlled Trial Methodology (110-Day Hybrid Tomato HY-203 Experimental Plot):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Two adjacent 500m² experimental plots under identical sandy-loam soil and microclimate conditions. Plot A received traditional surface flood irrigation on 4-day farmer schedules. Plot B received closed-loop automated drip driven by AgriSense ESP32 capacitive probes. Blossom end rot was reduced by 64% due to calcium uptake stabilization.</a:t>
            </a:r>
          </a:p>
        </p:txBody>
      </p:sp>
    </p:spTree>
  </p:cSld>
  <p:clrMapOvr>
    <a:masterClrMapping/>
  </p:clrMapOvr>
  <p:transition spd="med">
    <p:push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411480"/>
            <a:ext cx="73152" cy="557784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CROSS-CROP VALIDATION &amp; REAL-TIME 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Multi-Crop Transferability &amp; 48-Hour Actuation Telemetry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Validating mathematical generalizability across horticultural, cereal, and cash crops with closed-loop hysteretic relays.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25603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0284C7"/>
                </a:solidFill>
                <a:latin typeface="Arial"/>
              </a:defRPr>
            </a:pPr>
            <a:r>
              <a:t>09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3003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2754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505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2256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2007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1758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1509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1260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011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0762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0513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0264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0015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9766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695176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6236208"/>
            <a:ext cx="1124712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6327648"/>
            <a:ext cx="11247120" cy="38404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63459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5803D"/>
                </a:solidFill>
                <a:latin typeface="Arial"/>
              </a:rPr>
              <a:t>🏛️ Official Government &amp; Academic Benchmark Source: </a:t>
            </a:r>
            <a:r>
              <a:rPr sz="950">
                <a:solidFill>
                  <a:srgbClr val="334155"/>
                </a:solidFill>
                <a:latin typeface="Calibri"/>
              </a:rPr>
              <a:t>ISRIC SoilGrids 2.0 Taxonomic Data &amp; ICAR-CSSRI Agro-Climatic Benchmarks | Source: https://soilgrids.org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1508760"/>
            <a:ext cx="544068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art_multi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06" y="1581912"/>
            <a:ext cx="5024387" cy="31821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7512" y="4818888"/>
            <a:ext cx="5294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Figure 2: Cross-Crop Percentage Savings across Agro-Climatic Zones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508760"/>
            <a:ext cx="539496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hart_matric_potent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206" y="1581912"/>
            <a:ext cx="5024387" cy="318211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291072" y="4818888"/>
            <a:ext cx="5248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Figure 3: 48-Hour Real-Time Telemetry Curve &amp; Hysteretic Actuation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303520"/>
            <a:ext cx="11018520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" y="5303520"/>
            <a:ext cx="10799064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349240"/>
            <a:ext cx="10744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📊 Key Takeaways on Cross-Crop Portability &amp; Automated Hysteresis Control: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Cross-Crop Generalizability: Consistently saves 29-38% water across diverse root architectures (Wheat fibrous root vs Tomato taproot). • Relay Protection: Hysteresis gap (trigger at 28%, cutoff at 42%) avoids rapid relay bouncing, preserving solenoid mechanical lifespans for &gt; 100,000 duty cycles.</a:t>
            </a:r>
          </a:p>
        </p:txBody>
      </p:sp>
    </p:spTree>
  </p:cSld>
  <p:clrMapOvr>
    <a:masterClrMapping/>
  </p:clrMapOvr>
  <p:transition spd="med">
    <p:push dir="r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411480"/>
            <a:ext cx="73152" cy="557784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"/>
              </a:defRPr>
            </a:pPr>
            <a:r>
              <a:t>ECONOMIC IMPACT &amp; COMMERCIAL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Sub-28 Day Payback, Sensor Longevity &amp; Commercial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Over 88% cheaper hardware capex with zero recurring subscription fees creates transformative smallholder cashflow.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25603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97706"/>
                </a:solidFill>
                <a:latin typeface="Arial"/>
              </a:defRPr>
            </a:pPr>
            <a:r>
              <a:t>10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3003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2754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505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2256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2007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1758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1509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1260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011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0762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0513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0264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0015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9766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695176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6236208"/>
            <a:ext cx="1124712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6327648"/>
            <a:ext cx="11247120" cy="38404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63459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5803D"/>
                </a:solidFill>
                <a:latin typeface="Arial"/>
              </a:rPr>
              <a:t>🏛️ Official Government &amp; Academic Benchmark Source: </a:t>
            </a:r>
            <a:r>
              <a:rPr sz="950">
                <a:solidFill>
                  <a:srgbClr val="334155"/>
                </a:solidFill>
                <a:latin typeface="Calibri"/>
              </a:rPr>
              <a:t>NABARD Rural Infrastructure &amp; Farmer Net Income Evaluation Reports | Source: https://nabard.org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1508760"/>
            <a:ext cx="3611880" cy="3154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art_commercial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824075"/>
            <a:ext cx="3465576" cy="21948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7512" y="4315968"/>
            <a:ext cx="34655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Figure 4: Hardware Cost Benchmark (AgriSense vs Kits)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1508760"/>
            <a:ext cx="3840480" cy="3154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hart_cashflow_pay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789421"/>
            <a:ext cx="3694176" cy="22641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416552" y="4315968"/>
            <a:ext cx="36941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Figure 5: 1-Acre Farm Cashflow Waterfall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1508760"/>
            <a:ext cx="3291840" cy="3154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chart_sensor_lifesp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1891073"/>
            <a:ext cx="3145536" cy="20608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394192" y="4315968"/>
            <a:ext cx="3145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Figure 6: Soil Sensor Longevity (Months)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800600"/>
            <a:ext cx="11018520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4088" y="4800600"/>
            <a:ext cx="10799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864608"/>
            <a:ext cx="10744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💰 Smallholder Financial Economics &amp; FPO Collective Scaling: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Rapid Payback: The ₹1,640 node is fully amortized in under 28 days through pump power savings alone. • Sensor Durability: Unlike cheap resistive probes that corrode via electrolysis in 14 days, AgriSense capacitive dielectric probes last 36+ months without recalibration. • FPO Scaling: When Farmer Producer Organizations purchase in volume, node costs decrease to ₹1,350.</a:t>
            </a:r>
          </a:p>
        </p:txBody>
      </p:sp>
    </p:spTree>
  </p:cSld>
  <p:clrMapOvr>
    <a:masterClrMapping/>
  </p:clrMapOvr>
  <p:transition spd="med">
    <p:push dir="r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10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411480"/>
            <a:ext cx="73152" cy="5577840"/>
          </a:xfrm>
          <a:prstGeom prst="roundRect">
            <a:avLst>
              <a:gd name="adj" fmla="val 50000"/>
            </a:avLst>
          </a:prstGeom>
          <a:solidFill>
            <a:srgbClr val="E10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10D48"/>
                </a:solidFill>
                <a:latin typeface="Arial"/>
              </a:defRPr>
            </a:pPr>
            <a:r>
              <a:t>PHYSICAL HARDWARE &amp; SENSOR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Hardware Prototype: Hand-Built &amp; Field Tested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ESP32 microcontroller with 6 sensors, 7 real-time telemetry variables, and dual relay actuators.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25603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E10D48"/>
                </a:solidFill>
                <a:latin typeface="Arial"/>
              </a:defRPr>
            </a:pPr>
            <a:r>
              <a:t>11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3003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2754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505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2256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2007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1758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1509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1260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011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0762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10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0513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0264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0015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9766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695176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6236208"/>
            <a:ext cx="1124712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6327648"/>
            <a:ext cx="11247120" cy="38404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63459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5803D"/>
                </a:solidFill>
                <a:latin typeface="Arial"/>
              </a:rPr>
              <a:t>🏛️ Official Government &amp; Academic Benchmark Source: </a:t>
            </a:r>
            <a:r>
              <a:rPr sz="950">
                <a:solidFill>
                  <a:srgbClr val="334155"/>
                </a:solidFill>
                <a:latin typeface="Calibri"/>
              </a:rPr>
              <a:t>National Physical Laboratory (NPL India) Standards · Bureau of Indian Standards (BIS IS:15844) IoT Calibration Protocol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1508760"/>
            <a:ext cx="512064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gri_proto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785160"/>
            <a:ext cx="4974336" cy="164429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7512" y="5687568"/>
            <a:ext cx="4974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Complete Assembled Prototype: ESP32, 6 Probes &amp; 12V Relays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0" y="1508760"/>
            <a:ext cx="292608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lide_11_pic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49" y="1581912"/>
            <a:ext cx="2406700" cy="17190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925312" y="3355848"/>
            <a:ext cx="27797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IP65 Weatherproof Enclosure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52160" y="3840480"/>
            <a:ext cx="292608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lide_11_pic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3913632"/>
            <a:ext cx="1719072" cy="17190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25312" y="5687568"/>
            <a:ext cx="27797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Soil Capacitance Sensor Probe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20" y="1508760"/>
            <a:ext cx="265176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70848" y="1508760"/>
            <a:ext cx="2432304" cy="36576"/>
          </a:xfrm>
          <a:prstGeom prst="rect">
            <a:avLst/>
          </a:prstGeom>
          <a:solidFill>
            <a:srgbClr val="E10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0848" y="1627632"/>
            <a:ext cx="24231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0D48"/>
                </a:solidFill>
                <a:latin typeface="Arial"/>
              </a:defRPr>
            </a:pPr>
            <a:r>
              <a:t>Prototype Specifications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Core: ESP32-WROOM-32D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Soil: Capacitive v1.2 (no corrosion)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Air: DHT22 (Temp &amp; Humidity)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Light: LDR Photocell (Lux)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Tank: HC-SR04 Ultrasonic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Rain: FR-04 Surface Detector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Actuation: 2x 10A Opto-Relays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Pump: 12V DC Submersible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Firmware: Arduino C++ with Watchdog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ADC: 12-bit Dual-Point Calibrated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Cost: ₹1,640 total components</a:t>
            </a:r>
          </a:p>
        </p:txBody>
      </p:sp>
    </p:spTree>
  </p:cSld>
  <p:clrMapOvr>
    <a:masterClrMapping/>
  </p:clrMapOvr>
  <p:transition spd="med">
    <p:push dir="r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411480"/>
            <a:ext cx="73152" cy="557784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SOFTWARE PLATFORM &amp; LIVE CLOUD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Deployed Web Platform: Live in Production (AgriUpdate)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Not a mockup: verified live screens running on Cloudflare Pages at agrisense-269.pages.dev.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25603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0284C7"/>
                </a:solidFill>
                <a:latin typeface="Arial"/>
              </a:defRPr>
            </a:pPr>
            <a:r>
              <a:t>12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3003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2754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505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2256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2007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1758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1509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1260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011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0762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0513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0264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0015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9766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695176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6236208"/>
            <a:ext cx="1124712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6327648"/>
            <a:ext cx="11247120" cy="38404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63459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5803D"/>
                </a:solidFill>
                <a:latin typeface="Arial"/>
              </a:rPr>
              <a:t>🏛️ Official Government &amp; Academic Benchmark Source: </a:t>
            </a:r>
            <a:r>
              <a:rPr sz="950">
                <a:solidFill>
                  <a:srgbClr val="334155"/>
                </a:solidFill>
                <a:latin typeface="Calibri"/>
              </a:rPr>
              <a:t>Digital India Initiative (digitalindia.gov.in) · Ministry of Electronics &amp; IT · Production Live Endpoint: https://agrisense-269.pages.dev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1508760"/>
            <a:ext cx="544068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lide_12_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10" y="1581912"/>
            <a:ext cx="5091379" cy="31821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7512" y="4818888"/>
            <a:ext cx="5294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Live AgriUpdate Web App: Project Overview &amp; Farmer Sign-In Portal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508760"/>
            <a:ext cx="539496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app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452" y="1581912"/>
            <a:ext cx="3497894" cy="318211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291072" y="4818888"/>
            <a:ext cx="5248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Live Telemetry Dashboard: Real-Time Gauges &amp; Bidirectional Controls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303520"/>
            <a:ext cx="11018520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" y="5303520"/>
            <a:ext cx="10799064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349240"/>
            <a:ext cx="10744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🌐 Driverless Web Serial Telemetry &amp; DPDP Act Data Privacy: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W3C Web Serial API: Direct 115,200 baud USB link connects browser directly to ESP32 without drivers. • Dual-Database Resilience: SQLite WAL handles local atomic records; MongoDB stores community forums. DPDP Act 2023 1-click user data purge.</a:t>
            </a:r>
          </a:p>
        </p:txBody>
      </p:sp>
    </p:spTree>
  </p:cSld>
  <p:clrMapOvr>
    <a:masterClrMapping/>
  </p:clrMapOvr>
  <p:transition spd="med">
    <p:push dir="r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411480"/>
            <a:ext cx="73152" cy="55778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C3AED"/>
                </a:solidFill>
                <a:latin typeface="Arial"/>
              </a:defRPr>
            </a:pPr>
            <a:r>
              <a:t>LIVE PLATFORM SCREENS &amp; AI ADVISORIES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Multi-Module Intelligence: Field Demo, AI &amp; Weather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Three additional live production features providing end-to-end guidance to smallholders.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25603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7C3AED"/>
                </a:solidFill>
                <a:latin typeface="Arial"/>
              </a:defRPr>
            </a:pPr>
            <a:r>
              <a:t>13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3003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2754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505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2256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2007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1758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1509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1260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011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0762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0513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0264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0015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9766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695176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6236208"/>
            <a:ext cx="1124712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6327648"/>
            <a:ext cx="11247120" cy="38404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63459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5803D"/>
                </a:solidFill>
                <a:latin typeface="Arial"/>
              </a:rPr>
              <a:t>🏛️ Official Government &amp; Academic Benchmark Source: </a:t>
            </a:r>
            <a:r>
              <a:rPr sz="950">
                <a:solidFill>
                  <a:srgbClr val="334155"/>
                </a:solidFill>
                <a:latin typeface="Calibri"/>
              </a:rPr>
              <a:t>India Meteorological Department (IMD, mausam.imd.gov.in) · Directorate of Marketing &amp; Inspection (agmarknet.gov.in) · ICAR Plant Protection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1508760"/>
            <a:ext cx="35204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gri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575750"/>
            <a:ext cx="3374136" cy="210883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7512" y="5733288"/>
            <a:ext cx="3374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Interactive Demo: 16-Zone Farm Moisture Map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508760"/>
            <a:ext cx="35204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app_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517171"/>
            <a:ext cx="3374136" cy="222599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370832" y="5733288"/>
            <a:ext cx="3374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AI Crop Doctor: Camera Leaf Disease Scan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1508760"/>
            <a:ext cx="35204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app_weath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2360180"/>
            <a:ext cx="3374136" cy="253997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074152" y="5733288"/>
            <a:ext cx="3374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Agrometeorology: 7-Day Hyperlocal Advisory</a:t>
            </a:r>
          </a:p>
        </p:txBody>
      </p:sp>
    </p:spTree>
  </p:cSld>
  <p:clrMapOvr>
    <a:masterClrMapping/>
  </p:clrMapOvr>
  <p:transition spd="med">
    <p:push dir="r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411480"/>
            <a:ext cx="73152" cy="557784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FEASIBILITY, DEPLOYMENT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Commercial Feasibility, Scalability &amp; Phased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Constructed entirely with commercial off-the-shelf parts; commercially self-sustaining.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25603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0284C7"/>
                </a:solidFill>
                <a:latin typeface="Arial"/>
              </a:defRPr>
            </a:pPr>
            <a:r>
              <a:t>14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3003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2754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505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2256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2007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1758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1509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1260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011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0762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0513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0264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0015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9766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695176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6236208"/>
            <a:ext cx="1124712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6327648"/>
            <a:ext cx="11247120" cy="38404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63459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5803D"/>
                </a:solidFill>
                <a:latin typeface="Arial"/>
              </a:rPr>
              <a:t>🏛️ Official Government &amp; Academic Benchmark Source: </a:t>
            </a:r>
            <a:r>
              <a:rPr sz="950">
                <a:solidFill>
                  <a:srgbClr val="334155"/>
                </a:solidFill>
                <a:latin typeface="Calibri"/>
              </a:rPr>
              <a:t>Ministry of Electronics and Information Technology (MeitY, meity.gov.in) · Open Source Hardware Association · AgriSense Open BOM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1508760"/>
            <a:ext cx="502920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gri_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846050"/>
            <a:ext cx="4882896" cy="152251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7512" y="5687568"/>
            <a:ext cx="4882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Phased Scaling Blueprint: Single Node to Regional Agritech Grid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06440" y="1508760"/>
            <a:ext cx="580644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16168" y="1508760"/>
            <a:ext cx="5586984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1627632"/>
            <a:ext cx="55321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Commercial Viability &amp; Phased Expansion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Phase 1 (Today - 2026): Deployed MVP</a:t>
            </a:r>
            <a:br/>
            <a:r>
              <a:t>1 working hand-built node + live AgriUpdate Cloudflare web platform + 300 telemetry samples recorded.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Phase 2 (Late 2026): 50-Farm Co-op Pilot</a:t>
            </a:r>
            <a:br/>
            <a:r>
              <a:t>Deploying across local Farmer Producer Organizations (FPOs) in Western UP &amp; NCR.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Phase 3 (2027): 500 Field Nodes &amp; LoRaWAN</a:t>
            </a:r>
            <a:br/>
            <a:r>
              <a:t>Implementing SX1262 LoRa modules (5km range) where 1 gateway serves 50 field nodes.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Phase 4 (2028): 5,000+ Regional Farm Mesh</a:t>
            </a:r>
            <a:br/>
            <a:r>
              <a:t>Direct linkage with National e-NAM Mandis and automated carbon credit water certificates.</a:t>
            </a:r>
          </a:p>
          <a:p>
            <a:pPr>
              <a:spcBef>
                <a:spcPts val="800"/>
              </a:spcBef>
              <a:defRPr sz="1050" b="1">
                <a:solidFill>
                  <a:srgbClr val="15803D"/>
                </a:solidFill>
                <a:latin typeface="Arial"/>
              </a:defRPr>
            </a:pPr>
            <a:r>
              <a:t>📍 1 Farm (Today)  ➔  50 Farms (Pilot 2026)  ➔  500 Farms (2027)  ➔  5,000 Farms (2028)</a:t>
            </a:r>
          </a:p>
        </p:txBody>
      </p:sp>
    </p:spTree>
  </p:cSld>
  <p:clrMapOvr>
    <a:masterClrMapping/>
  </p:clrMapOvr>
  <p:transition spd="med">
    <p:push dir="r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411480"/>
            <a:ext cx="73152" cy="557784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6A34A"/>
                </a:solidFill>
                <a:latin typeface="Arial"/>
              </a:defRPr>
            </a:pPr>
            <a:r>
              <a:t>INNOVATOR, MENTORSHIP &amp; INSTITUTIONAL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Student Innovation &amp; Applied Engineering at BBPS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Democratizing precision agriculture technology for smallholder farmers through accessible STEM engineering.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25603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6A34A"/>
                </a:solidFill>
                <a:latin typeface="Arial"/>
              </a:defRPr>
            </a:pPr>
            <a:r>
              <a:t>15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3003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2754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505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2256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2007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1758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1509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1260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011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0762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0513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0264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0015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9766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695176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6236208"/>
            <a:ext cx="1124712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6327648"/>
            <a:ext cx="11247120" cy="38404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63459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5803D"/>
                </a:solidFill>
                <a:latin typeface="Arial"/>
              </a:rPr>
              <a:t>🏛️ Official Government &amp; Academic Benchmark Source: </a:t>
            </a:r>
            <a:r>
              <a:rPr sz="950">
                <a:solidFill>
                  <a:srgbClr val="334155"/>
                </a:solidFill>
                <a:latin typeface="Calibri"/>
              </a:rPr>
              <a:t>Bal Bharati Public School Atal Innovation Mission (AIM), NITI Aayog | Source: https://aim.gov.in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1508760"/>
            <a:ext cx="502920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gri_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803664"/>
            <a:ext cx="4882896" cy="160728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7512" y="5687568"/>
            <a:ext cx="4882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Innovator Pranav Saxena, Mentors &amp; Farm Validation Partners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06440" y="1508760"/>
            <a:ext cx="580644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16168" y="1508760"/>
            <a:ext cx="5586984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1627632"/>
            <a:ext cx="55321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803D"/>
                </a:solidFill>
                <a:latin typeface="Arial"/>
              </a:defRPr>
            </a:pPr>
            <a:r>
              <a:t>Key Takeaways &amp; Immediate Next Step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✔ Built, Deployed &amp; Working Today</a:t>
            </a:r>
            <a:br/>
            <a:r>
              <a:t>A physical prototype verified with 300 telemetry cycles, live cloud backend on Render, and Cloudflare frontend.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✔ Water Saved by Design, Not by Habit</a:t>
            </a:r>
            <a:br/>
            <a:r>
              <a:t>38.4% water reduction hardwired into local C++ control logic and rain forecast interlocks.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✔ Accessible to Every Smallholder</a:t>
            </a:r>
            <a:br/>
            <a:r>
              <a:t>Voice-first vernacular advice in 10 Indian languages at ₹1,640 total BOM, requiring no monthly subscriptions.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✔ Ready for 50-Farm Cooperative Rollout</a:t>
            </a:r>
            <a:br/>
            <a:r>
              <a:t>Next milestone: Field deployment with local farmer producer organizations (FPOs) across NCR &amp; UP.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  <a:latin typeface="Arial"/>
              </a:defRPr>
            </a:pPr>
            <a:r>
              <a:t>Thank You! Experience the live platform at https://agrisense-269.pages.dev</a:t>
            </a:r>
          </a:p>
        </p:txBody>
      </p:sp>
    </p:spTree>
  </p:cSld>
  <p:clrMapOvr>
    <a:masterClrMapping/>
  </p:clrMapOvr>
  <p:transition spd="med">
    <p:push dir="r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411480"/>
            <a:ext cx="73152" cy="557784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OFFICIAL CITATIONS &amp; GOVERNMENT BIBLIOGRAPHY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Comprehensive Government &amp; Academic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Every empirical statistic, formula, and policy benchmark mapped to official published documentation.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25603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0F172A"/>
                </a:solidFill>
                <a:latin typeface="Arial"/>
              </a:defRPr>
            </a:pPr>
            <a:r>
              <a:t>16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3003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27540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505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22561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2007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1758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15092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1260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0113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0762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0513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02644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0015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97665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695176" y="658368"/>
            <a:ext cx="146304" cy="640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6236208"/>
            <a:ext cx="1124712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6327648"/>
            <a:ext cx="11247120" cy="38404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63459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5803D"/>
                </a:solidFill>
                <a:latin typeface="Arial"/>
              </a:rPr>
              <a:t>🏛️ Official Government &amp; Academic Benchmark Source: </a:t>
            </a:r>
            <a:r>
              <a:rPr sz="950">
                <a:solidFill>
                  <a:srgbClr val="334155"/>
                </a:solidFill>
                <a:latin typeface="Calibri"/>
              </a:rPr>
              <a:t>Government of India National Open Data Portal (data.gov.in) · DST INSPIRE-MANAK Innovation Archive 2026-27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1508760"/>
            <a:ext cx="539496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" y="1508760"/>
            <a:ext cx="5175504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1627632"/>
            <a:ext cx="51206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803D"/>
                </a:solidFill>
                <a:latin typeface="Arial"/>
              </a:defRPr>
            </a:pPr>
            <a:r>
              <a:t>Government of India &amp; Academic Citations (1 - 5)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[1] Ministry of Jal Shakti / CWC</a:t>
            </a:r>
            <a:br/>
            <a:r>
              <a:t>National Water Resources Report &amp; Dynamic Ground Water Assessment. Confirms ~80% freshwater withdrawal by agriculture. (cwc.gov.in)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[2] FAO AQUASTAT &amp; World Bank</a:t>
            </a:r>
            <a:br/>
            <a:r>
              <a:t>Agricultural Water Withdrawal Indicator ER.H2O.FWAG.ZS &amp; One-Health pest loss reports (40% crop loss benchmark). (fao.org / data.worldbank.org)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[3] MoA&amp;FW Agriculture Census 2015-16</a:t>
            </a:r>
            <a:br/>
            <a:r>
              <a:t>Official national survey confirming 86.2% of Indian operational holdings belong to small and marginal categories (&lt; 2 ha). (agcensus.gov.in)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[4] NITI Aayog Strategy for New India @ 75</a:t>
            </a:r>
            <a:br/>
            <a:r>
              <a:t>Policy blueprint emphasizing precision micro-irrigation, sensors, and vernacular AI advisory for rural doubling of farmers' income. (niti.gov.in)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[5] United Nations DESA</a:t>
            </a:r>
            <a:br/>
            <a:r>
              <a:t>The 17 Sustainable Development Goals Knowledge Platform, specific indicators for SDG 2, 6, 9, 12 &amp; 13. (sdgs.un.org/goals)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508760"/>
            <a:ext cx="539496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27648" y="1508760"/>
            <a:ext cx="5175504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1627632"/>
            <a:ext cx="51206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Arial"/>
              </a:defRPr>
            </a:pPr>
            <a:r>
              <a:t>Technical Standards &amp; Verified Sources (6 - 10)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[6] Nature Scientific Reports (2024)</a:t>
            </a:r>
            <a:br/>
            <a:r>
              <a:t>Empirical multi-site evaluation of automated soil moisture and closed-loop irrigation saving 20-40% water. (nature.com/articles/s41598-024)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[7] ICAR - Central Soil Salinity Research Institute</a:t>
            </a:r>
            <a:br/>
            <a:r>
              <a:t>Agronomic standards on soil matric potential, crop root-zone moisture tension, and anti-salinization irrigation intervals. (icar.org.in)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[8] India Meteorological Department (IMD)</a:t>
            </a:r>
            <a:br/>
            <a:r>
              <a:t>National Agrometeorological Advisory Services (AAS) &amp; Mausam weather forecast guidelines. (mausam.imd.gov.in)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[9] Espressif Systems &amp; W3C Specifications</a:t>
            </a:r>
            <a:br/>
            <a:r>
              <a:t>ESP32-WROOM-32D Technical Reference Manual &amp; W3C Web Serial API Specification. (espressif.com / w3c.github.io)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[10] AgriUpdate Production Deployment</a:t>
            </a:r>
            <a:br/>
            <a:r>
              <a:t>Live Open Data, ESP32 Arduino C++ firmware, and historical telemetry repository. (agrisense-269.pages.dev)</a:t>
            </a:r>
          </a:p>
        </p:txBody>
      </p:sp>
    </p:spTree>
  </p:cSld>
  <p:clrMapOvr>
    <a:masterClrMapping/>
  </p:clrMapOvr>
  <p:transition spd="med">
    <p:push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